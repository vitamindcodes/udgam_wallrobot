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1B22"/>
          </a:solidFill>
          <a:ln w="12700">
            <a:solidFill>
              <a:srgbClr val="30363D"/>
            </a:solidFill>
            <a:prstDash val="solid"/>
          </a:ln>
        </p:spPr>
      </p:sp>
      <p:sp>
        <p:nvSpPr>
          <p:cNvPr id="3" name="Text 1"/>
          <p:cNvSpPr/>
          <p:nvPr/>
        </p:nvSpPr>
        <p:spPr>
          <a:xfrm>
            <a:off x="274320" y="91440"/>
            <a:ext cx="8595360" cy="411480"/>
          </a:xfrm>
          <a:prstGeom prst="rect">
            <a:avLst/>
          </a:prstGeom>
          <a:noFill/>
          <a:ln/>
        </p:spPr>
        <p:txBody>
          <a:bodyPr wrap="square" rtlCol="0" anchor="ctr"/>
          <a:lstStyle/>
          <a:p>
            <a:pPr indent="0" marL="0">
              <a:buNone/>
            </a:pPr>
            <a:r>
              <a:rPr lang="en-US" sz="1100" dirty="0">
                <a:solidFill>
                  <a:srgbClr val="58A6FF"/>
                </a:solidFill>
                <a:latin typeface="Consolas" pitchFamily="34" charset="0"/>
                <a:ea typeface="Consolas" pitchFamily="34" charset="-122"/>
                <a:cs typeface="Consolas" pitchFamily="34" charset="-120"/>
              </a:rPr>
              <a:t>⬡  HN-WallBot / udgam-urban-solution</a:t>
            </a:r>
            <a:endParaRPr lang="en-US" sz="1100" dirty="0"/>
          </a:p>
        </p:txBody>
      </p:sp>
      <p:sp>
        <p:nvSpPr>
          <p:cNvPr id="4" name="Shape 2"/>
          <p:cNvSpPr/>
          <p:nvPr/>
        </p:nvSpPr>
        <p:spPr>
          <a:xfrm>
            <a:off x="457200" y="822960"/>
            <a:ext cx="54864" cy="3474720"/>
          </a:xfrm>
          <a:prstGeom prst="rect">
            <a:avLst/>
          </a:prstGeom>
          <a:solidFill>
            <a:srgbClr val="3FB950"/>
          </a:solidFill>
          <a:ln w="12700">
            <a:solidFill>
              <a:srgbClr val="3FB950"/>
            </a:solidFill>
            <a:prstDash val="solid"/>
          </a:ln>
        </p:spPr>
      </p:sp>
      <p:sp>
        <p:nvSpPr>
          <p:cNvPr id="5" name="Text 3"/>
          <p:cNvSpPr/>
          <p:nvPr/>
        </p:nvSpPr>
        <p:spPr>
          <a:xfrm>
            <a:off x="640080" y="868680"/>
            <a:ext cx="3657600" cy="320040"/>
          </a:xfrm>
          <a:prstGeom prst="rect">
            <a:avLst/>
          </a:prstGeom>
          <a:noFill/>
          <a:ln/>
        </p:spPr>
        <p:txBody>
          <a:bodyPr wrap="square" rtlCol="0" anchor="ctr"/>
          <a:lstStyle/>
          <a:p>
            <a:pPr indent="0" marL="0">
              <a:buNone/>
            </a:pPr>
            <a:r>
              <a:rPr lang="en-US" sz="1000" dirty="0">
                <a:solidFill>
                  <a:srgbClr val="8B949E"/>
                </a:solidFill>
                <a:latin typeface="Consolas" pitchFamily="34" charset="0"/>
                <a:ea typeface="Consolas" pitchFamily="34" charset="-122"/>
                <a:cs typeface="Consolas" pitchFamily="34" charset="-120"/>
              </a:rPr>
              <a:t>README.md</a:t>
            </a:r>
            <a:endParaRPr lang="en-US" sz="1000" dirty="0"/>
          </a:p>
        </p:txBody>
      </p:sp>
      <p:sp>
        <p:nvSpPr>
          <p:cNvPr id="6" name="Text 4"/>
          <p:cNvSpPr/>
          <p:nvPr/>
        </p:nvSpPr>
        <p:spPr>
          <a:xfrm>
            <a:off x="640080" y="1234440"/>
            <a:ext cx="5486400" cy="1463040"/>
          </a:xfrm>
          <a:prstGeom prst="rect">
            <a:avLst/>
          </a:prstGeom>
          <a:noFill/>
          <a:ln/>
        </p:spPr>
        <p:txBody>
          <a:bodyPr wrap="square" rtlCol="0" anchor="ctr"/>
          <a:lstStyle/>
          <a:p>
            <a:pPr indent="0" marL="0">
              <a:buNone/>
            </a:pPr>
            <a:r>
              <a:rPr lang="en-US" sz="3800" b="1" dirty="0">
                <a:solidFill>
                  <a:srgbClr val="E6EDF3"/>
                </a:solidFill>
                <a:latin typeface="Calibri" pitchFamily="34" charset="0"/>
                <a:ea typeface="Calibri" pitchFamily="34" charset="-122"/>
                <a:cs typeface="Calibri" pitchFamily="34" charset="-120"/>
              </a:rPr>
              <a:t>HN Wall-Climbing</a:t>
            </a:r>
            <a:endParaRPr lang="en-US" sz="3800" dirty="0"/>
          </a:p>
          <a:p>
            <a:pPr indent="0" marL="0">
              <a:buNone/>
            </a:pPr>
            <a:r>
              <a:rPr lang="en-US" sz="3800" b="1" dirty="0">
                <a:solidFill>
                  <a:srgbClr val="E6EDF3"/>
                </a:solidFill>
                <a:latin typeface="Calibri" pitchFamily="34" charset="0"/>
                <a:ea typeface="Calibri" pitchFamily="34" charset="-122"/>
                <a:cs typeface="Calibri" pitchFamily="34" charset="-120"/>
              </a:rPr>
              <a:t>Painting Robot</a:t>
            </a:r>
            <a:endParaRPr lang="en-US" sz="3800" dirty="0"/>
          </a:p>
        </p:txBody>
      </p:sp>
      <p:sp>
        <p:nvSpPr>
          <p:cNvPr id="7" name="Text 5"/>
          <p:cNvSpPr/>
          <p:nvPr/>
        </p:nvSpPr>
        <p:spPr>
          <a:xfrm>
            <a:off x="640080" y="2606040"/>
            <a:ext cx="5943600" cy="411480"/>
          </a:xfrm>
          <a:prstGeom prst="rect">
            <a:avLst/>
          </a:prstGeom>
          <a:noFill/>
          <a:ln/>
        </p:spPr>
        <p:txBody>
          <a:bodyPr wrap="square" rtlCol="0" anchor="ctr"/>
          <a:lstStyle/>
          <a:p>
            <a:pPr indent="0" marL="0">
              <a:buNone/>
            </a:pPr>
            <a:r>
              <a:rPr lang="en-US" sz="1600" dirty="0">
                <a:solidFill>
                  <a:srgbClr val="58A6FF"/>
                </a:solidFill>
                <a:latin typeface="Consolas" pitchFamily="34" charset="0"/>
                <a:ea typeface="Consolas" pitchFamily="34" charset="-122"/>
                <a:cs typeface="Consolas" pitchFamily="34" charset="-120"/>
              </a:rPr>
              <a:t>Semi-Autonomous High-Rise Facade Maintenance System</a:t>
            </a:r>
            <a:endParaRPr lang="en-US" sz="1600" dirty="0"/>
          </a:p>
        </p:txBody>
      </p:sp>
      <p:sp>
        <p:nvSpPr>
          <p:cNvPr id="8" name="Shape 6"/>
          <p:cNvSpPr/>
          <p:nvPr/>
        </p:nvSpPr>
        <p:spPr>
          <a:xfrm>
            <a:off x="640080" y="3108960"/>
            <a:ext cx="640080" cy="237744"/>
          </a:xfrm>
          <a:prstGeom prst="rect">
            <a:avLst/>
          </a:prstGeom>
          <a:solidFill>
            <a:srgbClr val="21262D"/>
          </a:solidFill>
          <a:ln w="12700">
            <a:solidFill>
              <a:srgbClr val="30363D"/>
            </a:solidFill>
            <a:prstDash val="solid"/>
          </a:ln>
        </p:spPr>
      </p:sp>
      <p:sp>
        <p:nvSpPr>
          <p:cNvPr id="9" name="Shape 7"/>
          <p:cNvSpPr/>
          <p:nvPr/>
        </p:nvSpPr>
        <p:spPr>
          <a:xfrm>
            <a:off x="1280160" y="3108960"/>
            <a:ext cx="1005840" cy="237744"/>
          </a:xfrm>
          <a:prstGeom prst="rect">
            <a:avLst/>
          </a:prstGeom>
          <a:solidFill>
            <a:srgbClr val="3FB950"/>
          </a:solidFill>
          <a:ln w="12700">
            <a:solidFill>
              <a:srgbClr val="3FB950"/>
            </a:solidFill>
            <a:prstDash val="solid"/>
          </a:ln>
        </p:spPr>
      </p:sp>
      <p:sp>
        <p:nvSpPr>
          <p:cNvPr id="10" name="Text 8"/>
          <p:cNvSpPr/>
          <p:nvPr/>
        </p:nvSpPr>
        <p:spPr>
          <a:xfrm>
            <a:off x="640080" y="3108960"/>
            <a:ext cx="640080" cy="237744"/>
          </a:xfrm>
          <a:prstGeom prst="rect">
            <a:avLst/>
          </a:prstGeom>
          <a:noFill/>
          <a:ln/>
        </p:spPr>
        <p:txBody>
          <a:bodyPr wrap="square" lIns="0" tIns="0" rIns="0" bIns="0" rtlCol="0" anchor="ctr"/>
          <a:lstStyle/>
          <a:p>
            <a:pPr algn="ctr" indent="0" marL="0">
              <a:buNone/>
            </a:pPr>
            <a:r>
              <a:rPr lang="en-US" sz="800" dirty="0">
                <a:solidFill>
                  <a:srgbClr val="E6EDF3"/>
                </a:solidFill>
                <a:latin typeface="Consolas" pitchFamily="34" charset="0"/>
                <a:ea typeface="Consolas" pitchFamily="34" charset="-122"/>
                <a:cs typeface="Consolas" pitchFamily="34" charset="-120"/>
              </a:rPr>
              <a:t>status</a:t>
            </a:r>
            <a:endParaRPr lang="en-US" sz="800" dirty="0"/>
          </a:p>
        </p:txBody>
      </p:sp>
      <p:sp>
        <p:nvSpPr>
          <p:cNvPr id="11" name="Text 9"/>
          <p:cNvSpPr/>
          <p:nvPr/>
        </p:nvSpPr>
        <p:spPr>
          <a:xfrm>
            <a:off x="1280160" y="3108960"/>
            <a:ext cx="1005840" cy="237744"/>
          </a:xfrm>
          <a:prstGeom prst="rect">
            <a:avLst/>
          </a:prstGeom>
          <a:noFill/>
          <a:ln/>
        </p:spPr>
        <p:txBody>
          <a:bodyPr wrap="square" lIns="0" tIns="0" rIns="0" bIns="0" rtlCol="0" anchor="ctr"/>
          <a:lstStyle/>
          <a:p>
            <a:pPr algn="ctr" indent="0" marL="0">
              <a:buNone/>
            </a:pPr>
            <a:r>
              <a:rPr lang="en-US" sz="800" b="1" dirty="0">
                <a:solidFill>
                  <a:srgbClr val="0D1117"/>
                </a:solidFill>
                <a:latin typeface="Consolas" pitchFamily="34" charset="0"/>
                <a:ea typeface="Consolas" pitchFamily="34" charset="-122"/>
                <a:cs typeface="Consolas" pitchFamily="34" charset="-120"/>
              </a:rPr>
              <a:t>active</a:t>
            </a:r>
            <a:endParaRPr lang="en-US" sz="800" dirty="0"/>
          </a:p>
        </p:txBody>
      </p:sp>
      <p:sp>
        <p:nvSpPr>
          <p:cNvPr id="12" name="Shape 10"/>
          <p:cNvSpPr/>
          <p:nvPr/>
        </p:nvSpPr>
        <p:spPr>
          <a:xfrm>
            <a:off x="2377440" y="3108960"/>
            <a:ext cx="640080" cy="237744"/>
          </a:xfrm>
          <a:prstGeom prst="rect">
            <a:avLst/>
          </a:prstGeom>
          <a:solidFill>
            <a:srgbClr val="21262D"/>
          </a:solidFill>
          <a:ln w="12700">
            <a:solidFill>
              <a:srgbClr val="30363D"/>
            </a:solidFill>
            <a:prstDash val="solid"/>
          </a:ln>
        </p:spPr>
      </p:sp>
      <p:sp>
        <p:nvSpPr>
          <p:cNvPr id="13" name="Shape 11"/>
          <p:cNvSpPr/>
          <p:nvPr/>
        </p:nvSpPr>
        <p:spPr>
          <a:xfrm>
            <a:off x="3017520" y="3108960"/>
            <a:ext cx="1005840" cy="237744"/>
          </a:xfrm>
          <a:prstGeom prst="rect">
            <a:avLst/>
          </a:prstGeom>
          <a:solidFill>
            <a:srgbClr val="58A6FF"/>
          </a:solidFill>
          <a:ln w="12700">
            <a:solidFill>
              <a:srgbClr val="58A6FF"/>
            </a:solidFill>
            <a:prstDash val="solid"/>
          </a:ln>
        </p:spPr>
      </p:sp>
      <p:sp>
        <p:nvSpPr>
          <p:cNvPr id="14" name="Text 12"/>
          <p:cNvSpPr/>
          <p:nvPr/>
        </p:nvSpPr>
        <p:spPr>
          <a:xfrm>
            <a:off x="2377440" y="3108960"/>
            <a:ext cx="640080" cy="237744"/>
          </a:xfrm>
          <a:prstGeom prst="rect">
            <a:avLst/>
          </a:prstGeom>
          <a:noFill/>
          <a:ln/>
        </p:spPr>
        <p:txBody>
          <a:bodyPr wrap="square" lIns="0" tIns="0" rIns="0" bIns="0" rtlCol="0" anchor="ctr"/>
          <a:lstStyle/>
          <a:p>
            <a:pPr algn="ctr" indent="0" marL="0">
              <a:buNone/>
            </a:pPr>
            <a:r>
              <a:rPr lang="en-US" sz="800" dirty="0">
                <a:solidFill>
                  <a:srgbClr val="E6EDF3"/>
                </a:solidFill>
                <a:latin typeface="Consolas" pitchFamily="34" charset="0"/>
                <a:ea typeface="Consolas" pitchFamily="34" charset="-122"/>
                <a:cs typeface="Consolas" pitchFamily="34" charset="-120"/>
              </a:rPr>
              <a:t>version</a:t>
            </a:r>
            <a:endParaRPr lang="en-US" sz="800" dirty="0"/>
          </a:p>
        </p:txBody>
      </p:sp>
      <p:sp>
        <p:nvSpPr>
          <p:cNvPr id="15" name="Text 13"/>
          <p:cNvSpPr/>
          <p:nvPr/>
        </p:nvSpPr>
        <p:spPr>
          <a:xfrm>
            <a:off x="3017520" y="3108960"/>
            <a:ext cx="1005840" cy="237744"/>
          </a:xfrm>
          <a:prstGeom prst="rect">
            <a:avLst/>
          </a:prstGeom>
          <a:noFill/>
          <a:ln/>
        </p:spPr>
        <p:txBody>
          <a:bodyPr wrap="square" lIns="0" tIns="0" rIns="0" bIns="0" rtlCol="0" anchor="ctr"/>
          <a:lstStyle/>
          <a:p>
            <a:pPr algn="ctr" indent="0" marL="0">
              <a:buNone/>
            </a:pPr>
            <a:r>
              <a:rPr lang="en-US" sz="800" b="1" dirty="0">
                <a:solidFill>
                  <a:srgbClr val="0D1117"/>
                </a:solidFill>
                <a:latin typeface="Consolas" pitchFamily="34" charset="0"/>
                <a:ea typeface="Consolas" pitchFamily="34" charset="-122"/>
                <a:cs typeface="Consolas" pitchFamily="34" charset="-120"/>
              </a:rPr>
              <a:t>v1.0.0</a:t>
            </a:r>
            <a:endParaRPr lang="en-US" sz="800" dirty="0"/>
          </a:p>
        </p:txBody>
      </p:sp>
      <p:sp>
        <p:nvSpPr>
          <p:cNvPr id="16" name="Shape 14"/>
          <p:cNvSpPr/>
          <p:nvPr/>
        </p:nvSpPr>
        <p:spPr>
          <a:xfrm>
            <a:off x="4114800" y="3108960"/>
            <a:ext cx="640080" cy="237744"/>
          </a:xfrm>
          <a:prstGeom prst="rect">
            <a:avLst/>
          </a:prstGeom>
          <a:solidFill>
            <a:srgbClr val="21262D"/>
          </a:solidFill>
          <a:ln w="12700">
            <a:solidFill>
              <a:srgbClr val="30363D"/>
            </a:solidFill>
            <a:prstDash val="solid"/>
          </a:ln>
        </p:spPr>
      </p:sp>
      <p:sp>
        <p:nvSpPr>
          <p:cNvPr id="17" name="Shape 15"/>
          <p:cNvSpPr/>
          <p:nvPr/>
        </p:nvSpPr>
        <p:spPr>
          <a:xfrm>
            <a:off x="4754880" y="3108960"/>
            <a:ext cx="1005840" cy="237744"/>
          </a:xfrm>
          <a:prstGeom prst="rect">
            <a:avLst/>
          </a:prstGeom>
          <a:solidFill>
            <a:srgbClr val="D29922"/>
          </a:solidFill>
          <a:ln w="12700">
            <a:solidFill>
              <a:srgbClr val="D29922"/>
            </a:solidFill>
            <a:prstDash val="solid"/>
          </a:ln>
        </p:spPr>
      </p:sp>
      <p:sp>
        <p:nvSpPr>
          <p:cNvPr id="18" name="Text 16"/>
          <p:cNvSpPr/>
          <p:nvPr/>
        </p:nvSpPr>
        <p:spPr>
          <a:xfrm>
            <a:off x="4114800" y="3108960"/>
            <a:ext cx="640080" cy="237744"/>
          </a:xfrm>
          <a:prstGeom prst="rect">
            <a:avLst/>
          </a:prstGeom>
          <a:noFill/>
          <a:ln/>
        </p:spPr>
        <p:txBody>
          <a:bodyPr wrap="square" lIns="0" tIns="0" rIns="0" bIns="0" rtlCol="0" anchor="ctr"/>
          <a:lstStyle/>
          <a:p>
            <a:pPr algn="ctr" indent="0" marL="0">
              <a:buNone/>
            </a:pPr>
            <a:r>
              <a:rPr lang="en-US" sz="800" dirty="0">
                <a:solidFill>
                  <a:srgbClr val="E6EDF3"/>
                </a:solidFill>
                <a:latin typeface="Consolas" pitchFamily="34" charset="0"/>
                <a:ea typeface="Consolas" pitchFamily="34" charset="-122"/>
                <a:cs typeface="Consolas" pitchFamily="34" charset="-120"/>
              </a:rPr>
              <a:t>license</a:t>
            </a:r>
            <a:endParaRPr lang="en-US" sz="800" dirty="0"/>
          </a:p>
        </p:txBody>
      </p:sp>
      <p:sp>
        <p:nvSpPr>
          <p:cNvPr id="19" name="Text 17"/>
          <p:cNvSpPr/>
          <p:nvPr/>
        </p:nvSpPr>
        <p:spPr>
          <a:xfrm>
            <a:off x="4754880" y="3108960"/>
            <a:ext cx="1005840" cy="237744"/>
          </a:xfrm>
          <a:prstGeom prst="rect">
            <a:avLst/>
          </a:prstGeom>
          <a:noFill/>
          <a:ln/>
        </p:spPr>
        <p:txBody>
          <a:bodyPr wrap="square" lIns="0" tIns="0" rIns="0" bIns="0" rtlCol="0" anchor="ctr"/>
          <a:lstStyle/>
          <a:p>
            <a:pPr algn="ctr" indent="0" marL="0">
              <a:buNone/>
            </a:pPr>
            <a:r>
              <a:rPr lang="en-US" sz="800" b="1" dirty="0">
                <a:solidFill>
                  <a:srgbClr val="0D1117"/>
                </a:solidFill>
                <a:latin typeface="Consolas" pitchFamily="34" charset="0"/>
                <a:ea typeface="Consolas" pitchFamily="34" charset="-122"/>
                <a:cs typeface="Consolas" pitchFamily="34" charset="-120"/>
              </a:rPr>
              <a:t>MIT</a:t>
            </a:r>
            <a:endParaRPr lang="en-US" sz="800" dirty="0"/>
          </a:p>
        </p:txBody>
      </p:sp>
      <p:sp>
        <p:nvSpPr>
          <p:cNvPr id="20" name="Shape 18"/>
          <p:cNvSpPr/>
          <p:nvPr/>
        </p:nvSpPr>
        <p:spPr>
          <a:xfrm>
            <a:off x="6217920" y="731520"/>
            <a:ext cx="2651760" cy="3931920"/>
          </a:xfrm>
          <a:prstGeom prst="rect">
            <a:avLst/>
          </a:prstGeom>
          <a:solidFill>
            <a:srgbClr val="161B22"/>
          </a:solidFill>
          <a:ln w="12700">
            <a:solidFill>
              <a:srgbClr val="30363D"/>
            </a:solidFill>
            <a:prstDash val="solid"/>
          </a:ln>
        </p:spPr>
      </p:sp>
      <p:sp>
        <p:nvSpPr>
          <p:cNvPr id="21" name="Text 19"/>
          <p:cNvSpPr/>
          <p:nvPr/>
        </p:nvSpPr>
        <p:spPr>
          <a:xfrm>
            <a:off x="6309360" y="777240"/>
            <a:ext cx="2468880" cy="256032"/>
          </a:xfrm>
          <a:prstGeom prst="rect">
            <a:avLst/>
          </a:prstGeom>
          <a:noFill/>
          <a:ln/>
        </p:spPr>
        <p:txBody>
          <a:bodyPr wrap="square" rtlCol="0" anchor="ctr"/>
          <a:lstStyle/>
          <a:p>
            <a:pPr indent="0" marL="0">
              <a:buNone/>
            </a:pPr>
            <a:r>
              <a:rPr lang="en-US" sz="850" dirty="0">
                <a:solidFill>
                  <a:srgbClr val="3FB950"/>
                </a:solidFill>
                <a:latin typeface="Consolas" pitchFamily="34" charset="0"/>
                <a:ea typeface="Consolas" pitchFamily="34" charset="-122"/>
                <a:cs typeface="Consolas" pitchFamily="34" charset="-120"/>
              </a:rPr>
              <a:t>git clone HN-WallBot</a:t>
            </a:r>
            <a:endParaRPr lang="en-US" sz="850" dirty="0"/>
          </a:p>
        </p:txBody>
      </p:sp>
      <p:sp>
        <p:nvSpPr>
          <p:cNvPr id="22" name="Text 20"/>
          <p:cNvSpPr/>
          <p:nvPr/>
        </p:nvSpPr>
        <p:spPr>
          <a:xfrm>
            <a:off x="6309360" y="1097280"/>
            <a:ext cx="2468880" cy="237744"/>
          </a:xfrm>
          <a:prstGeom prst="rect">
            <a:avLst/>
          </a:prstGeom>
          <a:noFill/>
          <a:ln/>
        </p:spPr>
        <p:txBody>
          <a:bodyPr wrap="square" rtlCol="0" anchor="ctr"/>
          <a:lstStyle/>
          <a:p>
            <a:pPr indent="0" marL="0">
              <a:buNone/>
            </a:pPr>
            <a:r>
              <a:rPr lang="en-US" sz="850" dirty="0">
                <a:solidFill>
                  <a:srgbClr val="58A6FF"/>
                </a:solidFill>
                <a:latin typeface="Consolas" pitchFamily="34" charset="0"/>
                <a:ea typeface="Consolas" pitchFamily="34" charset="-122"/>
                <a:cs typeface="Consolas" pitchFamily="34" charset="-120"/>
              </a:rPr>
              <a:t>class WallRobot:</a:t>
            </a:r>
            <a:endParaRPr lang="en-US" sz="850" dirty="0"/>
          </a:p>
        </p:txBody>
      </p:sp>
      <p:sp>
        <p:nvSpPr>
          <p:cNvPr id="23" name="Text 21"/>
          <p:cNvSpPr/>
          <p:nvPr/>
        </p:nvSpPr>
        <p:spPr>
          <a:xfrm>
            <a:off x="6309360" y="1335024"/>
            <a:ext cx="2468880" cy="237744"/>
          </a:xfrm>
          <a:prstGeom prst="rect">
            <a:avLst/>
          </a:prstGeom>
          <a:noFill/>
          <a:ln/>
        </p:spPr>
        <p:txBody>
          <a:bodyPr wrap="square" rtlCol="0" anchor="ctr"/>
          <a:lstStyle/>
          <a:p>
            <a:pPr indent="0" marL="0">
              <a:buNone/>
            </a:pPr>
            <a:r>
              <a:rPr lang="en-US" sz="850" dirty="0">
                <a:solidFill>
                  <a:srgbClr val="E6EDF3"/>
                </a:solidFill>
                <a:latin typeface="Consolas" pitchFamily="34" charset="0"/>
                <a:ea typeface="Consolas" pitchFamily="34" charset="-122"/>
                <a:cs typeface="Consolas" pitchFamily="34" charset="-120"/>
              </a:rPr>
              <a:t>  name = "HN-Bot"</a:t>
            </a:r>
            <a:endParaRPr lang="en-US" sz="850" dirty="0"/>
          </a:p>
        </p:txBody>
      </p:sp>
      <p:sp>
        <p:nvSpPr>
          <p:cNvPr id="24" name="Text 22"/>
          <p:cNvSpPr/>
          <p:nvPr/>
        </p:nvSpPr>
        <p:spPr>
          <a:xfrm>
            <a:off x="6309360" y="1572768"/>
            <a:ext cx="2468880" cy="237744"/>
          </a:xfrm>
          <a:prstGeom prst="rect">
            <a:avLst/>
          </a:prstGeom>
          <a:noFill/>
          <a:ln/>
        </p:spPr>
        <p:txBody>
          <a:bodyPr wrap="square" rtlCol="0" anchor="ctr"/>
          <a:lstStyle/>
          <a:p>
            <a:pPr indent="0" marL="0">
              <a:buNone/>
            </a:pPr>
            <a:r>
              <a:rPr lang="en-US" sz="850" dirty="0">
                <a:solidFill>
                  <a:srgbClr val="E6EDF3"/>
                </a:solidFill>
                <a:latin typeface="Consolas" pitchFamily="34" charset="0"/>
                <a:ea typeface="Consolas" pitchFamily="34" charset="-122"/>
                <a:cs typeface="Consolas" pitchFamily="34" charset="-120"/>
              </a:rPr>
              <a:t>  mode = "semi-auto"</a:t>
            </a:r>
            <a:endParaRPr lang="en-US" sz="850" dirty="0"/>
          </a:p>
        </p:txBody>
      </p:sp>
      <p:sp>
        <p:nvSpPr>
          <p:cNvPr id="25" name="Text 23"/>
          <p:cNvSpPr/>
          <p:nvPr/>
        </p:nvSpPr>
        <p:spPr>
          <a:xfrm>
            <a:off x="6309360" y="1810512"/>
            <a:ext cx="2468880" cy="237744"/>
          </a:xfrm>
          <a:prstGeom prst="rect">
            <a:avLst/>
          </a:prstGeom>
          <a:noFill/>
          <a:ln/>
        </p:spPr>
        <p:txBody>
          <a:bodyPr wrap="square" rtlCol="0" anchor="ctr"/>
          <a:lstStyle/>
          <a:p>
            <a:pPr indent="0" marL="0">
              <a:buNone/>
            </a:pPr>
            <a:r>
              <a:rPr lang="en-US" sz="850" dirty="0">
                <a:solidFill>
                  <a:srgbClr val="D29922"/>
                </a:solidFill>
                <a:latin typeface="Consolas" pitchFamily="34" charset="0"/>
                <a:ea typeface="Consolas" pitchFamily="34" charset="-122"/>
                <a:cs typeface="Consolas" pitchFamily="34" charset="-120"/>
              </a:rPr>
              <a:t>  adhesion = Vacuum()</a:t>
            </a:r>
            <a:endParaRPr lang="en-US" sz="850" dirty="0"/>
          </a:p>
        </p:txBody>
      </p:sp>
      <p:sp>
        <p:nvSpPr>
          <p:cNvPr id="26" name="Text 24"/>
          <p:cNvSpPr/>
          <p:nvPr/>
        </p:nvSpPr>
        <p:spPr>
          <a:xfrm>
            <a:off x="6309360" y="2048256"/>
            <a:ext cx="2468880" cy="237744"/>
          </a:xfrm>
          <a:prstGeom prst="rect">
            <a:avLst/>
          </a:prstGeom>
          <a:noFill/>
          <a:ln/>
        </p:spPr>
        <p:txBody>
          <a:bodyPr wrap="square" rtlCol="0" anchor="ctr"/>
          <a:lstStyle/>
          <a:p>
            <a:pPr indent="0" marL="0">
              <a:buNone/>
            </a:pPr>
            <a:r>
              <a:rPr lang="en-US" sz="850" dirty="0">
                <a:solidFill>
                  <a:srgbClr val="D29922"/>
                </a:solidFill>
                <a:latin typeface="Consolas" pitchFamily="34" charset="0"/>
                <a:ea typeface="Consolas" pitchFamily="34" charset="-122"/>
                <a:cs typeface="Consolas" pitchFamily="34" charset="-120"/>
              </a:rPr>
              <a:t>  tool = Roller()</a:t>
            </a:r>
            <a:endParaRPr lang="en-US" sz="850" dirty="0"/>
          </a:p>
        </p:txBody>
      </p:sp>
      <p:sp>
        <p:nvSpPr>
          <p:cNvPr id="27" name="Text 25"/>
          <p:cNvSpPr/>
          <p:nvPr/>
        </p:nvSpPr>
        <p:spPr>
          <a:xfrm>
            <a:off x="6309360" y="2286000"/>
            <a:ext cx="2468880" cy="237744"/>
          </a:xfrm>
          <a:prstGeom prst="rect">
            <a:avLst/>
          </a:prstGeom>
          <a:noFill/>
          <a:ln/>
        </p:spPr>
        <p:txBody>
          <a:bodyPr wrap="square" rtlCol="0" anchor="ctr"/>
          <a:lstStyle/>
          <a:p>
            <a:pPr indent="0" marL="0">
              <a:buNone/>
            </a:pPr>
            <a:endParaRPr lang="en-US" sz="850" dirty="0"/>
          </a:p>
        </p:txBody>
      </p:sp>
      <p:sp>
        <p:nvSpPr>
          <p:cNvPr id="28" name="Text 26"/>
          <p:cNvSpPr/>
          <p:nvPr/>
        </p:nvSpPr>
        <p:spPr>
          <a:xfrm>
            <a:off x="6309360" y="2523744"/>
            <a:ext cx="2468880" cy="237744"/>
          </a:xfrm>
          <a:prstGeom prst="rect">
            <a:avLst/>
          </a:prstGeom>
          <a:noFill/>
          <a:ln/>
        </p:spPr>
        <p:txBody>
          <a:bodyPr wrap="square" rtlCol="0" anchor="ctr"/>
          <a:lstStyle/>
          <a:p>
            <a:pPr indent="0" marL="0">
              <a:buNone/>
            </a:pPr>
            <a:r>
              <a:rPr lang="en-US" sz="850" dirty="0">
                <a:solidFill>
                  <a:srgbClr val="BC8CFF"/>
                </a:solidFill>
                <a:latin typeface="Consolas" pitchFamily="34" charset="0"/>
                <a:ea typeface="Consolas" pitchFamily="34" charset="-122"/>
                <a:cs typeface="Consolas" pitchFamily="34" charset="-120"/>
              </a:rPr>
              <a:t>  def climb():</a:t>
            </a:r>
            <a:endParaRPr lang="en-US" sz="850" dirty="0"/>
          </a:p>
        </p:txBody>
      </p:sp>
      <p:sp>
        <p:nvSpPr>
          <p:cNvPr id="29" name="Text 27"/>
          <p:cNvSpPr/>
          <p:nvPr/>
        </p:nvSpPr>
        <p:spPr>
          <a:xfrm>
            <a:off x="6309360" y="2761488"/>
            <a:ext cx="2468880" cy="237744"/>
          </a:xfrm>
          <a:prstGeom prst="rect">
            <a:avLst/>
          </a:prstGeom>
          <a:noFill/>
          <a:ln/>
        </p:spPr>
        <p:txBody>
          <a:bodyPr wrap="square" rtlCol="0" anchor="ctr"/>
          <a:lstStyle/>
          <a:p>
            <a:pPr indent="0" marL="0">
              <a:buNone/>
            </a:pPr>
            <a:r>
              <a:rPr lang="en-US" sz="850" dirty="0">
                <a:solidFill>
                  <a:srgbClr val="8B949E"/>
                </a:solidFill>
                <a:latin typeface="Consolas" pitchFamily="34" charset="0"/>
                <a:ea typeface="Consolas" pitchFamily="34" charset="-122"/>
                <a:cs typeface="Consolas" pitchFamily="34" charset="-120"/>
              </a:rPr>
              <a:t>    self.vslam.run()</a:t>
            </a:r>
            <a:endParaRPr lang="en-US" sz="850" dirty="0"/>
          </a:p>
        </p:txBody>
      </p:sp>
      <p:sp>
        <p:nvSpPr>
          <p:cNvPr id="30" name="Text 28"/>
          <p:cNvSpPr/>
          <p:nvPr/>
        </p:nvSpPr>
        <p:spPr>
          <a:xfrm>
            <a:off x="6309360" y="2999232"/>
            <a:ext cx="2468880" cy="237744"/>
          </a:xfrm>
          <a:prstGeom prst="rect">
            <a:avLst/>
          </a:prstGeom>
          <a:noFill/>
          <a:ln/>
        </p:spPr>
        <p:txBody>
          <a:bodyPr wrap="square" rtlCol="0" anchor="ctr"/>
          <a:lstStyle/>
          <a:p>
            <a:pPr indent="0" marL="0">
              <a:buNone/>
            </a:pPr>
            <a:r>
              <a:rPr lang="en-US" sz="850" dirty="0">
                <a:solidFill>
                  <a:srgbClr val="8B949E"/>
                </a:solidFill>
                <a:latin typeface="Consolas" pitchFamily="34" charset="0"/>
                <a:ea typeface="Consolas" pitchFamily="34" charset="-122"/>
                <a:cs typeface="Consolas" pitchFamily="34" charset="-120"/>
              </a:rPr>
              <a:t>    self.paint()</a:t>
            </a:r>
            <a:endParaRPr lang="en-US" sz="850" dirty="0"/>
          </a:p>
        </p:txBody>
      </p:sp>
      <p:sp>
        <p:nvSpPr>
          <p:cNvPr id="31" name="Text 29"/>
          <p:cNvSpPr/>
          <p:nvPr/>
        </p:nvSpPr>
        <p:spPr>
          <a:xfrm>
            <a:off x="6309360" y="3236976"/>
            <a:ext cx="2468880" cy="237744"/>
          </a:xfrm>
          <a:prstGeom prst="rect">
            <a:avLst/>
          </a:prstGeom>
          <a:noFill/>
          <a:ln/>
        </p:spPr>
        <p:txBody>
          <a:bodyPr wrap="square" rtlCol="0" anchor="ctr"/>
          <a:lstStyle/>
          <a:p>
            <a:pPr indent="0" marL="0">
              <a:buNone/>
            </a:pPr>
            <a:r>
              <a:rPr lang="en-US" sz="850" dirty="0">
                <a:solidFill>
                  <a:srgbClr val="8B949E"/>
                </a:solidFill>
                <a:latin typeface="Consolas" pitchFamily="34" charset="0"/>
                <a:ea typeface="Consolas" pitchFamily="34" charset="-122"/>
                <a:cs typeface="Consolas" pitchFamily="34" charset="-120"/>
              </a:rPr>
              <a:t>    self.inspect()</a:t>
            </a:r>
            <a:endParaRPr lang="en-US" sz="850" dirty="0"/>
          </a:p>
        </p:txBody>
      </p:sp>
      <p:sp>
        <p:nvSpPr>
          <p:cNvPr id="32" name="Text 30"/>
          <p:cNvSpPr/>
          <p:nvPr/>
        </p:nvSpPr>
        <p:spPr>
          <a:xfrm>
            <a:off x="6309360" y="3474720"/>
            <a:ext cx="2468880" cy="237744"/>
          </a:xfrm>
          <a:prstGeom prst="rect">
            <a:avLst/>
          </a:prstGeom>
          <a:noFill/>
          <a:ln/>
        </p:spPr>
        <p:txBody>
          <a:bodyPr wrap="square" rtlCol="0" anchor="ctr"/>
          <a:lstStyle/>
          <a:p>
            <a:pPr indent="0" marL="0">
              <a:buNone/>
            </a:pPr>
            <a:endParaRPr lang="en-US" sz="850" dirty="0"/>
          </a:p>
        </p:txBody>
      </p:sp>
      <p:sp>
        <p:nvSpPr>
          <p:cNvPr id="33" name="Text 31"/>
          <p:cNvSpPr/>
          <p:nvPr/>
        </p:nvSpPr>
        <p:spPr>
          <a:xfrm>
            <a:off x="6309360" y="3712464"/>
            <a:ext cx="2468880" cy="237744"/>
          </a:xfrm>
          <a:prstGeom prst="rect">
            <a:avLst/>
          </a:prstGeom>
          <a:noFill/>
          <a:ln/>
        </p:spPr>
        <p:txBody>
          <a:bodyPr wrap="square" rtlCol="0" anchor="ctr"/>
          <a:lstStyle/>
          <a:p>
            <a:pPr indent="0" marL="0">
              <a:buNone/>
            </a:pPr>
            <a:r>
              <a:rPr lang="en-US" sz="850" dirty="0">
                <a:solidFill>
                  <a:srgbClr val="3FB950"/>
                </a:solidFill>
                <a:latin typeface="Consolas" pitchFamily="34" charset="0"/>
                <a:ea typeface="Consolas" pitchFamily="34" charset="-122"/>
                <a:cs typeface="Consolas" pitchFamily="34" charset="-120"/>
              </a:rPr>
              <a:t># India Innovates 2025</a:t>
            </a:r>
            <a:endParaRPr lang="en-US" sz="850" dirty="0"/>
          </a:p>
        </p:txBody>
      </p:sp>
      <p:sp>
        <p:nvSpPr>
          <p:cNvPr id="34" name="Shape 32"/>
          <p:cNvSpPr/>
          <p:nvPr/>
        </p:nvSpPr>
        <p:spPr>
          <a:xfrm>
            <a:off x="0" y="4892040"/>
            <a:ext cx="9144000" cy="251460"/>
          </a:xfrm>
          <a:prstGeom prst="rect">
            <a:avLst/>
          </a:prstGeom>
          <a:solidFill>
            <a:srgbClr val="161B22"/>
          </a:solidFill>
          <a:ln w="12700">
            <a:solidFill>
              <a:srgbClr val="30363D"/>
            </a:solidFill>
            <a:prstDash val="solid"/>
          </a:ln>
        </p:spPr>
      </p:sp>
      <p:sp>
        <p:nvSpPr>
          <p:cNvPr id="35" name="Text 33"/>
          <p:cNvSpPr/>
          <p:nvPr/>
        </p:nvSpPr>
        <p:spPr>
          <a:xfrm>
            <a:off x="274320" y="4901184"/>
            <a:ext cx="8595360" cy="219456"/>
          </a:xfrm>
          <a:prstGeom prst="rect">
            <a:avLst/>
          </a:prstGeom>
          <a:noFill/>
          <a:ln/>
        </p:spPr>
        <p:txBody>
          <a:bodyPr wrap="square" rtlCol="0" anchor="ctr"/>
          <a:lstStyle/>
          <a:p>
            <a:pPr indent="0" marL="0">
              <a:buNone/>
            </a:pPr>
            <a:r>
              <a:rPr lang="en-US" sz="800" dirty="0">
                <a:solidFill>
                  <a:srgbClr val="8B949E"/>
                </a:solidFill>
                <a:latin typeface="Consolas" pitchFamily="34" charset="0"/>
                <a:ea typeface="Consolas" pitchFamily="34" charset="-122"/>
                <a:cs typeface="Consolas" pitchFamily="34" charset="-120"/>
              </a:rPr>
              <a:t>India Innovates 2025  •  Team: Udgam_UrbanSolution</a:t>
            </a:r>
            <a:endParaRPr lang="en-US" sz="800" dirty="0"/>
          </a:p>
        </p:txBody>
      </p:sp>
      <p:sp>
        <p:nvSpPr>
          <p:cNvPr id="36" name="Shape 34"/>
          <p:cNvSpPr/>
          <p:nvPr/>
        </p:nvSpPr>
        <p:spPr>
          <a:xfrm>
            <a:off x="8686800" y="4919472"/>
            <a:ext cx="109728" cy="109728"/>
          </a:xfrm>
          <a:prstGeom prst="ellipse">
            <a:avLst/>
          </a:prstGeom>
          <a:solidFill>
            <a:srgbClr val="3FB950"/>
          </a:solidFill>
          <a:ln w="12700">
            <a:solidFill>
              <a:srgbClr val="3FB950"/>
            </a:solidFill>
            <a:prstDash val="solid"/>
          </a:ln>
        </p:spPr>
      </p:sp>
      <p:sp>
        <p:nvSpPr>
          <p:cNvPr id="37" name="Text 35"/>
          <p:cNvSpPr/>
          <p:nvPr/>
        </p:nvSpPr>
        <p:spPr>
          <a:xfrm>
            <a:off x="640080" y="3520440"/>
            <a:ext cx="3657600" cy="274320"/>
          </a:xfrm>
          <a:prstGeom prst="rect">
            <a:avLst/>
          </a:prstGeom>
          <a:noFill/>
          <a:ln/>
        </p:spPr>
        <p:txBody>
          <a:bodyPr wrap="square" rtlCol="0" anchor="ctr"/>
          <a:lstStyle/>
          <a:p>
            <a:pPr indent="0" marL="0">
              <a:buNone/>
            </a:pPr>
            <a:r>
              <a:rPr lang="en-US" sz="950" dirty="0">
                <a:solidFill>
                  <a:srgbClr val="8B949E"/>
                </a:solidFill>
                <a:latin typeface="Consolas" pitchFamily="34" charset="0"/>
                <a:ea typeface="Consolas" pitchFamily="34" charset="-122"/>
                <a:cs typeface="Consolas" pitchFamily="34" charset="-120"/>
              </a:rPr>
              <a:t>★ 47  🍴 12  👁 231</a:t>
            </a:r>
            <a:endParaRPr lang="en-US" sz="950" dirty="0"/>
          </a:p>
        </p:txBody>
      </p:sp>
      <p:sp>
        <p:nvSpPr>
          <p:cNvPr id="38" name="Text 36"/>
          <p:cNvSpPr/>
          <p:nvPr/>
        </p:nvSpPr>
        <p:spPr>
          <a:xfrm>
            <a:off x="640080" y="3840480"/>
            <a:ext cx="4572000" cy="274320"/>
          </a:xfrm>
          <a:prstGeom prst="rect">
            <a:avLst/>
          </a:prstGeom>
          <a:noFill/>
          <a:ln/>
        </p:spPr>
        <p:txBody>
          <a:bodyPr wrap="square" rtlCol="0" anchor="ctr"/>
          <a:lstStyle/>
          <a:p>
            <a:pPr indent="0" marL="0">
              <a:buNone/>
            </a:pPr>
            <a:r>
              <a:rPr lang="en-US" sz="1000" dirty="0">
                <a:solidFill>
                  <a:srgbClr val="8B949E"/>
                </a:solidFill>
                <a:latin typeface="Consolas" pitchFamily="34" charset="0"/>
                <a:ea typeface="Consolas" pitchFamily="34" charset="-122"/>
                <a:cs typeface="Consolas" pitchFamily="34" charset="-120"/>
              </a:rPr>
              <a:t>Team: Udgam_UrbanSolution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1B22"/>
          </a:solidFill>
          <a:ln w="12700">
            <a:solidFill>
              <a:srgbClr val="30363D"/>
            </a:solidFill>
            <a:prstDash val="solid"/>
          </a:ln>
        </p:spPr>
      </p:sp>
      <p:sp>
        <p:nvSpPr>
          <p:cNvPr id="3" name="Shape 1"/>
          <p:cNvSpPr/>
          <p:nvPr/>
        </p:nvSpPr>
        <p:spPr>
          <a:xfrm>
            <a:off x="182880" y="91440"/>
            <a:ext cx="411480" cy="411480"/>
          </a:xfrm>
          <a:prstGeom prst="rect">
            <a:avLst/>
          </a:prstGeom>
          <a:solidFill>
            <a:srgbClr val="21262D"/>
          </a:solidFill>
          <a:ln w="12700">
            <a:solidFill>
              <a:srgbClr val="30363D"/>
            </a:solidFill>
            <a:prstDash val="solid"/>
          </a:ln>
        </p:spPr>
      </p:sp>
      <p:sp>
        <p:nvSpPr>
          <p:cNvPr id="4" name="Text 2"/>
          <p:cNvSpPr/>
          <p:nvPr/>
        </p:nvSpPr>
        <p:spPr>
          <a:xfrm>
            <a:off x="182880" y="73152"/>
            <a:ext cx="411480" cy="448056"/>
          </a:xfrm>
          <a:prstGeom prst="rect">
            <a:avLst/>
          </a:prstGeom>
          <a:noFill/>
          <a:ln/>
        </p:spPr>
        <p:txBody>
          <a:bodyPr wrap="square" rtlCol="0" anchor="ctr"/>
          <a:lstStyle/>
          <a:p>
            <a:pPr algn="ctr" indent="0" marL="0">
              <a:buNone/>
            </a:pPr>
            <a:r>
              <a:rPr lang="en-US" sz="1800" dirty="0">
                <a:solidFill>
                  <a:srgbClr val="E6EDF3"/>
                </a:solidFill>
              </a:rPr>
              <a:t>⬡</a:t>
            </a:r>
            <a:endParaRPr lang="en-US" sz="1800" dirty="0"/>
          </a:p>
        </p:txBody>
      </p:sp>
      <p:sp>
        <p:nvSpPr>
          <p:cNvPr id="5" name="Text 3"/>
          <p:cNvSpPr/>
          <p:nvPr/>
        </p:nvSpPr>
        <p:spPr>
          <a:xfrm>
            <a:off x="685800" y="91440"/>
            <a:ext cx="4572000" cy="411480"/>
          </a:xfrm>
          <a:prstGeom prst="rect">
            <a:avLst/>
          </a:prstGeom>
          <a:noFill/>
          <a:ln/>
        </p:spPr>
        <p:txBody>
          <a:bodyPr wrap="square" rtlCol="0" anchor="ctr"/>
          <a:lstStyle/>
          <a:p>
            <a:pPr indent="0" marL="0">
              <a:buNone/>
            </a:pPr>
            <a:r>
              <a:rPr lang="en-US" sz="1000" dirty="0">
                <a:solidFill>
                  <a:srgbClr val="58A6FF"/>
                </a:solidFill>
                <a:latin typeface="Consolas" pitchFamily="34" charset="0"/>
                <a:ea typeface="Consolas" pitchFamily="34" charset="-122"/>
                <a:cs typeface="Consolas" pitchFamily="34" charset="-120"/>
              </a:rPr>
              <a:t>HN-WallBot / udgam-urban-solution</a:t>
            </a:r>
            <a:endParaRPr lang="en-US" sz="1000" dirty="0"/>
          </a:p>
        </p:txBody>
      </p:sp>
      <p:sp>
        <p:nvSpPr>
          <p:cNvPr id="6" name="Text 4"/>
          <p:cNvSpPr/>
          <p:nvPr/>
        </p:nvSpPr>
        <p:spPr>
          <a:xfrm>
            <a:off x="5029200" y="91440"/>
            <a:ext cx="3931920" cy="411480"/>
          </a:xfrm>
          <a:prstGeom prst="rect">
            <a:avLst/>
          </a:prstGeom>
          <a:noFill/>
          <a:ln/>
        </p:spPr>
        <p:txBody>
          <a:bodyPr wrap="square" rtlCol="0" anchor="ctr"/>
          <a:lstStyle/>
          <a:p>
            <a:pPr algn="r" indent="0" marL="0">
              <a:buNone/>
            </a:pPr>
            <a:r>
              <a:rPr lang="en-US" sz="1100" dirty="0">
                <a:solidFill>
                  <a:srgbClr val="8B949E"/>
                </a:solidFill>
                <a:latin typeface="Consolas" pitchFamily="34" charset="0"/>
                <a:ea typeface="Consolas" pitchFamily="34" charset="-122"/>
                <a:cs typeface="Consolas" pitchFamily="34" charset="-120"/>
              </a:rPr>
              <a:t>issues/problem.md</a:t>
            </a:r>
            <a:endParaRPr lang="en-US" sz="1100" dirty="0"/>
          </a:p>
        </p:txBody>
      </p:sp>
      <p:sp>
        <p:nvSpPr>
          <p:cNvPr id="7" name="Shape 5"/>
          <p:cNvSpPr/>
          <p:nvPr/>
        </p:nvSpPr>
        <p:spPr>
          <a:xfrm>
            <a:off x="0" y="4892040"/>
            <a:ext cx="9144000" cy="251460"/>
          </a:xfrm>
          <a:prstGeom prst="rect">
            <a:avLst/>
          </a:prstGeom>
          <a:solidFill>
            <a:srgbClr val="161B22"/>
          </a:solidFill>
          <a:ln w="12700">
            <a:solidFill>
              <a:srgbClr val="30363D"/>
            </a:solidFill>
            <a:prstDash val="solid"/>
          </a:ln>
        </p:spPr>
      </p:sp>
      <p:sp>
        <p:nvSpPr>
          <p:cNvPr id="8" name="Text 6"/>
          <p:cNvSpPr/>
          <p:nvPr/>
        </p:nvSpPr>
        <p:spPr>
          <a:xfrm>
            <a:off x="274320" y="4901184"/>
            <a:ext cx="8595360" cy="219456"/>
          </a:xfrm>
          <a:prstGeom prst="rect">
            <a:avLst/>
          </a:prstGeom>
          <a:noFill/>
          <a:ln/>
        </p:spPr>
        <p:txBody>
          <a:bodyPr wrap="square" rtlCol="0" anchor="ctr"/>
          <a:lstStyle/>
          <a:p>
            <a:pPr indent="0" marL="0">
              <a:buNone/>
            </a:pPr>
            <a:r>
              <a:rPr lang="en-US" sz="800" dirty="0">
                <a:solidFill>
                  <a:srgbClr val="8B949E"/>
                </a:solidFill>
                <a:latin typeface="Consolas" pitchFamily="34" charset="0"/>
                <a:ea typeface="Consolas" pitchFamily="34" charset="-122"/>
                <a:cs typeface="Consolas" pitchFamily="34" charset="-120"/>
              </a:rPr>
              <a:t>India Innovates 2025  •  Semi-Autonomous Wall Painting Robot</a:t>
            </a:r>
            <a:endParaRPr lang="en-US" sz="800" dirty="0"/>
          </a:p>
        </p:txBody>
      </p:sp>
      <p:sp>
        <p:nvSpPr>
          <p:cNvPr id="9" name="Shape 7"/>
          <p:cNvSpPr/>
          <p:nvPr/>
        </p:nvSpPr>
        <p:spPr>
          <a:xfrm>
            <a:off x="8686800" y="4919472"/>
            <a:ext cx="109728" cy="109728"/>
          </a:xfrm>
          <a:prstGeom prst="ellipse">
            <a:avLst/>
          </a:prstGeom>
          <a:solidFill>
            <a:srgbClr val="3FB950"/>
          </a:solidFill>
          <a:ln w="12700">
            <a:solidFill>
              <a:srgbClr val="3FB950"/>
            </a:solidFill>
            <a:prstDash val="solid"/>
          </a:ln>
        </p:spPr>
      </p:sp>
      <p:sp>
        <p:nvSpPr>
          <p:cNvPr id="10" name="Text 8"/>
          <p:cNvSpPr/>
          <p:nvPr/>
        </p:nvSpPr>
        <p:spPr>
          <a:xfrm>
            <a:off x="274320" y="685800"/>
            <a:ext cx="8229600" cy="256032"/>
          </a:xfrm>
          <a:prstGeom prst="rect">
            <a:avLst/>
          </a:prstGeom>
          <a:noFill/>
          <a:ln/>
        </p:spPr>
        <p:txBody>
          <a:bodyPr wrap="square" rtlCol="0" anchor="ctr"/>
          <a:lstStyle/>
          <a:p>
            <a:pPr indent="0" marL="0">
              <a:buNone/>
            </a:pPr>
            <a:r>
              <a:rPr lang="en-US" sz="1200" b="1" dirty="0">
                <a:solidFill>
                  <a:srgbClr val="58A6FF"/>
                </a:solidFill>
                <a:latin typeface="Consolas" pitchFamily="34" charset="0"/>
                <a:ea typeface="Consolas" pitchFamily="34" charset="-122"/>
                <a:cs typeface="Consolas" pitchFamily="34" charset="-120"/>
              </a:rPr>
              <a:t>// Current Challenges in High-Rise Building Maintenance</a:t>
            </a:r>
            <a:endParaRPr lang="en-US" sz="1200" dirty="0"/>
          </a:p>
        </p:txBody>
      </p:sp>
      <p:sp>
        <p:nvSpPr>
          <p:cNvPr id="11" name="Shape 9"/>
          <p:cNvSpPr/>
          <p:nvPr/>
        </p:nvSpPr>
        <p:spPr>
          <a:xfrm>
            <a:off x="274320" y="1051560"/>
            <a:ext cx="4160520" cy="1417320"/>
          </a:xfrm>
          <a:prstGeom prst="rect">
            <a:avLst/>
          </a:prstGeom>
          <a:solidFill>
            <a:srgbClr val="161B22"/>
          </a:solidFill>
          <a:ln w="12700">
            <a:solidFill>
              <a:srgbClr val="30363D"/>
            </a:solidFill>
            <a:prstDash val="solid"/>
          </a:ln>
        </p:spPr>
      </p:sp>
      <p:sp>
        <p:nvSpPr>
          <p:cNvPr id="12" name="Shape 10"/>
          <p:cNvSpPr/>
          <p:nvPr/>
        </p:nvSpPr>
        <p:spPr>
          <a:xfrm>
            <a:off x="274320" y="1051560"/>
            <a:ext cx="45720" cy="1417320"/>
          </a:xfrm>
          <a:prstGeom prst="rect">
            <a:avLst/>
          </a:prstGeom>
          <a:solidFill>
            <a:srgbClr val="F78166"/>
          </a:solidFill>
          <a:ln w="12700">
            <a:solidFill>
              <a:srgbClr val="F78166"/>
            </a:solidFill>
            <a:prstDash val="solid"/>
          </a:ln>
        </p:spPr>
      </p:sp>
      <p:sp>
        <p:nvSpPr>
          <p:cNvPr id="13" name="Text 11"/>
          <p:cNvSpPr/>
          <p:nvPr/>
        </p:nvSpPr>
        <p:spPr>
          <a:xfrm>
            <a:off x="411480" y="1143000"/>
            <a:ext cx="411480" cy="219456"/>
          </a:xfrm>
          <a:prstGeom prst="rect">
            <a:avLst/>
          </a:prstGeom>
          <a:noFill/>
          <a:ln/>
        </p:spPr>
        <p:txBody>
          <a:bodyPr wrap="square" rtlCol="0" anchor="ctr"/>
          <a:lstStyle/>
          <a:p>
            <a:pPr indent="0" marL="0">
              <a:buNone/>
            </a:pPr>
            <a:r>
              <a:rPr lang="en-US" sz="900" dirty="0">
                <a:solidFill>
                  <a:srgbClr val="8B949E"/>
                </a:solidFill>
                <a:latin typeface="Consolas" pitchFamily="34" charset="0"/>
                <a:ea typeface="Consolas" pitchFamily="34" charset="-122"/>
                <a:cs typeface="Consolas" pitchFamily="34" charset="-120"/>
              </a:rPr>
              <a:t>#1</a:t>
            </a:r>
            <a:endParaRPr lang="en-US" sz="900" dirty="0"/>
          </a:p>
        </p:txBody>
      </p:sp>
      <p:sp>
        <p:nvSpPr>
          <p:cNvPr id="14" name="Shape 12"/>
          <p:cNvSpPr/>
          <p:nvPr/>
        </p:nvSpPr>
        <p:spPr>
          <a:xfrm>
            <a:off x="822960" y="1143000"/>
            <a:ext cx="777240" cy="219456"/>
          </a:xfrm>
          <a:prstGeom prst="roundRect">
            <a:avLst>
              <a:gd name="adj" fmla="val 20833"/>
            </a:avLst>
          </a:prstGeom>
          <a:solidFill>
            <a:srgbClr val="F78166"/>
          </a:solidFill>
          <a:ln w="12700">
            <a:solidFill>
              <a:srgbClr val="F78166"/>
            </a:solidFill>
            <a:prstDash val="solid"/>
          </a:ln>
        </p:spPr>
      </p:sp>
      <p:sp>
        <p:nvSpPr>
          <p:cNvPr id="15" name="Text 13"/>
          <p:cNvSpPr/>
          <p:nvPr/>
        </p:nvSpPr>
        <p:spPr>
          <a:xfrm>
            <a:off x="822960" y="1143000"/>
            <a:ext cx="777240" cy="219456"/>
          </a:xfrm>
          <a:prstGeom prst="rect">
            <a:avLst/>
          </a:prstGeom>
          <a:noFill/>
          <a:ln/>
        </p:spPr>
        <p:txBody>
          <a:bodyPr wrap="square" lIns="0" tIns="0" rIns="0" bIns="0" rtlCol="0" anchor="ctr"/>
          <a:lstStyle/>
          <a:p>
            <a:pPr algn="ctr" indent="0" marL="0">
              <a:buNone/>
            </a:pPr>
            <a:r>
              <a:rPr lang="en-US" sz="800" b="1" dirty="0">
                <a:solidFill>
                  <a:srgbClr val="0D1117"/>
                </a:solidFill>
                <a:latin typeface="Consolas" pitchFamily="34" charset="0"/>
                <a:ea typeface="Consolas" pitchFamily="34" charset="-122"/>
                <a:cs typeface="Consolas" pitchFamily="34" charset="-120"/>
              </a:rPr>
              <a:t>bug</a:t>
            </a:r>
            <a:endParaRPr lang="en-US" sz="800" dirty="0"/>
          </a:p>
        </p:txBody>
      </p:sp>
      <p:sp>
        <p:nvSpPr>
          <p:cNvPr id="16" name="Text 14"/>
          <p:cNvSpPr/>
          <p:nvPr/>
        </p:nvSpPr>
        <p:spPr>
          <a:xfrm>
            <a:off x="411480" y="1435608"/>
            <a:ext cx="3840480" cy="292608"/>
          </a:xfrm>
          <a:prstGeom prst="rect">
            <a:avLst/>
          </a:prstGeom>
          <a:noFill/>
          <a:ln/>
        </p:spPr>
        <p:txBody>
          <a:bodyPr wrap="square" rtlCol="0" anchor="ctr"/>
          <a:lstStyle/>
          <a:p>
            <a:pPr indent="0" marL="0">
              <a:buNone/>
            </a:pPr>
            <a:r>
              <a:rPr lang="en-US" sz="1300" b="1" dirty="0">
                <a:solidFill>
                  <a:srgbClr val="E6EDF3"/>
                </a:solidFill>
                <a:latin typeface="Calibri" pitchFamily="34" charset="0"/>
                <a:ea typeface="Calibri" pitchFamily="34" charset="-122"/>
                <a:cs typeface="Calibri" pitchFamily="34" charset="-120"/>
              </a:rPr>
              <a:t>Slow Manual Painting</a:t>
            </a:r>
            <a:endParaRPr lang="en-US" sz="1300" dirty="0"/>
          </a:p>
        </p:txBody>
      </p:sp>
      <p:sp>
        <p:nvSpPr>
          <p:cNvPr id="17" name="Text 15"/>
          <p:cNvSpPr/>
          <p:nvPr/>
        </p:nvSpPr>
        <p:spPr>
          <a:xfrm>
            <a:off x="411480" y="1764792"/>
            <a:ext cx="3840480" cy="594360"/>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Large buildings require prolonged work</a:t>
            </a:r>
            <a:endParaRPr lang="en-US" sz="1000" dirty="0"/>
          </a:p>
          <a:p>
            <a:pPr indent="0" marL="0">
              <a:buNone/>
            </a:pPr>
            <a:r>
              <a:rPr lang="en-US" sz="1000" dirty="0">
                <a:solidFill>
                  <a:srgbClr val="8B949E"/>
                </a:solidFill>
                <a:latin typeface="Calibri" pitchFamily="34" charset="0"/>
                <a:ea typeface="Calibri" pitchFamily="34" charset="-122"/>
                <a:cs typeface="Calibri" pitchFamily="34" charset="-120"/>
              </a:rPr>
              <a:t>times with high operational costs</a:t>
            </a:r>
            <a:endParaRPr lang="en-US" sz="1000" dirty="0"/>
          </a:p>
        </p:txBody>
      </p:sp>
      <p:sp>
        <p:nvSpPr>
          <p:cNvPr id="18" name="Shape 16"/>
          <p:cNvSpPr/>
          <p:nvPr/>
        </p:nvSpPr>
        <p:spPr>
          <a:xfrm>
            <a:off x="4709160" y="1051560"/>
            <a:ext cx="4160520" cy="1417320"/>
          </a:xfrm>
          <a:prstGeom prst="rect">
            <a:avLst/>
          </a:prstGeom>
          <a:solidFill>
            <a:srgbClr val="161B22"/>
          </a:solidFill>
          <a:ln w="12700">
            <a:solidFill>
              <a:srgbClr val="30363D"/>
            </a:solidFill>
            <a:prstDash val="solid"/>
          </a:ln>
        </p:spPr>
      </p:sp>
      <p:sp>
        <p:nvSpPr>
          <p:cNvPr id="19" name="Shape 17"/>
          <p:cNvSpPr/>
          <p:nvPr/>
        </p:nvSpPr>
        <p:spPr>
          <a:xfrm>
            <a:off x="4709160" y="1051560"/>
            <a:ext cx="45720" cy="1417320"/>
          </a:xfrm>
          <a:prstGeom prst="rect">
            <a:avLst/>
          </a:prstGeom>
          <a:solidFill>
            <a:srgbClr val="DA3633"/>
          </a:solidFill>
          <a:ln w="12700">
            <a:solidFill>
              <a:srgbClr val="DA3633"/>
            </a:solidFill>
            <a:prstDash val="solid"/>
          </a:ln>
        </p:spPr>
      </p:sp>
      <p:sp>
        <p:nvSpPr>
          <p:cNvPr id="20" name="Text 18"/>
          <p:cNvSpPr/>
          <p:nvPr/>
        </p:nvSpPr>
        <p:spPr>
          <a:xfrm>
            <a:off x="4846320" y="1143000"/>
            <a:ext cx="411480" cy="219456"/>
          </a:xfrm>
          <a:prstGeom prst="rect">
            <a:avLst/>
          </a:prstGeom>
          <a:noFill/>
          <a:ln/>
        </p:spPr>
        <p:txBody>
          <a:bodyPr wrap="square" rtlCol="0" anchor="ctr"/>
          <a:lstStyle/>
          <a:p>
            <a:pPr indent="0" marL="0">
              <a:buNone/>
            </a:pPr>
            <a:r>
              <a:rPr lang="en-US" sz="900" dirty="0">
                <a:solidFill>
                  <a:srgbClr val="8B949E"/>
                </a:solidFill>
                <a:latin typeface="Consolas" pitchFamily="34" charset="0"/>
                <a:ea typeface="Consolas" pitchFamily="34" charset="-122"/>
                <a:cs typeface="Consolas" pitchFamily="34" charset="-120"/>
              </a:rPr>
              <a:t>#2</a:t>
            </a:r>
            <a:endParaRPr lang="en-US" sz="900" dirty="0"/>
          </a:p>
        </p:txBody>
      </p:sp>
      <p:sp>
        <p:nvSpPr>
          <p:cNvPr id="21" name="Shape 19"/>
          <p:cNvSpPr/>
          <p:nvPr/>
        </p:nvSpPr>
        <p:spPr>
          <a:xfrm>
            <a:off x="5257800" y="1143000"/>
            <a:ext cx="777240" cy="219456"/>
          </a:xfrm>
          <a:prstGeom prst="roundRect">
            <a:avLst>
              <a:gd name="adj" fmla="val 20833"/>
            </a:avLst>
          </a:prstGeom>
          <a:solidFill>
            <a:srgbClr val="DA3633"/>
          </a:solidFill>
          <a:ln w="12700">
            <a:solidFill>
              <a:srgbClr val="DA3633"/>
            </a:solidFill>
            <a:prstDash val="solid"/>
          </a:ln>
        </p:spPr>
      </p:sp>
      <p:sp>
        <p:nvSpPr>
          <p:cNvPr id="22" name="Text 20"/>
          <p:cNvSpPr/>
          <p:nvPr/>
        </p:nvSpPr>
        <p:spPr>
          <a:xfrm>
            <a:off x="5257800" y="1143000"/>
            <a:ext cx="777240" cy="219456"/>
          </a:xfrm>
          <a:prstGeom prst="rect">
            <a:avLst/>
          </a:prstGeom>
          <a:noFill/>
          <a:ln/>
        </p:spPr>
        <p:txBody>
          <a:bodyPr wrap="square" lIns="0" tIns="0" rIns="0" bIns="0" rtlCol="0" anchor="ctr"/>
          <a:lstStyle/>
          <a:p>
            <a:pPr algn="ctr" indent="0" marL="0">
              <a:buNone/>
            </a:pPr>
            <a:r>
              <a:rPr lang="en-US" sz="800" b="1" dirty="0">
                <a:solidFill>
                  <a:srgbClr val="0D1117"/>
                </a:solidFill>
                <a:latin typeface="Consolas" pitchFamily="34" charset="0"/>
                <a:ea typeface="Consolas" pitchFamily="34" charset="-122"/>
                <a:cs typeface="Consolas" pitchFamily="34" charset="-120"/>
              </a:rPr>
              <a:t>critical</a:t>
            </a:r>
            <a:endParaRPr lang="en-US" sz="800" dirty="0"/>
          </a:p>
        </p:txBody>
      </p:sp>
      <p:sp>
        <p:nvSpPr>
          <p:cNvPr id="23" name="Text 21"/>
          <p:cNvSpPr/>
          <p:nvPr/>
        </p:nvSpPr>
        <p:spPr>
          <a:xfrm>
            <a:off x="4846320" y="1435608"/>
            <a:ext cx="3840480" cy="292608"/>
          </a:xfrm>
          <a:prstGeom prst="rect">
            <a:avLst/>
          </a:prstGeom>
          <a:noFill/>
          <a:ln/>
        </p:spPr>
        <p:txBody>
          <a:bodyPr wrap="square" rtlCol="0" anchor="ctr"/>
          <a:lstStyle/>
          <a:p>
            <a:pPr indent="0" marL="0">
              <a:buNone/>
            </a:pPr>
            <a:r>
              <a:rPr lang="en-US" sz="1300" b="1" dirty="0">
                <a:solidFill>
                  <a:srgbClr val="E6EDF3"/>
                </a:solidFill>
                <a:latin typeface="Calibri" pitchFamily="34" charset="0"/>
                <a:ea typeface="Calibri" pitchFamily="34" charset="-122"/>
                <a:cs typeface="Calibri" pitchFamily="34" charset="-120"/>
              </a:rPr>
              <a:t>Unsafe High-Rise Work</a:t>
            </a:r>
            <a:endParaRPr lang="en-US" sz="1300" dirty="0"/>
          </a:p>
        </p:txBody>
      </p:sp>
      <p:sp>
        <p:nvSpPr>
          <p:cNvPr id="24" name="Text 22"/>
          <p:cNvSpPr/>
          <p:nvPr/>
        </p:nvSpPr>
        <p:spPr>
          <a:xfrm>
            <a:off x="4846320" y="1764792"/>
            <a:ext cx="3840480" cy="594360"/>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High risk of falls and accidents</a:t>
            </a:r>
            <a:endParaRPr lang="en-US" sz="1000" dirty="0"/>
          </a:p>
          <a:p>
            <a:pPr indent="0" marL="0">
              <a:buNone/>
            </a:pPr>
            <a:r>
              <a:rPr lang="en-US" sz="1000" dirty="0">
                <a:solidFill>
                  <a:srgbClr val="8B949E"/>
                </a:solidFill>
                <a:latin typeface="Calibri" pitchFamily="34" charset="0"/>
                <a:ea typeface="Calibri" pitchFamily="34" charset="-122"/>
                <a:cs typeface="Calibri" pitchFamily="34" charset="-120"/>
              </a:rPr>
              <a:t>for workers operating at extreme heights</a:t>
            </a:r>
            <a:endParaRPr lang="en-US" sz="1000" dirty="0"/>
          </a:p>
        </p:txBody>
      </p:sp>
      <p:sp>
        <p:nvSpPr>
          <p:cNvPr id="25" name="Shape 23"/>
          <p:cNvSpPr/>
          <p:nvPr/>
        </p:nvSpPr>
        <p:spPr>
          <a:xfrm>
            <a:off x="274320" y="2697480"/>
            <a:ext cx="4160520" cy="1417320"/>
          </a:xfrm>
          <a:prstGeom prst="rect">
            <a:avLst/>
          </a:prstGeom>
          <a:solidFill>
            <a:srgbClr val="161B22"/>
          </a:solidFill>
          <a:ln w="12700">
            <a:solidFill>
              <a:srgbClr val="30363D"/>
            </a:solidFill>
            <a:prstDash val="solid"/>
          </a:ln>
        </p:spPr>
      </p:sp>
      <p:sp>
        <p:nvSpPr>
          <p:cNvPr id="26" name="Shape 24"/>
          <p:cNvSpPr/>
          <p:nvPr/>
        </p:nvSpPr>
        <p:spPr>
          <a:xfrm>
            <a:off x="274320" y="2697480"/>
            <a:ext cx="45720" cy="1417320"/>
          </a:xfrm>
          <a:prstGeom prst="rect">
            <a:avLst/>
          </a:prstGeom>
          <a:solidFill>
            <a:srgbClr val="BC8CFF"/>
          </a:solidFill>
          <a:ln w="12700">
            <a:solidFill>
              <a:srgbClr val="BC8CFF"/>
            </a:solidFill>
            <a:prstDash val="solid"/>
          </a:ln>
        </p:spPr>
      </p:sp>
      <p:sp>
        <p:nvSpPr>
          <p:cNvPr id="27" name="Text 25"/>
          <p:cNvSpPr/>
          <p:nvPr/>
        </p:nvSpPr>
        <p:spPr>
          <a:xfrm>
            <a:off x="411480" y="2788920"/>
            <a:ext cx="411480" cy="219456"/>
          </a:xfrm>
          <a:prstGeom prst="rect">
            <a:avLst/>
          </a:prstGeom>
          <a:noFill/>
          <a:ln/>
        </p:spPr>
        <p:txBody>
          <a:bodyPr wrap="square" rtlCol="0" anchor="ctr"/>
          <a:lstStyle/>
          <a:p>
            <a:pPr indent="0" marL="0">
              <a:buNone/>
            </a:pPr>
            <a:r>
              <a:rPr lang="en-US" sz="900" dirty="0">
                <a:solidFill>
                  <a:srgbClr val="8B949E"/>
                </a:solidFill>
                <a:latin typeface="Consolas" pitchFamily="34" charset="0"/>
                <a:ea typeface="Consolas" pitchFamily="34" charset="-122"/>
                <a:cs typeface="Consolas" pitchFamily="34" charset="-120"/>
              </a:rPr>
              <a:t>#3</a:t>
            </a:r>
            <a:endParaRPr lang="en-US" sz="900" dirty="0"/>
          </a:p>
        </p:txBody>
      </p:sp>
      <p:sp>
        <p:nvSpPr>
          <p:cNvPr id="28" name="Shape 26"/>
          <p:cNvSpPr/>
          <p:nvPr/>
        </p:nvSpPr>
        <p:spPr>
          <a:xfrm>
            <a:off x="822960" y="2788920"/>
            <a:ext cx="777240" cy="219456"/>
          </a:xfrm>
          <a:prstGeom prst="roundRect">
            <a:avLst>
              <a:gd name="adj" fmla="val 20833"/>
            </a:avLst>
          </a:prstGeom>
          <a:solidFill>
            <a:srgbClr val="BC8CFF"/>
          </a:solidFill>
          <a:ln w="12700">
            <a:solidFill>
              <a:srgbClr val="BC8CFF"/>
            </a:solidFill>
            <a:prstDash val="solid"/>
          </a:ln>
        </p:spPr>
      </p:sp>
      <p:sp>
        <p:nvSpPr>
          <p:cNvPr id="29" name="Text 27"/>
          <p:cNvSpPr/>
          <p:nvPr/>
        </p:nvSpPr>
        <p:spPr>
          <a:xfrm>
            <a:off x="822960" y="2788920"/>
            <a:ext cx="777240" cy="219456"/>
          </a:xfrm>
          <a:prstGeom prst="rect">
            <a:avLst/>
          </a:prstGeom>
          <a:noFill/>
          <a:ln/>
        </p:spPr>
        <p:txBody>
          <a:bodyPr wrap="square" lIns="0" tIns="0" rIns="0" bIns="0" rtlCol="0" anchor="ctr"/>
          <a:lstStyle/>
          <a:p>
            <a:pPr algn="ctr" indent="0" marL="0">
              <a:buNone/>
            </a:pPr>
            <a:r>
              <a:rPr lang="en-US" sz="800" b="1" dirty="0">
                <a:solidFill>
                  <a:srgbClr val="0D1117"/>
                </a:solidFill>
                <a:latin typeface="Consolas" pitchFamily="34" charset="0"/>
                <a:ea typeface="Consolas" pitchFamily="34" charset="-122"/>
                <a:cs typeface="Consolas" pitchFamily="34" charset="-120"/>
              </a:rPr>
              <a:t>enhancement</a:t>
            </a:r>
            <a:endParaRPr lang="en-US" sz="800" dirty="0"/>
          </a:p>
        </p:txBody>
      </p:sp>
      <p:sp>
        <p:nvSpPr>
          <p:cNvPr id="30" name="Text 28"/>
          <p:cNvSpPr/>
          <p:nvPr/>
        </p:nvSpPr>
        <p:spPr>
          <a:xfrm>
            <a:off x="411480" y="3081528"/>
            <a:ext cx="3840480" cy="292608"/>
          </a:xfrm>
          <a:prstGeom prst="rect">
            <a:avLst/>
          </a:prstGeom>
          <a:noFill/>
          <a:ln/>
        </p:spPr>
        <p:txBody>
          <a:bodyPr wrap="square" rtlCol="0" anchor="ctr"/>
          <a:lstStyle/>
          <a:p>
            <a:pPr indent="0" marL="0">
              <a:buNone/>
            </a:pPr>
            <a:r>
              <a:rPr lang="en-US" sz="1300" b="1" dirty="0">
                <a:solidFill>
                  <a:srgbClr val="E6EDF3"/>
                </a:solidFill>
                <a:latin typeface="Calibri" pitchFamily="34" charset="0"/>
                <a:ea typeface="Calibri" pitchFamily="34" charset="-122"/>
                <a:cs typeface="Calibri" pitchFamily="34" charset="-120"/>
              </a:rPr>
              <a:t>High Labour Cost</a:t>
            </a:r>
            <a:endParaRPr lang="en-US" sz="1300" dirty="0"/>
          </a:p>
        </p:txBody>
      </p:sp>
      <p:sp>
        <p:nvSpPr>
          <p:cNvPr id="31" name="Text 29"/>
          <p:cNvSpPr/>
          <p:nvPr/>
        </p:nvSpPr>
        <p:spPr>
          <a:xfrm>
            <a:off x="411480" y="3410712"/>
            <a:ext cx="3840480" cy="594360"/>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Dependence on skilled workers</a:t>
            </a:r>
            <a:endParaRPr lang="en-US" sz="1000" dirty="0"/>
          </a:p>
          <a:p>
            <a:pPr indent="0" marL="0">
              <a:buNone/>
            </a:pPr>
            <a:r>
              <a:rPr lang="en-US" sz="1000" dirty="0">
                <a:solidFill>
                  <a:srgbClr val="8B949E"/>
                </a:solidFill>
                <a:latin typeface="Calibri" pitchFamily="34" charset="0"/>
                <a:ea typeface="Calibri" pitchFamily="34" charset="-122"/>
                <a:cs typeface="Calibri" pitchFamily="34" charset="-120"/>
              </a:rPr>
              <a:t>increases maintenance expenses</a:t>
            </a:r>
            <a:endParaRPr lang="en-US" sz="1000" dirty="0"/>
          </a:p>
        </p:txBody>
      </p:sp>
      <p:sp>
        <p:nvSpPr>
          <p:cNvPr id="32" name="Shape 30"/>
          <p:cNvSpPr/>
          <p:nvPr/>
        </p:nvSpPr>
        <p:spPr>
          <a:xfrm>
            <a:off x="4709160" y="2697480"/>
            <a:ext cx="4160520" cy="1417320"/>
          </a:xfrm>
          <a:prstGeom prst="rect">
            <a:avLst/>
          </a:prstGeom>
          <a:solidFill>
            <a:srgbClr val="161B22"/>
          </a:solidFill>
          <a:ln w="12700">
            <a:solidFill>
              <a:srgbClr val="30363D"/>
            </a:solidFill>
            <a:prstDash val="solid"/>
          </a:ln>
        </p:spPr>
      </p:sp>
      <p:sp>
        <p:nvSpPr>
          <p:cNvPr id="33" name="Shape 31"/>
          <p:cNvSpPr/>
          <p:nvPr/>
        </p:nvSpPr>
        <p:spPr>
          <a:xfrm>
            <a:off x="4709160" y="2697480"/>
            <a:ext cx="45720" cy="1417320"/>
          </a:xfrm>
          <a:prstGeom prst="rect">
            <a:avLst/>
          </a:prstGeom>
          <a:solidFill>
            <a:srgbClr val="F78166"/>
          </a:solidFill>
          <a:ln w="12700">
            <a:solidFill>
              <a:srgbClr val="F78166"/>
            </a:solidFill>
            <a:prstDash val="solid"/>
          </a:ln>
        </p:spPr>
      </p:sp>
      <p:sp>
        <p:nvSpPr>
          <p:cNvPr id="34" name="Text 32"/>
          <p:cNvSpPr/>
          <p:nvPr/>
        </p:nvSpPr>
        <p:spPr>
          <a:xfrm>
            <a:off x="4846320" y="2788920"/>
            <a:ext cx="411480" cy="219456"/>
          </a:xfrm>
          <a:prstGeom prst="rect">
            <a:avLst/>
          </a:prstGeom>
          <a:noFill/>
          <a:ln/>
        </p:spPr>
        <p:txBody>
          <a:bodyPr wrap="square" rtlCol="0" anchor="ctr"/>
          <a:lstStyle/>
          <a:p>
            <a:pPr indent="0" marL="0">
              <a:buNone/>
            </a:pPr>
            <a:r>
              <a:rPr lang="en-US" sz="900" dirty="0">
                <a:solidFill>
                  <a:srgbClr val="8B949E"/>
                </a:solidFill>
                <a:latin typeface="Consolas" pitchFamily="34" charset="0"/>
                <a:ea typeface="Consolas" pitchFamily="34" charset="-122"/>
                <a:cs typeface="Consolas" pitchFamily="34" charset="-120"/>
              </a:rPr>
              <a:t>#4</a:t>
            </a:r>
            <a:endParaRPr lang="en-US" sz="900" dirty="0"/>
          </a:p>
        </p:txBody>
      </p:sp>
      <p:sp>
        <p:nvSpPr>
          <p:cNvPr id="35" name="Shape 33"/>
          <p:cNvSpPr/>
          <p:nvPr/>
        </p:nvSpPr>
        <p:spPr>
          <a:xfrm>
            <a:off x="5257800" y="2788920"/>
            <a:ext cx="777240" cy="219456"/>
          </a:xfrm>
          <a:prstGeom prst="roundRect">
            <a:avLst>
              <a:gd name="adj" fmla="val 20833"/>
            </a:avLst>
          </a:prstGeom>
          <a:solidFill>
            <a:srgbClr val="F78166"/>
          </a:solidFill>
          <a:ln w="12700">
            <a:solidFill>
              <a:srgbClr val="F78166"/>
            </a:solidFill>
            <a:prstDash val="solid"/>
          </a:ln>
        </p:spPr>
      </p:sp>
      <p:sp>
        <p:nvSpPr>
          <p:cNvPr id="36" name="Text 34"/>
          <p:cNvSpPr/>
          <p:nvPr/>
        </p:nvSpPr>
        <p:spPr>
          <a:xfrm>
            <a:off x="5257800" y="2788920"/>
            <a:ext cx="777240" cy="219456"/>
          </a:xfrm>
          <a:prstGeom prst="rect">
            <a:avLst/>
          </a:prstGeom>
          <a:noFill/>
          <a:ln/>
        </p:spPr>
        <p:txBody>
          <a:bodyPr wrap="square" lIns="0" tIns="0" rIns="0" bIns="0" rtlCol="0" anchor="ctr"/>
          <a:lstStyle/>
          <a:p>
            <a:pPr algn="ctr" indent="0" marL="0">
              <a:buNone/>
            </a:pPr>
            <a:r>
              <a:rPr lang="en-US" sz="800" b="1" dirty="0">
                <a:solidFill>
                  <a:srgbClr val="0D1117"/>
                </a:solidFill>
                <a:latin typeface="Consolas" pitchFamily="34" charset="0"/>
                <a:ea typeface="Consolas" pitchFamily="34" charset="-122"/>
                <a:cs typeface="Consolas" pitchFamily="34" charset="-120"/>
              </a:rPr>
              <a:t>bug</a:t>
            </a:r>
            <a:endParaRPr lang="en-US" sz="800" dirty="0"/>
          </a:p>
        </p:txBody>
      </p:sp>
      <p:sp>
        <p:nvSpPr>
          <p:cNvPr id="37" name="Text 35"/>
          <p:cNvSpPr/>
          <p:nvPr/>
        </p:nvSpPr>
        <p:spPr>
          <a:xfrm>
            <a:off x="4846320" y="3081528"/>
            <a:ext cx="3840480" cy="292608"/>
          </a:xfrm>
          <a:prstGeom prst="rect">
            <a:avLst/>
          </a:prstGeom>
          <a:noFill/>
          <a:ln/>
        </p:spPr>
        <p:txBody>
          <a:bodyPr wrap="square" rtlCol="0" anchor="ctr"/>
          <a:lstStyle/>
          <a:p>
            <a:pPr indent="0" marL="0">
              <a:buNone/>
            </a:pPr>
            <a:r>
              <a:rPr lang="en-US" sz="1300" b="1" dirty="0">
                <a:solidFill>
                  <a:srgbClr val="E6EDF3"/>
                </a:solidFill>
                <a:latin typeface="Calibri" pitchFamily="34" charset="0"/>
                <a:ea typeface="Calibri" pitchFamily="34" charset="-122"/>
                <a:cs typeface="Calibri" pitchFamily="34" charset="-120"/>
              </a:rPr>
              <a:t>Inconsistent Quality</a:t>
            </a:r>
            <a:endParaRPr lang="en-US" sz="1300" dirty="0"/>
          </a:p>
        </p:txBody>
      </p:sp>
      <p:sp>
        <p:nvSpPr>
          <p:cNvPr id="38" name="Text 36"/>
          <p:cNvSpPr/>
          <p:nvPr/>
        </p:nvSpPr>
        <p:spPr>
          <a:xfrm>
            <a:off x="4846320" y="3410712"/>
            <a:ext cx="3840480" cy="594360"/>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Human fatigue leads to</a:t>
            </a:r>
            <a:endParaRPr lang="en-US" sz="1000" dirty="0"/>
          </a:p>
          <a:p>
            <a:pPr indent="0" marL="0">
              <a:buNone/>
            </a:pPr>
            <a:r>
              <a:rPr lang="en-US" sz="1000" dirty="0">
                <a:solidFill>
                  <a:srgbClr val="8B949E"/>
                </a:solidFill>
                <a:latin typeface="Calibri" pitchFamily="34" charset="0"/>
                <a:ea typeface="Calibri" pitchFamily="34" charset="-122"/>
                <a:cs typeface="Calibri" pitchFamily="34" charset="-120"/>
              </a:rPr>
              <a:t>uneven paint finish on facade</a:t>
            </a:r>
            <a:endParaRPr lang="en-US" sz="1000" dirty="0"/>
          </a:p>
        </p:txBody>
      </p:sp>
      <p:sp>
        <p:nvSpPr>
          <p:cNvPr id="39" name="Shape 37"/>
          <p:cNvSpPr/>
          <p:nvPr/>
        </p:nvSpPr>
        <p:spPr>
          <a:xfrm>
            <a:off x="274320" y="4343400"/>
            <a:ext cx="8595360" cy="411480"/>
          </a:xfrm>
          <a:prstGeom prst="rect">
            <a:avLst/>
          </a:prstGeom>
          <a:solidFill>
            <a:srgbClr val="1C2128"/>
          </a:solidFill>
          <a:ln w="12700">
            <a:solidFill>
              <a:srgbClr val="F78166"/>
            </a:solidFill>
            <a:prstDash val="solid"/>
          </a:ln>
        </p:spPr>
      </p:sp>
      <p:sp>
        <p:nvSpPr>
          <p:cNvPr id="40" name="Text 38"/>
          <p:cNvSpPr/>
          <p:nvPr/>
        </p:nvSpPr>
        <p:spPr>
          <a:xfrm>
            <a:off x="365760" y="4343400"/>
            <a:ext cx="8412480" cy="411480"/>
          </a:xfrm>
          <a:prstGeom prst="rect">
            <a:avLst/>
          </a:prstGeom>
          <a:noFill/>
          <a:ln/>
        </p:spPr>
        <p:txBody>
          <a:bodyPr wrap="square" rtlCol="0" anchor="ctr"/>
          <a:lstStyle/>
          <a:p>
            <a:pPr indent="0" marL="0">
              <a:buNone/>
            </a:pPr>
            <a:r>
              <a:rPr lang="en-US" sz="1000" dirty="0">
                <a:solidFill>
                  <a:srgbClr val="F78166"/>
                </a:solidFill>
                <a:latin typeface="Consolas" pitchFamily="34" charset="0"/>
                <a:ea typeface="Consolas" pitchFamily="34" charset="-122"/>
                <a:cs typeface="Consolas" pitchFamily="34" charset="-120"/>
              </a:rPr>
              <a:t>⚠  News: "Painter dies after fall from 14th floor" — Hindustan Times, Sep 2025</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1B22"/>
          </a:solidFill>
          <a:ln w="12700">
            <a:solidFill>
              <a:srgbClr val="30363D"/>
            </a:solidFill>
            <a:prstDash val="solid"/>
          </a:ln>
        </p:spPr>
      </p:sp>
      <p:sp>
        <p:nvSpPr>
          <p:cNvPr id="3" name="Shape 1"/>
          <p:cNvSpPr/>
          <p:nvPr/>
        </p:nvSpPr>
        <p:spPr>
          <a:xfrm>
            <a:off x="182880" y="91440"/>
            <a:ext cx="411480" cy="411480"/>
          </a:xfrm>
          <a:prstGeom prst="rect">
            <a:avLst/>
          </a:prstGeom>
          <a:solidFill>
            <a:srgbClr val="21262D"/>
          </a:solidFill>
          <a:ln w="12700">
            <a:solidFill>
              <a:srgbClr val="30363D"/>
            </a:solidFill>
            <a:prstDash val="solid"/>
          </a:ln>
        </p:spPr>
      </p:sp>
      <p:sp>
        <p:nvSpPr>
          <p:cNvPr id="4" name="Text 2"/>
          <p:cNvSpPr/>
          <p:nvPr/>
        </p:nvSpPr>
        <p:spPr>
          <a:xfrm>
            <a:off x="182880" y="73152"/>
            <a:ext cx="411480" cy="448056"/>
          </a:xfrm>
          <a:prstGeom prst="rect">
            <a:avLst/>
          </a:prstGeom>
          <a:noFill/>
          <a:ln/>
        </p:spPr>
        <p:txBody>
          <a:bodyPr wrap="square" rtlCol="0" anchor="ctr"/>
          <a:lstStyle/>
          <a:p>
            <a:pPr algn="ctr" indent="0" marL="0">
              <a:buNone/>
            </a:pPr>
            <a:r>
              <a:rPr lang="en-US" sz="1800" dirty="0">
                <a:solidFill>
                  <a:srgbClr val="E6EDF3"/>
                </a:solidFill>
              </a:rPr>
              <a:t>⬡</a:t>
            </a:r>
            <a:endParaRPr lang="en-US" sz="1800" dirty="0"/>
          </a:p>
        </p:txBody>
      </p:sp>
      <p:sp>
        <p:nvSpPr>
          <p:cNvPr id="5" name="Text 3"/>
          <p:cNvSpPr/>
          <p:nvPr/>
        </p:nvSpPr>
        <p:spPr>
          <a:xfrm>
            <a:off x="685800" y="91440"/>
            <a:ext cx="4572000" cy="411480"/>
          </a:xfrm>
          <a:prstGeom prst="rect">
            <a:avLst/>
          </a:prstGeom>
          <a:noFill/>
          <a:ln/>
        </p:spPr>
        <p:txBody>
          <a:bodyPr wrap="square" rtlCol="0" anchor="ctr"/>
          <a:lstStyle/>
          <a:p>
            <a:pPr indent="0" marL="0">
              <a:buNone/>
            </a:pPr>
            <a:r>
              <a:rPr lang="en-US" sz="1000" dirty="0">
                <a:solidFill>
                  <a:srgbClr val="58A6FF"/>
                </a:solidFill>
                <a:latin typeface="Consolas" pitchFamily="34" charset="0"/>
                <a:ea typeface="Consolas" pitchFamily="34" charset="-122"/>
                <a:cs typeface="Consolas" pitchFamily="34" charset="-120"/>
              </a:rPr>
              <a:t>HN-WallBot / udgam-urban-solution</a:t>
            </a:r>
            <a:endParaRPr lang="en-US" sz="1000" dirty="0"/>
          </a:p>
        </p:txBody>
      </p:sp>
      <p:sp>
        <p:nvSpPr>
          <p:cNvPr id="6" name="Text 4"/>
          <p:cNvSpPr/>
          <p:nvPr/>
        </p:nvSpPr>
        <p:spPr>
          <a:xfrm>
            <a:off x="5029200" y="91440"/>
            <a:ext cx="3931920" cy="411480"/>
          </a:xfrm>
          <a:prstGeom prst="rect">
            <a:avLst/>
          </a:prstGeom>
          <a:noFill/>
          <a:ln/>
        </p:spPr>
        <p:txBody>
          <a:bodyPr wrap="square" rtlCol="0" anchor="ctr"/>
          <a:lstStyle/>
          <a:p>
            <a:pPr algn="r" indent="0" marL="0">
              <a:buNone/>
            </a:pPr>
            <a:r>
              <a:rPr lang="en-US" sz="1100" dirty="0">
                <a:solidFill>
                  <a:srgbClr val="8B949E"/>
                </a:solidFill>
                <a:latin typeface="Consolas" pitchFamily="34" charset="0"/>
                <a:ea typeface="Consolas" pitchFamily="34" charset="-122"/>
                <a:cs typeface="Consolas" pitchFamily="34" charset="-120"/>
              </a:rPr>
              <a:t>src/solution.py</a:t>
            </a:r>
            <a:endParaRPr lang="en-US" sz="1100" dirty="0"/>
          </a:p>
        </p:txBody>
      </p:sp>
      <p:sp>
        <p:nvSpPr>
          <p:cNvPr id="7" name="Shape 5"/>
          <p:cNvSpPr/>
          <p:nvPr/>
        </p:nvSpPr>
        <p:spPr>
          <a:xfrm>
            <a:off x="0" y="4892040"/>
            <a:ext cx="9144000" cy="251460"/>
          </a:xfrm>
          <a:prstGeom prst="rect">
            <a:avLst/>
          </a:prstGeom>
          <a:solidFill>
            <a:srgbClr val="161B22"/>
          </a:solidFill>
          <a:ln w="12700">
            <a:solidFill>
              <a:srgbClr val="30363D"/>
            </a:solidFill>
            <a:prstDash val="solid"/>
          </a:ln>
        </p:spPr>
      </p:sp>
      <p:sp>
        <p:nvSpPr>
          <p:cNvPr id="8" name="Text 6"/>
          <p:cNvSpPr/>
          <p:nvPr/>
        </p:nvSpPr>
        <p:spPr>
          <a:xfrm>
            <a:off x="274320" y="4901184"/>
            <a:ext cx="8595360" cy="219456"/>
          </a:xfrm>
          <a:prstGeom prst="rect">
            <a:avLst/>
          </a:prstGeom>
          <a:noFill/>
          <a:ln/>
        </p:spPr>
        <p:txBody>
          <a:bodyPr wrap="square" rtlCol="0" anchor="ctr"/>
          <a:lstStyle/>
          <a:p>
            <a:pPr indent="0" marL="0">
              <a:buNone/>
            </a:pPr>
            <a:r>
              <a:rPr lang="en-US" sz="800" dirty="0">
                <a:solidFill>
                  <a:srgbClr val="8B949E"/>
                </a:solidFill>
                <a:latin typeface="Consolas" pitchFamily="34" charset="0"/>
                <a:ea typeface="Consolas" pitchFamily="34" charset="-122"/>
                <a:cs typeface="Consolas" pitchFamily="34" charset="-120"/>
              </a:rPr>
              <a:t>India Innovates 2025  •  Semi-Autonomous Wall Painting Robot</a:t>
            </a:r>
            <a:endParaRPr lang="en-US" sz="800" dirty="0"/>
          </a:p>
        </p:txBody>
      </p:sp>
      <p:sp>
        <p:nvSpPr>
          <p:cNvPr id="9" name="Shape 7"/>
          <p:cNvSpPr/>
          <p:nvPr/>
        </p:nvSpPr>
        <p:spPr>
          <a:xfrm>
            <a:off x="8686800" y="4919472"/>
            <a:ext cx="109728" cy="109728"/>
          </a:xfrm>
          <a:prstGeom prst="ellipse">
            <a:avLst/>
          </a:prstGeom>
          <a:solidFill>
            <a:srgbClr val="3FB950"/>
          </a:solidFill>
          <a:ln w="12700">
            <a:solidFill>
              <a:srgbClr val="3FB950"/>
            </a:solidFill>
            <a:prstDash val="solid"/>
          </a:ln>
        </p:spPr>
      </p:sp>
      <p:sp>
        <p:nvSpPr>
          <p:cNvPr id="10" name="Text 8"/>
          <p:cNvSpPr/>
          <p:nvPr/>
        </p:nvSpPr>
        <p:spPr>
          <a:xfrm>
            <a:off x="274320" y="685800"/>
            <a:ext cx="8229600" cy="256032"/>
          </a:xfrm>
          <a:prstGeom prst="rect">
            <a:avLst/>
          </a:prstGeom>
          <a:noFill/>
          <a:ln/>
        </p:spPr>
        <p:txBody>
          <a:bodyPr wrap="square" rtlCol="0" anchor="ctr"/>
          <a:lstStyle/>
          <a:p>
            <a:pPr indent="0" marL="0">
              <a:buNone/>
            </a:pPr>
            <a:r>
              <a:rPr lang="en-US" sz="1200" b="1" dirty="0">
                <a:solidFill>
                  <a:srgbClr val="3FB950"/>
                </a:solidFill>
                <a:latin typeface="Consolas" pitchFamily="34" charset="0"/>
                <a:ea typeface="Consolas" pitchFamily="34" charset="-122"/>
                <a:cs typeface="Consolas" pitchFamily="34" charset="-120"/>
              </a:rPr>
              <a:t>// Solution — Semi-Autonomous Wall Painting Robot</a:t>
            </a:r>
            <a:endParaRPr lang="en-US" sz="1200" dirty="0"/>
          </a:p>
        </p:txBody>
      </p:sp>
      <p:sp>
        <p:nvSpPr>
          <p:cNvPr id="11" name="Shape 9"/>
          <p:cNvSpPr/>
          <p:nvPr/>
        </p:nvSpPr>
        <p:spPr>
          <a:xfrm>
            <a:off x="274320" y="1005840"/>
            <a:ext cx="4160520" cy="1554480"/>
          </a:xfrm>
          <a:prstGeom prst="rect">
            <a:avLst/>
          </a:prstGeom>
          <a:solidFill>
            <a:srgbClr val="161B22"/>
          </a:solidFill>
          <a:ln w="12700">
            <a:solidFill>
              <a:srgbClr val="58A6FF"/>
            </a:solidFill>
            <a:prstDash val="solid"/>
          </a:ln>
        </p:spPr>
      </p:sp>
      <p:sp>
        <p:nvSpPr>
          <p:cNvPr id="12" name="Text 10"/>
          <p:cNvSpPr/>
          <p:nvPr/>
        </p:nvSpPr>
        <p:spPr>
          <a:xfrm>
            <a:off x="411480" y="1097280"/>
            <a:ext cx="3840480" cy="320040"/>
          </a:xfrm>
          <a:prstGeom prst="rect">
            <a:avLst/>
          </a:prstGeom>
          <a:noFill/>
          <a:ln/>
        </p:spPr>
        <p:txBody>
          <a:bodyPr wrap="square" rtlCol="0" anchor="ctr"/>
          <a:lstStyle/>
          <a:p>
            <a:pPr indent="0" marL="0">
              <a:buNone/>
            </a:pPr>
            <a:r>
              <a:rPr lang="en-US" sz="1200" b="1" dirty="0">
                <a:solidFill>
                  <a:srgbClr val="58A6FF"/>
                </a:solidFill>
                <a:latin typeface="Calibri" pitchFamily="34" charset="0"/>
                <a:ea typeface="Calibri" pitchFamily="34" charset="-122"/>
                <a:cs typeface="Calibri" pitchFamily="34" charset="-120"/>
              </a:rPr>
              <a:t>🧗  Safe Vertical Mobility</a:t>
            </a:r>
            <a:endParaRPr lang="en-US" sz="1200" dirty="0"/>
          </a:p>
        </p:txBody>
      </p:sp>
      <p:sp>
        <p:nvSpPr>
          <p:cNvPr id="13" name="Text 11"/>
          <p:cNvSpPr/>
          <p:nvPr/>
        </p:nvSpPr>
        <p:spPr>
          <a:xfrm>
            <a:off x="457200" y="1463040"/>
            <a:ext cx="3749040" cy="1005840"/>
          </a:xfrm>
          <a:prstGeom prst="rect">
            <a:avLst/>
          </a:prstGeom>
          <a:noFill/>
          <a:ln/>
        </p:spPr>
        <p:txBody>
          <a:bodyPr wrap="square" rtlCol="0" anchor="ctr"/>
          <a:lstStyle/>
          <a:p>
            <a:pPr marL="342900" indent="-342900">
              <a:buSzPct val="100000"/>
              <a:buChar char="•"/>
            </a:pPr>
            <a:r>
              <a:rPr lang="en-US" sz="950" dirty="0">
                <a:solidFill>
                  <a:srgbClr val="E6EDF3"/>
                </a:solidFill>
                <a:latin typeface="Calibri" pitchFamily="34" charset="0"/>
                <a:ea typeface="Calibri" pitchFamily="34" charset="-122"/>
                <a:cs typeface="Calibri" pitchFamily="34" charset="-120"/>
              </a:rPr>
              <a:t>Climbs 90° vertical walls and inclined surfaces up to 60°</a:t>
            </a:r>
            <a:endParaRPr lang="en-US" sz="950" dirty="0"/>
          </a:p>
          <a:p>
            <a:pPr marL="342900" indent="-342900">
              <a:buSzPct val="100000"/>
              <a:buChar char="•"/>
            </a:pPr>
            <a:r>
              <a:rPr lang="en-US" sz="950" dirty="0">
                <a:solidFill>
                  <a:srgbClr val="E6EDF3"/>
                </a:solidFill>
                <a:latin typeface="Calibri" pitchFamily="34" charset="0"/>
                <a:ea typeface="Calibri" pitchFamily="34" charset="-122"/>
                <a:cs typeface="Calibri" pitchFamily="34" charset="-120"/>
              </a:rPr>
              <a:t>Stable adhesion with controlled motion</a:t>
            </a:r>
            <a:endParaRPr lang="en-US" sz="950" dirty="0"/>
          </a:p>
        </p:txBody>
      </p:sp>
      <p:sp>
        <p:nvSpPr>
          <p:cNvPr id="14" name="Shape 12"/>
          <p:cNvSpPr/>
          <p:nvPr/>
        </p:nvSpPr>
        <p:spPr>
          <a:xfrm>
            <a:off x="4709160" y="1005840"/>
            <a:ext cx="4160520" cy="1554480"/>
          </a:xfrm>
          <a:prstGeom prst="rect">
            <a:avLst/>
          </a:prstGeom>
          <a:solidFill>
            <a:srgbClr val="161B22"/>
          </a:solidFill>
          <a:ln w="12700">
            <a:solidFill>
              <a:srgbClr val="D29922"/>
            </a:solidFill>
            <a:prstDash val="solid"/>
          </a:ln>
        </p:spPr>
      </p:sp>
      <p:sp>
        <p:nvSpPr>
          <p:cNvPr id="15" name="Text 13"/>
          <p:cNvSpPr/>
          <p:nvPr/>
        </p:nvSpPr>
        <p:spPr>
          <a:xfrm>
            <a:off x="4846320" y="1097280"/>
            <a:ext cx="3840480" cy="320040"/>
          </a:xfrm>
          <a:prstGeom prst="rect">
            <a:avLst/>
          </a:prstGeom>
          <a:noFill/>
          <a:ln/>
        </p:spPr>
        <p:txBody>
          <a:bodyPr wrap="square" rtlCol="0" anchor="ctr"/>
          <a:lstStyle/>
          <a:p>
            <a:pPr indent="0" marL="0">
              <a:buNone/>
            </a:pPr>
            <a:r>
              <a:rPr lang="en-US" sz="1200" b="1" dirty="0">
                <a:solidFill>
                  <a:srgbClr val="D29922"/>
                </a:solidFill>
                <a:latin typeface="Calibri" pitchFamily="34" charset="0"/>
                <a:ea typeface="Calibri" pitchFamily="34" charset="-122"/>
                <a:cs typeface="Calibri" pitchFamily="34" charset="-120"/>
              </a:rPr>
              <a:t>🔧  Multi-Functional Tool Interface</a:t>
            </a:r>
            <a:endParaRPr lang="en-US" sz="1200" dirty="0"/>
          </a:p>
        </p:txBody>
      </p:sp>
      <p:sp>
        <p:nvSpPr>
          <p:cNvPr id="16" name="Text 14"/>
          <p:cNvSpPr/>
          <p:nvPr/>
        </p:nvSpPr>
        <p:spPr>
          <a:xfrm>
            <a:off x="4892040" y="1463040"/>
            <a:ext cx="3749040" cy="1005840"/>
          </a:xfrm>
          <a:prstGeom prst="rect">
            <a:avLst/>
          </a:prstGeom>
          <a:noFill/>
          <a:ln/>
        </p:spPr>
        <p:txBody>
          <a:bodyPr wrap="square" rtlCol="0" anchor="ctr"/>
          <a:lstStyle/>
          <a:p>
            <a:pPr marL="342900" indent="-342900">
              <a:buSzPct val="100000"/>
              <a:buChar char="•"/>
            </a:pPr>
            <a:r>
              <a:rPr lang="en-US" sz="950" dirty="0">
                <a:solidFill>
                  <a:srgbClr val="E6EDF3"/>
                </a:solidFill>
                <a:latin typeface="Calibri" pitchFamily="34" charset="0"/>
                <a:ea typeface="Calibri" pitchFamily="34" charset="-122"/>
                <a:cs typeface="Calibri" pitchFamily="34" charset="-120"/>
              </a:rPr>
              <a:t>Interchangeable modules: Painting (roller/spray)</a:t>
            </a:r>
            <a:endParaRPr lang="en-US" sz="950" dirty="0"/>
          </a:p>
          <a:p>
            <a:pPr marL="342900" indent="-342900">
              <a:buSzPct val="100000"/>
              <a:buChar char="•"/>
            </a:pPr>
            <a:r>
              <a:rPr lang="en-US" sz="950" dirty="0">
                <a:solidFill>
                  <a:srgbClr val="E6EDF3"/>
                </a:solidFill>
                <a:latin typeface="Calibri" pitchFamily="34" charset="0"/>
                <a:ea typeface="Calibri" pitchFamily="34" charset="-122"/>
                <a:cs typeface="Calibri" pitchFamily="34" charset="-120"/>
              </a:rPr>
              <a:t>Crack detection &amp; wall health inspection</a:t>
            </a:r>
            <a:endParaRPr lang="en-US" sz="950" dirty="0"/>
          </a:p>
          <a:p>
            <a:pPr marL="342900" indent="-342900">
              <a:buSzPct val="100000"/>
              <a:buChar char="•"/>
            </a:pPr>
            <a:r>
              <a:rPr lang="en-US" sz="950" dirty="0">
                <a:solidFill>
                  <a:srgbClr val="E6EDF3"/>
                </a:solidFill>
                <a:latin typeface="Calibri" pitchFamily="34" charset="0"/>
                <a:ea typeface="Calibri" pitchFamily="34" charset="-122"/>
                <a:cs typeface="Calibri" pitchFamily="34" charset="-120"/>
              </a:rPr>
              <a:t>Surface cleaning and maintenance</a:t>
            </a:r>
            <a:endParaRPr lang="en-US" sz="950" dirty="0"/>
          </a:p>
        </p:txBody>
      </p:sp>
      <p:sp>
        <p:nvSpPr>
          <p:cNvPr id="17" name="Shape 15"/>
          <p:cNvSpPr/>
          <p:nvPr/>
        </p:nvSpPr>
        <p:spPr>
          <a:xfrm>
            <a:off x="274320" y="2743200"/>
            <a:ext cx="4160520" cy="1554480"/>
          </a:xfrm>
          <a:prstGeom prst="rect">
            <a:avLst/>
          </a:prstGeom>
          <a:solidFill>
            <a:srgbClr val="161B22"/>
          </a:solidFill>
          <a:ln w="12700">
            <a:solidFill>
              <a:srgbClr val="3FB950"/>
            </a:solidFill>
            <a:prstDash val="solid"/>
          </a:ln>
        </p:spPr>
      </p:sp>
      <p:sp>
        <p:nvSpPr>
          <p:cNvPr id="18" name="Text 16"/>
          <p:cNvSpPr/>
          <p:nvPr/>
        </p:nvSpPr>
        <p:spPr>
          <a:xfrm>
            <a:off x="411480" y="2834640"/>
            <a:ext cx="3840480" cy="320040"/>
          </a:xfrm>
          <a:prstGeom prst="rect">
            <a:avLst/>
          </a:prstGeom>
          <a:noFill/>
          <a:ln/>
        </p:spPr>
        <p:txBody>
          <a:bodyPr wrap="square" rtlCol="0" anchor="ctr"/>
          <a:lstStyle/>
          <a:p>
            <a:pPr indent="0" marL="0">
              <a:buNone/>
            </a:pPr>
            <a:r>
              <a:rPr lang="en-US" sz="1200" b="1" dirty="0">
                <a:solidFill>
                  <a:srgbClr val="3FB950"/>
                </a:solidFill>
                <a:latin typeface="Calibri" pitchFamily="34" charset="0"/>
                <a:ea typeface="Calibri" pitchFamily="34" charset="-122"/>
                <a:cs typeface="Calibri" pitchFamily="34" charset="-120"/>
              </a:rPr>
              <a:t>📡  Remote &amp; Semi-Autonomous Operation</a:t>
            </a:r>
            <a:endParaRPr lang="en-US" sz="1200" dirty="0"/>
          </a:p>
        </p:txBody>
      </p:sp>
      <p:sp>
        <p:nvSpPr>
          <p:cNvPr id="19" name="Text 17"/>
          <p:cNvSpPr/>
          <p:nvPr/>
        </p:nvSpPr>
        <p:spPr>
          <a:xfrm>
            <a:off x="457200" y="3200400"/>
            <a:ext cx="3749040" cy="1005840"/>
          </a:xfrm>
          <a:prstGeom prst="rect">
            <a:avLst/>
          </a:prstGeom>
          <a:noFill/>
          <a:ln/>
        </p:spPr>
        <p:txBody>
          <a:bodyPr wrap="square" rtlCol="0" anchor="ctr"/>
          <a:lstStyle/>
          <a:p>
            <a:pPr marL="342900" indent="-342900">
              <a:buSzPct val="100000"/>
              <a:buChar char="•"/>
            </a:pPr>
            <a:r>
              <a:rPr lang="en-US" sz="950" dirty="0">
                <a:solidFill>
                  <a:srgbClr val="E6EDF3"/>
                </a:solidFill>
                <a:latin typeface="Calibri" pitchFamily="34" charset="0"/>
                <a:ea typeface="Calibri" pitchFamily="34" charset="-122"/>
                <a:cs typeface="Calibri" pitchFamily="34" charset="-120"/>
              </a:rPr>
              <a:t>Wireless control with real-time monitoring</a:t>
            </a:r>
            <a:endParaRPr lang="en-US" sz="950" dirty="0"/>
          </a:p>
          <a:p>
            <a:pPr marL="342900" indent="-342900">
              <a:buSzPct val="100000"/>
              <a:buChar char="•"/>
            </a:pPr>
            <a:r>
              <a:rPr lang="en-US" sz="950" dirty="0">
                <a:solidFill>
                  <a:srgbClr val="E6EDF3"/>
                </a:solidFill>
                <a:latin typeface="Calibri" pitchFamily="34" charset="0"/>
                <a:ea typeface="Calibri" pitchFamily="34" charset="-122"/>
                <a:cs typeface="Calibri" pitchFamily="34" charset="-120"/>
              </a:rPr>
              <a:t>Reduces direct human exposure to height-related risks</a:t>
            </a:r>
            <a:endParaRPr lang="en-US" sz="950" dirty="0"/>
          </a:p>
        </p:txBody>
      </p:sp>
      <p:sp>
        <p:nvSpPr>
          <p:cNvPr id="20" name="Shape 18"/>
          <p:cNvSpPr/>
          <p:nvPr/>
        </p:nvSpPr>
        <p:spPr>
          <a:xfrm>
            <a:off x="4709160" y="2743200"/>
            <a:ext cx="4160520" cy="1554480"/>
          </a:xfrm>
          <a:prstGeom prst="rect">
            <a:avLst/>
          </a:prstGeom>
          <a:solidFill>
            <a:srgbClr val="161B22"/>
          </a:solidFill>
          <a:ln w="12700">
            <a:solidFill>
              <a:srgbClr val="BC8CFF"/>
            </a:solidFill>
            <a:prstDash val="solid"/>
          </a:ln>
        </p:spPr>
      </p:sp>
      <p:sp>
        <p:nvSpPr>
          <p:cNvPr id="21" name="Text 19"/>
          <p:cNvSpPr/>
          <p:nvPr/>
        </p:nvSpPr>
        <p:spPr>
          <a:xfrm>
            <a:off x="4846320" y="2834640"/>
            <a:ext cx="3840480" cy="320040"/>
          </a:xfrm>
          <a:prstGeom prst="rect">
            <a:avLst/>
          </a:prstGeom>
          <a:noFill/>
          <a:ln/>
        </p:spPr>
        <p:txBody>
          <a:bodyPr wrap="square" rtlCol="0" anchor="ctr"/>
          <a:lstStyle/>
          <a:p>
            <a:pPr indent="0" marL="0">
              <a:buNone/>
            </a:pPr>
            <a:r>
              <a:rPr lang="en-US" sz="1200" b="1" dirty="0">
                <a:solidFill>
                  <a:srgbClr val="BC8CFF"/>
                </a:solidFill>
                <a:latin typeface="Calibri" pitchFamily="34" charset="0"/>
                <a:ea typeface="Calibri" pitchFamily="34" charset="-122"/>
                <a:cs typeface="Calibri" pitchFamily="34" charset="-120"/>
              </a:rPr>
              <a:t>💰  Scalable &amp; Cost-Effective Design</a:t>
            </a:r>
            <a:endParaRPr lang="en-US" sz="1200" dirty="0"/>
          </a:p>
        </p:txBody>
      </p:sp>
      <p:sp>
        <p:nvSpPr>
          <p:cNvPr id="22" name="Text 20"/>
          <p:cNvSpPr/>
          <p:nvPr/>
        </p:nvSpPr>
        <p:spPr>
          <a:xfrm>
            <a:off x="4892040" y="3200400"/>
            <a:ext cx="3749040" cy="1005840"/>
          </a:xfrm>
          <a:prstGeom prst="rect">
            <a:avLst/>
          </a:prstGeom>
          <a:noFill/>
          <a:ln/>
        </p:spPr>
        <p:txBody>
          <a:bodyPr wrap="square" rtlCol="0" anchor="ctr"/>
          <a:lstStyle/>
          <a:p>
            <a:pPr marL="342900" indent="-342900">
              <a:buSzPct val="100000"/>
              <a:buChar char="•"/>
            </a:pPr>
            <a:r>
              <a:rPr lang="en-US" sz="950" dirty="0">
                <a:solidFill>
                  <a:srgbClr val="E6EDF3"/>
                </a:solidFill>
                <a:latin typeface="Calibri" pitchFamily="34" charset="0"/>
                <a:ea typeface="Calibri" pitchFamily="34" charset="-122"/>
                <a:cs typeface="Calibri" pitchFamily="34" charset="-120"/>
              </a:rPr>
              <a:t>Adaptable across different building types</a:t>
            </a:r>
            <a:endParaRPr lang="en-US" sz="950" dirty="0"/>
          </a:p>
          <a:p>
            <a:pPr marL="342900" indent="-342900">
              <a:buSzPct val="100000"/>
              <a:buChar char="•"/>
            </a:pPr>
            <a:r>
              <a:rPr lang="en-US" sz="950" dirty="0">
                <a:solidFill>
                  <a:srgbClr val="E6EDF3"/>
                </a:solidFill>
                <a:latin typeface="Calibri" pitchFamily="34" charset="0"/>
                <a:ea typeface="Calibri" pitchFamily="34" charset="-122"/>
                <a:cs typeface="Calibri" pitchFamily="34" charset="-120"/>
              </a:rPr>
              <a:t>Reduces labour costs and operational cost</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1B22"/>
          </a:solidFill>
          <a:ln w="12700">
            <a:solidFill>
              <a:srgbClr val="30363D"/>
            </a:solidFill>
            <a:prstDash val="solid"/>
          </a:ln>
        </p:spPr>
      </p:sp>
      <p:sp>
        <p:nvSpPr>
          <p:cNvPr id="3" name="Shape 1"/>
          <p:cNvSpPr/>
          <p:nvPr/>
        </p:nvSpPr>
        <p:spPr>
          <a:xfrm>
            <a:off x="182880" y="91440"/>
            <a:ext cx="411480" cy="411480"/>
          </a:xfrm>
          <a:prstGeom prst="rect">
            <a:avLst/>
          </a:prstGeom>
          <a:solidFill>
            <a:srgbClr val="21262D"/>
          </a:solidFill>
          <a:ln w="12700">
            <a:solidFill>
              <a:srgbClr val="30363D"/>
            </a:solidFill>
            <a:prstDash val="solid"/>
          </a:ln>
        </p:spPr>
      </p:sp>
      <p:sp>
        <p:nvSpPr>
          <p:cNvPr id="4" name="Text 2"/>
          <p:cNvSpPr/>
          <p:nvPr/>
        </p:nvSpPr>
        <p:spPr>
          <a:xfrm>
            <a:off x="182880" y="73152"/>
            <a:ext cx="411480" cy="448056"/>
          </a:xfrm>
          <a:prstGeom prst="rect">
            <a:avLst/>
          </a:prstGeom>
          <a:noFill/>
          <a:ln/>
        </p:spPr>
        <p:txBody>
          <a:bodyPr wrap="square" rtlCol="0" anchor="ctr"/>
          <a:lstStyle/>
          <a:p>
            <a:pPr algn="ctr" indent="0" marL="0">
              <a:buNone/>
            </a:pPr>
            <a:r>
              <a:rPr lang="en-US" sz="1800" dirty="0">
                <a:solidFill>
                  <a:srgbClr val="E6EDF3"/>
                </a:solidFill>
              </a:rPr>
              <a:t>⬡</a:t>
            </a:r>
            <a:endParaRPr lang="en-US" sz="1800" dirty="0"/>
          </a:p>
        </p:txBody>
      </p:sp>
      <p:sp>
        <p:nvSpPr>
          <p:cNvPr id="5" name="Text 3"/>
          <p:cNvSpPr/>
          <p:nvPr/>
        </p:nvSpPr>
        <p:spPr>
          <a:xfrm>
            <a:off x="685800" y="91440"/>
            <a:ext cx="4572000" cy="411480"/>
          </a:xfrm>
          <a:prstGeom prst="rect">
            <a:avLst/>
          </a:prstGeom>
          <a:noFill/>
          <a:ln/>
        </p:spPr>
        <p:txBody>
          <a:bodyPr wrap="square" rtlCol="0" anchor="ctr"/>
          <a:lstStyle/>
          <a:p>
            <a:pPr indent="0" marL="0">
              <a:buNone/>
            </a:pPr>
            <a:r>
              <a:rPr lang="en-US" sz="1000" dirty="0">
                <a:solidFill>
                  <a:srgbClr val="58A6FF"/>
                </a:solidFill>
                <a:latin typeface="Consolas" pitchFamily="34" charset="0"/>
                <a:ea typeface="Consolas" pitchFamily="34" charset="-122"/>
                <a:cs typeface="Consolas" pitchFamily="34" charset="-120"/>
              </a:rPr>
              <a:t>HN-WallBot / udgam-urban-solution</a:t>
            </a:r>
            <a:endParaRPr lang="en-US" sz="1000" dirty="0"/>
          </a:p>
        </p:txBody>
      </p:sp>
      <p:sp>
        <p:nvSpPr>
          <p:cNvPr id="6" name="Text 4"/>
          <p:cNvSpPr/>
          <p:nvPr/>
        </p:nvSpPr>
        <p:spPr>
          <a:xfrm>
            <a:off x="5029200" y="91440"/>
            <a:ext cx="3931920" cy="411480"/>
          </a:xfrm>
          <a:prstGeom prst="rect">
            <a:avLst/>
          </a:prstGeom>
          <a:noFill/>
          <a:ln/>
        </p:spPr>
        <p:txBody>
          <a:bodyPr wrap="square" rtlCol="0" anchor="ctr"/>
          <a:lstStyle/>
          <a:p>
            <a:pPr algn="r" indent="0" marL="0">
              <a:buNone/>
            </a:pPr>
            <a:r>
              <a:rPr lang="en-US" sz="1100" dirty="0">
                <a:solidFill>
                  <a:srgbClr val="8B949E"/>
                </a:solidFill>
                <a:latin typeface="Consolas" pitchFamily="34" charset="0"/>
                <a:ea typeface="Consolas" pitchFamily="34" charset="-122"/>
                <a:cs typeface="Consolas" pitchFamily="34" charset="-120"/>
              </a:rPr>
              <a:t>docs/arch-mechanical.md</a:t>
            </a:r>
            <a:endParaRPr lang="en-US" sz="1100" dirty="0"/>
          </a:p>
        </p:txBody>
      </p:sp>
      <p:sp>
        <p:nvSpPr>
          <p:cNvPr id="7" name="Shape 5"/>
          <p:cNvSpPr/>
          <p:nvPr/>
        </p:nvSpPr>
        <p:spPr>
          <a:xfrm>
            <a:off x="0" y="4892040"/>
            <a:ext cx="9144000" cy="251460"/>
          </a:xfrm>
          <a:prstGeom prst="rect">
            <a:avLst/>
          </a:prstGeom>
          <a:solidFill>
            <a:srgbClr val="161B22"/>
          </a:solidFill>
          <a:ln w="12700">
            <a:solidFill>
              <a:srgbClr val="30363D"/>
            </a:solidFill>
            <a:prstDash val="solid"/>
          </a:ln>
        </p:spPr>
      </p:sp>
      <p:sp>
        <p:nvSpPr>
          <p:cNvPr id="8" name="Text 6"/>
          <p:cNvSpPr/>
          <p:nvPr/>
        </p:nvSpPr>
        <p:spPr>
          <a:xfrm>
            <a:off x="274320" y="4901184"/>
            <a:ext cx="8595360" cy="219456"/>
          </a:xfrm>
          <a:prstGeom prst="rect">
            <a:avLst/>
          </a:prstGeom>
          <a:noFill/>
          <a:ln/>
        </p:spPr>
        <p:txBody>
          <a:bodyPr wrap="square" rtlCol="0" anchor="ctr"/>
          <a:lstStyle/>
          <a:p>
            <a:pPr indent="0" marL="0">
              <a:buNone/>
            </a:pPr>
            <a:r>
              <a:rPr lang="en-US" sz="800" dirty="0">
                <a:solidFill>
                  <a:srgbClr val="8B949E"/>
                </a:solidFill>
                <a:latin typeface="Consolas" pitchFamily="34" charset="0"/>
                <a:ea typeface="Consolas" pitchFamily="34" charset="-122"/>
                <a:cs typeface="Consolas" pitchFamily="34" charset="-120"/>
              </a:rPr>
              <a:t>India Innovates 2025  •  Semi-Autonomous Wall Painting Robot</a:t>
            </a:r>
            <a:endParaRPr lang="en-US" sz="800" dirty="0"/>
          </a:p>
        </p:txBody>
      </p:sp>
      <p:sp>
        <p:nvSpPr>
          <p:cNvPr id="9" name="Shape 7"/>
          <p:cNvSpPr/>
          <p:nvPr/>
        </p:nvSpPr>
        <p:spPr>
          <a:xfrm>
            <a:off x="8686800" y="4919472"/>
            <a:ext cx="109728" cy="109728"/>
          </a:xfrm>
          <a:prstGeom prst="ellipse">
            <a:avLst/>
          </a:prstGeom>
          <a:solidFill>
            <a:srgbClr val="3FB950"/>
          </a:solidFill>
          <a:ln w="12700">
            <a:solidFill>
              <a:srgbClr val="3FB950"/>
            </a:solidFill>
            <a:prstDash val="solid"/>
          </a:ln>
        </p:spPr>
      </p:sp>
      <p:sp>
        <p:nvSpPr>
          <p:cNvPr id="10" name="Text 8"/>
          <p:cNvSpPr/>
          <p:nvPr/>
        </p:nvSpPr>
        <p:spPr>
          <a:xfrm>
            <a:off x="274320" y="685800"/>
            <a:ext cx="8229600" cy="256032"/>
          </a:xfrm>
          <a:prstGeom prst="rect">
            <a:avLst/>
          </a:prstGeom>
          <a:noFill/>
          <a:ln/>
        </p:spPr>
        <p:txBody>
          <a:bodyPr wrap="square" rtlCol="0" anchor="ctr"/>
          <a:lstStyle/>
          <a:p>
            <a:pPr indent="0" marL="0">
              <a:buNone/>
            </a:pPr>
            <a:r>
              <a:rPr lang="en-US" sz="1200" b="1" dirty="0">
                <a:solidFill>
                  <a:srgbClr val="58A6FF"/>
                </a:solidFill>
                <a:latin typeface="Consolas" pitchFamily="34" charset="0"/>
                <a:ea typeface="Consolas" pitchFamily="34" charset="-122"/>
                <a:cs typeface="Consolas" pitchFamily="34" charset="-120"/>
              </a:rPr>
              <a:t>// Architecture Mechanical — Force, Safety &amp; Material Flows</a:t>
            </a:r>
            <a:endParaRPr lang="en-US" sz="1200" dirty="0"/>
          </a:p>
        </p:txBody>
      </p:sp>
      <p:sp>
        <p:nvSpPr>
          <p:cNvPr id="11" name="Shape 9"/>
          <p:cNvSpPr/>
          <p:nvPr/>
        </p:nvSpPr>
        <p:spPr>
          <a:xfrm>
            <a:off x="228600" y="1005840"/>
            <a:ext cx="2834640" cy="3657600"/>
          </a:xfrm>
          <a:prstGeom prst="rect">
            <a:avLst/>
          </a:prstGeom>
          <a:solidFill>
            <a:srgbClr val="161B22"/>
          </a:solidFill>
          <a:ln w="12700">
            <a:solidFill>
              <a:srgbClr val="58A6FF"/>
            </a:solidFill>
            <a:prstDash val="solid"/>
          </a:ln>
        </p:spPr>
      </p:sp>
      <p:sp>
        <p:nvSpPr>
          <p:cNvPr id="12" name="Shape 10"/>
          <p:cNvSpPr/>
          <p:nvPr/>
        </p:nvSpPr>
        <p:spPr>
          <a:xfrm>
            <a:off x="228600" y="1005840"/>
            <a:ext cx="2834640" cy="347472"/>
          </a:xfrm>
          <a:prstGeom prst="rect">
            <a:avLst/>
          </a:prstGeom>
          <a:solidFill>
            <a:srgbClr val="58A6FF"/>
          </a:solidFill>
          <a:ln w="12700">
            <a:solidFill>
              <a:srgbClr val="58A6FF"/>
            </a:solidFill>
            <a:prstDash val="solid"/>
          </a:ln>
        </p:spPr>
      </p:sp>
      <p:sp>
        <p:nvSpPr>
          <p:cNvPr id="13" name="Text 11"/>
          <p:cNvSpPr/>
          <p:nvPr/>
        </p:nvSpPr>
        <p:spPr>
          <a:xfrm>
            <a:off x="320040" y="1005840"/>
            <a:ext cx="2651760" cy="347472"/>
          </a:xfrm>
          <a:prstGeom prst="rect">
            <a:avLst/>
          </a:prstGeom>
          <a:noFill/>
          <a:ln/>
        </p:spPr>
        <p:txBody>
          <a:bodyPr wrap="square" lIns="0" tIns="0" rIns="0" bIns="0" rtlCol="0" anchor="ctr"/>
          <a:lstStyle/>
          <a:p>
            <a:pPr algn="ctr" indent="0" marL="0">
              <a:buNone/>
            </a:pPr>
            <a:r>
              <a:rPr lang="en-US" sz="1300" b="1" dirty="0">
                <a:solidFill>
                  <a:srgbClr val="0D1117"/>
                </a:solidFill>
                <a:latin typeface="Calibri" pitchFamily="34" charset="0"/>
                <a:ea typeface="Calibri" pitchFamily="34" charset="-122"/>
                <a:cs typeface="Calibri" pitchFamily="34" charset="-120"/>
              </a:rPr>
              <a:t>Force Flow</a:t>
            </a:r>
            <a:endParaRPr lang="en-US" sz="1300" dirty="0"/>
          </a:p>
        </p:txBody>
      </p:sp>
      <p:sp>
        <p:nvSpPr>
          <p:cNvPr id="14" name="Shape 12"/>
          <p:cNvSpPr/>
          <p:nvPr/>
        </p:nvSpPr>
        <p:spPr>
          <a:xfrm>
            <a:off x="320040" y="1508760"/>
            <a:ext cx="2651760" cy="566928"/>
          </a:xfrm>
          <a:prstGeom prst="rect">
            <a:avLst/>
          </a:prstGeom>
          <a:solidFill>
            <a:srgbClr val="21262D"/>
          </a:solidFill>
          <a:ln w="12700">
            <a:solidFill>
              <a:srgbClr val="30363D"/>
            </a:solidFill>
            <a:prstDash val="solid"/>
          </a:ln>
        </p:spPr>
      </p:sp>
      <p:sp>
        <p:nvSpPr>
          <p:cNvPr id="15" name="Text 13"/>
          <p:cNvSpPr/>
          <p:nvPr/>
        </p:nvSpPr>
        <p:spPr>
          <a:xfrm>
            <a:off x="411480" y="1508760"/>
            <a:ext cx="2468880" cy="566928"/>
          </a:xfrm>
          <a:prstGeom prst="rect">
            <a:avLst/>
          </a:prstGeom>
          <a:noFill/>
          <a:ln/>
        </p:spPr>
        <p:txBody>
          <a:bodyPr wrap="square" rtlCol="0" anchor="ctr"/>
          <a:lstStyle/>
          <a:p>
            <a:pPr indent="0" marL="0">
              <a:buNone/>
            </a:pPr>
            <a:r>
              <a:rPr lang="en-US" sz="1000" dirty="0">
                <a:solidFill>
                  <a:srgbClr val="E6EDF3"/>
                </a:solidFill>
                <a:latin typeface="Calibri" pitchFamily="34" charset="0"/>
                <a:ea typeface="Calibri" pitchFamily="34" charset="-122"/>
                <a:cs typeface="Calibri" pitchFamily="34" charset="-120"/>
              </a:rPr>
              <a:t>Negative Pressure Force (Suction)</a:t>
            </a:r>
            <a:endParaRPr lang="en-US" sz="1000" dirty="0"/>
          </a:p>
        </p:txBody>
      </p:sp>
      <p:sp>
        <p:nvSpPr>
          <p:cNvPr id="16" name="Text 14"/>
          <p:cNvSpPr/>
          <p:nvPr/>
        </p:nvSpPr>
        <p:spPr>
          <a:xfrm>
            <a:off x="1417320" y="2075688"/>
            <a:ext cx="457200" cy="137160"/>
          </a:xfrm>
          <a:prstGeom prst="rect">
            <a:avLst/>
          </a:prstGeom>
          <a:noFill/>
          <a:ln/>
        </p:spPr>
        <p:txBody>
          <a:bodyPr wrap="square" rtlCol="0" anchor="ctr"/>
          <a:lstStyle/>
          <a:p>
            <a:pPr algn="ctr" indent="0" marL="0">
              <a:buNone/>
            </a:pPr>
            <a:r>
              <a:rPr lang="en-US" sz="1100" dirty="0">
                <a:solidFill>
                  <a:srgbClr val="58A6FF"/>
                </a:solidFill>
              </a:rPr>
              <a:t>↓</a:t>
            </a:r>
            <a:endParaRPr lang="en-US" sz="1100" dirty="0"/>
          </a:p>
        </p:txBody>
      </p:sp>
      <p:sp>
        <p:nvSpPr>
          <p:cNvPr id="17" name="Shape 15"/>
          <p:cNvSpPr/>
          <p:nvPr/>
        </p:nvSpPr>
        <p:spPr>
          <a:xfrm>
            <a:off x="320040" y="2221992"/>
            <a:ext cx="2651760" cy="566928"/>
          </a:xfrm>
          <a:prstGeom prst="rect">
            <a:avLst/>
          </a:prstGeom>
          <a:solidFill>
            <a:srgbClr val="21262D"/>
          </a:solidFill>
          <a:ln w="12700">
            <a:solidFill>
              <a:srgbClr val="30363D"/>
            </a:solidFill>
            <a:prstDash val="solid"/>
          </a:ln>
        </p:spPr>
      </p:sp>
      <p:sp>
        <p:nvSpPr>
          <p:cNvPr id="18" name="Text 16"/>
          <p:cNvSpPr/>
          <p:nvPr/>
        </p:nvSpPr>
        <p:spPr>
          <a:xfrm>
            <a:off x="411480" y="2221992"/>
            <a:ext cx="2468880" cy="566928"/>
          </a:xfrm>
          <a:prstGeom prst="rect">
            <a:avLst/>
          </a:prstGeom>
          <a:noFill/>
          <a:ln/>
        </p:spPr>
        <p:txBody>
          <a:bodyPr wrap="square" rtlCol="0" anchor="ctr"/>
          <a:lstStyle/>
          <a:p>
            <a:pPr indent="0" marL="0">
              <a:buNone/>
            </a:pPr>
            <a:r>
              <a:rPr lang="en-US" sz="1000" dirty="0">
                <a:solidFill>
                  <a:srgbClr val="E6EDF3"/>
                </a:solidFill>
                <a:latin typeface="Calibri" pitchFamily="34" charset="0"/>
                <a:ea typeface="Calibri" pitchFamily="34" charset="-122"/>
                <a:cs typeface="Calibri" pitchFamily="34" charset="-120"/>
              </a:rPr>
              <a:t>Weight → mass × gravity</a:t>
            </a:r>
            <a:endParaRPr lang="en-US" sz="1000" dirty="0"/>
          </a:p>
        </p:txBody>
      </p:sp>
      <p:sp>
        <p:nvSpPr>
          <p:cNvPr id="19" name="Text 17"/>
          <p:cNvSpPr/>
          <p:nvPr/>
        </p:nvSpPr>
        <p:spPr>
          <a:xfrm>
            <a:off x="1417320" y="2788920"/>
            <a:ext cx="457200" cy="137160"/>
          </a:xfrm>
          <a:prstGeom prst="rect">
            <a:avLst/>
          </a:prstGeom>
          <a:noFill/>
          <a:ln/>
        </p:spPr>
        <p:txBody>
          <a:bodyPr wrap="square" rtlCol="0" anchor="ctr"/>
          <a:lstStyle/>
          <a:p>
            <a:pPr algn="ctr" indent="0" marL="0">
              <a:buNone/>
            </a:pPr>
            <a:r>
              <a:rPr lang="en-US" sz="1100" dirty="0">
                <a:solidFill>
                  <a:srgbClr val="58A6FF"/>
                </a:solidFill>
              </a:rPr>
              <a:t>↓</a:t>
            </a:r>
            <a:endParaRPr lang="en-US" sz="1100" dirty="0"/>
          </a:p>
        </p:txBody>
      </p:sp>
      <p:sp>
        <p:nvSpPr>
          <p:cNvPr id="20" name="Shape 18"/>
          <p:cNvSpPr/>
          <p:nvPr/>
        </p:nvSpPr>
        <p:spPr>
          <a:xfrm>
            <a:off x="320040" y="2935224"/>
            <a:ext cx="2651760" cy="566928"/>
          </a:xfrm>
          <a:prstGeom prst="rect">
            <a:avLst/>
          </a:prstGeom>
          <a:solidFill>
            <a:srgbClr val="21262D"/>
          </a:solidFill>
          <a:ln w="12700">
            <a:solidFill>
              <a:srgbClr val="30363D"/>
            </a:solidFill>
            <a:prstDash val="solid"/>
          </a:ln>
        </p:spPr>
      </p:sp>
      <p:sp>
        <p:nvSpPr>
          <p:cNvPr id="21" name="Text 19"/>
          <p:cNvSpPr/>
          <p:nvPr/>
        </p:nvSpPr>
        <p:spPr>
          <a:xfrm>
            <a:off x="411480" y="2935224"/>
            <a:ext cx="2468880" cy="566928"/>
          </a:xfrm>
          <a:prstGeom prst="rect">
            <a:avLst/>
          </a:prstGeom>
          <a:noFill/>
          <a:ln/>
        </p:spPr>
        <p:txBody>
          <a:bodyPr wrap="square" rtlCol="0" anchor="ctr"/>
          <a:lstStyle/>
          <a:p>
            <a:pPr indent="0" marL="0">
              <a:buNone/>
            </a:pPr>
            <a:r>
              <a:rPr lang="en-US" sz="1000" dirty="0">
                <a:solidFill>
                  <a:srgbClr val="E6EDF3"/>
                </a:solidFill>
                <a:latin typeface="Calibri" pitchFamily="34" charset="0"/>
                <a:ea typeface="Calibri" pitchFamily="34" charset="-122"/>
                <a:cs typeface="Calibri" pitchFamily="34" charset="-120"/>
              </a:rPr>
              <a:t>Friction (bilateral)</a:t>
            </a:r>
            <a:endParaRPr lang="en-US" sz="1000" dirty="0"/>
          </a:p>
        </p:txBody>
      </p:sp>
      <p:sp>
        <p:nvSpPr>
          <p:cNvPr id="22" name="Text 20"/>
          <p:cNvSpPr/>
          <p:nvPr/>
        </p:nvSpPr>
        <p:spPr>
          <a:xfrm>
            <a:off x="1417320" y="3502152"/>
            <a:ext cx="457200" cy="137160"/>
          </a:xfrm>
          <a:prstGeom prst="rect">
            <a:avLst/>
          </a:prstGeom>
          <a:noFill/>
          <a:ln/>
        </p:spPr>
        <p:txBody>
          <a:bodyPr wrap="square" rtlCol="0" anchor="ctr"/>
          <a:lstStyle/>
          <a:p>
            <a:pPr algn="ctr" indent="0" marL="0">
              <a:buNone/>
            </a:pPr>
            <a:r>
              <a:rPr lang="en-US" sz="1100" dirty="0">
                <a:solidFill>
                  <a:srgbClr val="58A6FF"/>
                </a:solidFill>
              </a:rPr>
              <a:t>↓</a:t>
            </a:r>
            <a:endParaRPr lang="en-US" sz="1100" dirty="0"/>
          </a:p>
        </p:txBody>
      </p:sp>
      <p:sp>
        <p:nvSpPr>
          <p:cNvPr id="23" name="Shape 21"/>
          <p:cNvSpPr/>
          <p:nvPr/>
        </p:nvSpPr>
        <p:spPr>
          <a:xfrm>
            <a:off x="320040" y="3648456"/>
            <a:ext cx="2651760" cy="566928"/>
          </a:xfrm>
          <a:prstGeom prst="rect">
            <a:avLst/>
          </a:prstGeom>
          <a:solidFill>
            <a:srgbClr val="21262D"/>
          </a:solidFill>
          <a:ln w="12700">
            <a:solidFill>
              <a:srgbClr val="30363D"/>
            </a:solidFill>
            <a:prstDash val="solid"/>
          </a:ln>
        </p:spPr>
      </p:sp>
      <p:sp>
        <p:nvSpPr>
          <p:cNvPr id="24" name="Text 22"/>
          <p:cNvSpPr/>
          <p:nvPr/>
        </p:nvSpPr>
        <p:spPr>
          <a:xfrm>
            <a:off x="411480" y="3648456"/>
            <a:ext cx="2468880" cy="566928"/>
          </a:xfrm>
          <a:prstGeom prst="rect">
            <a:avLst/>
          </a:prstGeom>
          <a:noFill/>
          <a:ln/>
        </p:spPr>
        <p:txBody>
          <a:bodyPr wrap="square" rtlCol="0" anchor="ctr"/>
          <a:lstStyle/>
          <a:p>
            <a:pPr indent="0" marL="0">
              <a:buNone/>
            </a:pPr>
            <a:r>
              <a:rPr lang="en-US" sz="1000" dirty="0">
                <a:solidFill>
                  <a:srgbClr val="E6EDF3"/>
                </a:solidFill>
                <a:latin typeface="Calibri" pitchFamily="34" charset="0"/>
                <a:ea typeface="Calibri" pitchFamily="34" charset="-122"/>
                <a:cs typeface="Calibri" pitchFamily="34" charset="-120"/>
              </a:rPr>
              <a:t>Motion vector (upward)</a:t>
            </a:r>
            <a:endParaRPr lang="en-US" sz="1000" dirty="0"/>
          </a:p>
        </p:txBody>
      </p:sp>
      <p:sp>
        <p:nvSpPr>
          <p:cNvPr id="25" name="Shape 23"/>
          <p:cNvSpPr/>
          <p:nvPr/>
        </p:nvSpPr>
        <p:spPr>
          <a:xfrm>
            <a:off x="3200400" y="1005840"/>
            <a:ext cx="2834640" cy="3657600"/>
          </a:xfrm>
          <a:prstGeom prst="rect">
            <a:avLst/>
          </a:prstGeom>
          <a:solidFill>
            <a:srgbClr val="161B22"/>
          </a:solidFill>
          <a:ln w="12700">
            <a:solidFill>
              <a:srgbClr val="3FB950"/>
            </a:solidFill>
            <a:prstDash val="solid"/>
          </a:ln>
        </p:spPr>
      </p:sp>
      <p:sp>
        <p:nvSpPr>
          <p:cNvPr id="26" name="Shape 24"/>
          <p:cNvSpPr/>
          <p:nvPr/>
        </p:nvSpPr>
        <p:spPr>
          <a:xfrm>
            <a:off x="3200400" y="1005840"/>
            <a:ext cx="2834640" cy="347472"/>
          </a:xfrm>
          <a:prstGeom prst="rect">
            <a:avLst/>
          </a:prstGeom>
          <a:solidFill>
            <a:srgbClr val="3FB950"/>
          </a:solidFill>
          <a:ln w="12700">
            <a:solidFill>
              <a:srgbClr val="3FB950"/>
            </a:solidFill>
            <a:prstDash val="solid"/>
          </a:ln>
        </p:spPr>
      </p:sp>
      <p:sp>
        <p:nvSpPr>
          <p:cNvPr id="27" name="Text 25"/>
          <p:cNvSpPr/>
          <p:nvPr/>
        </p:nvSpPr>
        <p:spPr>
          <a:xfrm>
            <a:off x="3291840" y="1005840"/>
            <a:ext cx="2651760" cy="347472"/>
          </a:xfrm>
          <a:prstGeom prst="rect">
            <a:avLst/>
          </a:prstGeom>
          <a:noFill/>
          <a:ln/>
        </p:spPr>
        <p:txBody>
          <a:bodyPr wrap="square" lIns="0" tIns="0" rIns="0" bIns="0" rtlCol="0" anchor="ctr"/>
          <a:lstStyle/>
          <a:p>
            <a:pPr algn="ctr" indent="0" marL="0">
              <a:buNone/>
            </a:pPr>
            <a:r>
              <a:rPr lang="en-US" sz="1300" b="1" dirty="0">
                <a:solidFill>
                  <a:srgbClr val="0D1117"/>
                </a:solidFill>
                <a:latin typeface="Calibri" pitchFamily="34" charset="0"/>
                <a:ea typeface="Calibri" pitchFamily="34" charset="-122"/>
                <a:cs typeface="Calibri" pitchFamily="34" charset="-120"/>
              </a:rPr>
              <a:t>Safety Flow</a:t>
            </a:r>
            <a:endParaRPr lang="en-US" sz="1300" dirty="0"/>
          </a:p>
        </p:txBody>
      </p:sp>
      <p:sp>
        <p:nvSpPr>
          <p:cNvPr id="28" name="Shape 26"/>
          <p:cNvSpPr/>
          <p:nvPr/>
        </p:nvSpPr>
        <p:spPr>
          <a:xfrm>
            <a:off x="3291840" y="1508760"/>
            <a:ext cx="2651760" cy="566928"/>
          </a:xfrm>
          <a:prstGeom prst="rect">
            <a:avLst/>
          </a:prstGeom>
          <a:solidFill>
            <a:srgbClr val="21262D"/>
          </a:solidFill>
          <a:ln w="12700">
            <a:solidFill>
              <a:srgbClr val="30363D"/>
            </a:solidFill>
            <a:prstDash val="solid"/>
          </a:ln>
        </p:spPr>
      </p:sp>
      <p:sp>
        <p:nvSpPr>
          <p:cNvPr id="29" name="Text 27"/>
          <p:cNvSpPr/>
          <p:nvPr/>
        </p:nvSpPr>
        <p:spPr>
          <a:xfrm>
            <a:off x="3383280" y="1508760"/>
            <a:ext cx="2468880" cy="566928"/>
          </a:xfrm>
          <a:prstGeom prst="rect">
            <a:avLst/>
          </a:prstGeom>
          <a:noFill/>
          <a:ln/>
        </p:spPr>
        <p:txBody>
          <a:bodyPr wrap="square" rtlCol="0" anchor="ctr"/>
          <a:lstStyle/>
          <a:p>
            <a:pPr indent="0" marL="0">
              <a:buNone/>
            </a:pPr>
            <a:r>
              <a:rPr lang="en-US" sz="1000" dirty="0">
                <a:solidFill>
                  <a:srgbClr val="E6EDF3"/>
                </a:solidFill>
                <a:latin typeface="Calibri" pitchFamily="34" charset="0"/>
                <a:ea typeface="Calibri" pitchFamily="34" charset="-122"/>
                <a:cs typeface="Calibri" pitchFamily="34" charset="-120"/>
              </a:rPr>
              <a:t>Primary: Railing backup system</a:t>
            </a:r>
            <a:endParaRPr lang="en-US" sz="1000" dirty="0"/>
          </a:p>
        </p:txBody>
      </p:sp>
      <p:sp>
        <p:nvSpPr>
          <p:cNvPr id="30" name="Text 28"/>
          <p:cNvSpPr/>
          <p:nvPr/>
        </p:nvSpPr>
        <p:spPr>
          <a:xfrm>
            <a:off x="4389120" y="2075688"/>
            <a:ext cx="457200" cy="137160"/>
          </a:xfrm>
          <a:prstGeom prst="rect">
            <a:avLst/>
          </a:prstGeom>
          <a:noFill/>
          <a:ln/>
        </p:spPr>
        <p:txBody>
          <a:bodyPr wrap="square" rtlCol="0" anchor="ctr"/>
          <a:lstStyle/>
          <a:p>
            <a:pPr algn="ctr" indent="0" marL="0">
              <a:buNone/>
            </a:pPr>
            <a:r>
              <a:rPr lang="en-US" sz="1100" dirty="0">
                <a:solidFill>
                  <a:srgbClr val="3FB950"/>
                </a:solidFill>
              </a:rPr>
              <a:t>↓</a:t>
            </a:r>
            <a:endParaRPr lang="en-US" sz="1100" dirty="0"/>
          </a:p>
        </p:txBody>
      </p:sp>
      <p:sp>
        <p:nvSpPr>
          <p:cNvPr id="31" name="Shape 29"/>
          <p:cNvSpPr/>
          <p:nvPr/>
        </p:nvSpPr>
        <p:spPr>
          <a:xfrm>
            <a:off x="3291840" y="2221992"/>
            <a:ext cx="2651760" cy="566928"/>
          </a:xfrm>
          <a:prstGeom prst="rect">
            <a:avLst/>
          </a:prstGeom>
          <a:solidFill>
            <a:srgbClr val="21262D"/>
          </a:solidFill>
          <a:ln w="12700">
            <a:solidFill>
              <a:srgbClr val="30363D"/>
            </a:solidFill>
            <a:prstDash val="solid"/>
          </a:ln>
        </p:spPr>
      </p:sp>
      <p:sp>
        <p:nvSpPr>
          <p:cNvPr id="32" name="Text 30"/>
          <p:cNvSpPr/>
          <p:nvPr/>
        </p:nvSpPr>
        <p:spPr>
          <a:xfrm>
            <a:off x="3383280" y="2221992"/>
            <a:ext cx="2468880" cy="566928"/>
          </a:xfrm>
          <a:prstGeom prst="rect">
            <a:avLst/>
          </a:prstGeom>
          <a:noFill/>
          <a:ln/>
        </p:spPr>
        <p:txBody>
          <a:bodyPr wrap="square" rtlCol="0" anchor="ctr"/>
          <a:lstStyle/>
          <a:p>
            <a:pPr indent="0" marL="0">
              <a:buNone/>
            </a:pPr>
            <a:r>
              <a:rPr lang="en-US" sz="1000" dirty="0">
                <a:solidFill>
                  <a:srgbClr val="E6EDF3"/>
                </a:solidFill>
                <a:latin typeface="Calibri" pitchFamily="34" charset="0"/>
                <a:ea typeface="Calibri" pitchFamily="34" charset="-122"/>
                <a:cs typeface="Calibri" pitchFamily="34" charset="-120"/>
              </a:rPr>
              <a:t>Power Failure → Detachment protocol</a:t>
            </a:r>
            <a:endParaRPr lang="en-US" sz="1000" dirty="0"/>
          </a:p>
        </p:txBody>
      </p:sp>
      <p:sp>
        <p:nvSpPr>
          <p:cNvPr id="33" name="Text 31"/>
          <p:cNvSpPr/>
          <p:nvPr/>
        </p:nvSpPr>
        <p:spPr>
          <a:xfrm>
            <a:off x="4389120" y="2788920"/>
            <a:ext cx="457200" cy="137160"/>
          </a:xfrm>
          <a:prstGeom prst="rect">
            <a:avLst/>
          </a:prstGeom>
          <a:noFill/>
          <a:ln/>
        </p:spPr>
        <p:txBody>
          <a:bodyPr wrap="square" rtlCol="0" anchor="ctr"/>
          <a:lstStyle/>
          <a:p>
            <a:pPr algn="ctr" indent="0" marL="0">
              <a:buNone/>
            </a:pPr>
            <a:r>
              <a:rPr lang="en-US" sz="1100" dirty="0">
                <a:solidFill>
                  <a:srgbClr val="3FB950"/>
                </a:solidFill>
              </a:rPr>
              <a:t>↓</a:t>
            </a:r>
            <a:endParaRPr lang="en-US" sz="1100" dirty="0"/>
          </a:p>
        </p:txBody>
      </p:sp>
      <p:sp>
        <p:nvSpPr>
          <p:cNvPr id="34" name="Shape 32"/>
          <p:cNvSpPr/>
          <p:nvPr/>
        </p:nvSpPr>
        <p:spPr>
          <a:xfrm>
            <a:off x="3291840" y="2935224"/>
            <a:ext cx="2651760" cy="566928"/>
          </a:xfrm>
          <a:prstGeom prst="rect">
            <a:avLst/>
          </a:prstGeom>
          <a:solidFill>
            <a:srgbClr val="21262D"/>
          </a:solidFill>
          <a:ln w="12700">
            <a:solidFill>
              <a:srgbClr val="30363D"/>
            </a:solidFill>
            <a:prstDash val="solid"/>
          </a:ln>
        </p:spPr>
      </p:sp>
      <p:sp>
        <p:nvSpPr>
          <p:cNvPr id="35" name="Text 33"/>
          <p:cNvSpPr/>
          <p:nvPr/>
        </p:nvSpPr>
        <p:spPr>
          <a:xfrm>
            <a:off x="3383280" y="2935224"/>
            <a:ext cx="2468880" cy="566928"/>
          </a:xfrm>
          <a:prstGeom prst="rect">
            <a:avLst/>
          </a:prstGeom>
          <a:noFill/>
          <a:ln/>
        </p:spPr>
        <p:txBody>
          <a:bodyPr wrap="square" rtlCol="0" anchor="ctr"/>
          <a:lstStyle/>
          <a:p>
            <a:pPr indent="0" marL="0">
              <a:buNone/>
            </a:pPr>
            <a:r>
              <a:rPr lang="en-US" sz="1000" dirty="0">
                <a:solidFill>
                  <a:srgbClr val="E6EDF3"/>
                </a:solidFill>
                <a:latin typeface="Calibri" pitchFamily="34" charset="0"/>
                <a:ea typeface="Calibri" pitchFamily="34" charset="-122"/>
                <a:cs typeface="Calibri" pitchFamily="34" charset="-120"/>
              </a:rPr>
              <a:t>Rope Arrest (emergency)</a:t>
            </a:r>
            <a:endParaRPr lang="en-US" sz="1000" dirty="0"/>
          </a:p>
        </p:txBody>
      </p:sp>
      <p:sp>
        <p:nvSpPr>
          <p:cNvPr id="36" name="Text 34"/>
          <p:cNvSpPr/>
          <p:nvPr/>
        </p:nvSpPr>
        <p:spPr>
          <a:xfrm>
            <a:off x="4389120" y="3502152"/>
            <a:ext cx="457200" cy="137160"/>
          </a:xfrm>
          <a:prstGeom prst="rect">
            <a:avLst/>
          </a:prstGeom>
          <a:noFill/>
          <a:ln/>
        </p:spPr>
        <p:txBody>
          <a:bodyPr wrap="square" rtlCol="0" anchor="ctr"/>
          <a:lstStyle/>
          <a:p>
            <a:pPr algn="ctr" indent="0" marL="0">
              <a:buNone/>
            </a:pPr>
            <a:r>
              <a:rPr lang="en-US" sz="1100" dirty="0">
                <a:solidFill>
                  <a:srgbClr val="3FB950"/>
                </a:solidFill>
              </a:rPr>
              <a:t>↓</a:t>
            </a:r>
            <a:endParaRPr lang="en-US" sz="1100" dirty="0"/>
          </a:p>
        </p:txBody>
      </p:sp>
      <p:sp>
        <p:nvSpPr>
          <p:cNvPr id="37" name="Shape 35"/>
          <p:cNvSpPr/>
          <p:nvPr/>
        </p:nvSpPr>
        <p:spPr>
          <a:xfrm>
            <a:off x="3291840" y="3648456"/>
            <a:ext cx="2651760" cy="566928"/>
          </a:xfrm>
          <a:prstGeom prst="rect">
            <a:avLst/>
          </a:prstGeom>
          <a:solidFill>
            <a:srgbClr val="21262D"/>
          </a:solidFill>
          <a:ln w="12700">
            <a:solidFill>
              <a:srgbClr val="30363D"/>
            </a:solidFill>
            <a:prstDash val="solid"/>
          </a:ln>
        </p:spPr>
      </p:sp>
      <p:sp>
        <p:nvSpPr>
          <p:cNvPr id="38" name="Text 36"/>
          <p:cNvSpPr/>
          <p:nvPr/>
        </p:nvSpPr>
        <p:spPr>
          <a:xfrm>
            <a:off x="3383280" y="3648456"/>
            <a:ext cx="2468880" cy="566928"/>
          </a:xfrm>
          <a:prstGeom prst="rect">
            <a:avLst/>
          </a:prstGeom>
          <a:noFill/>
          <a:ln/>
        </p:spPr>
        <p:txBody>
          <a:bodyPr wrap="square" rtlCol="0" anchor="ctr"/>
          <a:lstStyle/>
          <a:p>
            <a:pPr indent="0" marL="0">
              <a:buNone/>
            </a:pPr>
            <a:r>
              <a:rPr lang="en-US" sz="1000" dirty="0">
                <a:solidFill>
                  <a:srgbClr val="E6EDF3"/>
                </a:solidFill>
                <a:latin typeface="Calibri" pitchFamily="34" charset="0"/>
                <a:ea typeface="Calibri" pitchFamily="34" charset="-122"/>
                <a:cs typeface="Calibri" pitchFamily="34" charset="-120"/>
              </a:rPr>
              <a:t>Down Force stabilisation</a:t>
            </a:r>
            <a:endParaRPr lang="en-US" sz="1000" dirty="0"/>
          </a:p>
        </p:txBody>
      </p:sp>
      <p:sp>
        <p:nvSpPr>
          <p:cNvPr id="39" name="Shape 37"/>
          <p:cNvSpPr/>
          <p:nvPr/>
        </p:nvSpPr>
        <p:spPr>
          <a:xfrm>
            <a:off x="6172200" y="1005840"/>
            <a:ext cx="2834640" cy="3657600"/>
          </a:xfrm>
          <a:prstGeom prst="rect">
            <a:avLst/>
          </a:prstGeom>
          <a:solidFill>
            <a:srgbClr val="161B22"/>
          </a:solidFill>
          <a:ln w="12700">
            <a:solidFill>
              <a:srgbClr val="D29922"/>
            </a:solidFill>
            <a:prstDash val="solid"/>
          </a:ln>
        </p:spPr>
      </p:sp>
      <p:sp>
        <p:nvSpPr>
          <p:cNvPr id="40" name="Shape 38"/>
          <p:cNvSpPr/>
          <p:nvPr/>
        </p:nvSpPr>
        <p:spPr>
          <a:xfrm>
            <a:off x="6172200" y="1005840"/>
            <a:ext cx="2834640" cy="347472"/>
          </a:xfrm>
          <a:prstGeom prst="rect">
            <a:avLst/>
          </a:prstGeom>
          <a:solidFill>
            <a:srgbClr val="D29922"/>
          </a:solidFill>
          <a:ln w="12700">
            <a:solidFill>
              <a:srgbClr val="D29922"/>
            </a:solidFill>
            <a:prstDash val="solid"/>
          </a:ln>
        </p:spPr>
      </p:sp>
      <p:sp>
        <p:nvSpPr>
          <p:cNvPr id="41" name="Text 39"/>
          <p:cNvSpPr/>
          <p:nvPr/>
        </p:nvSpPr>
        <p:spPr>
          <a:xfrm>
            <a:off x="6263640" y="1005840"/>
            <a:ext cx="2651760" cy="347472"/>
          </a:xfrm>
          <a:prstGeom prst="rect">
            <a:avLst/>
          </a:prstGeom>
          <a:noFill/>
          <a:ln/>
        </p:spPr>
        <p:txBody>
          <a:bodyPr wrap="square" lIns="0" tIns="0" rIns="0" bIns="0" rtlCol="0" anchor="ctr"/>
          <a:lstStyle/>
          <a:p>
            <a:pPr algn="ctr" indent="0" marL="0">
              <a:buNone/>
            </a:pPr>
            <a:r>
              <a:rPr lang="en-US" sz="1300" b="1" dirty="0">
                <a:solidFill>
                  <a:srgbClr val="0D1117"/>
                </a:solidFill>
                <a:latin typeface="Calibri" pitchFamily="34" charset="0"/>
                <a:ea typeface="Calibri" pitchFamily="34" charset="-122"/>
                <a:cs typeface="Calibri" pitchFamily="34" charset="-120"/>
              </a:rPr>
              <a:t>Material Flow</a:t>
            </a:r>
            <a:endParaRPr lang="en-US" sz="1300" dirty="0"/>
          </a:p>
        </p:txBody>
      </p:sp>
      <p:sp>
        <p:nvSpPr>
          <p:cNvPr id="42" name="Shape 40"/>
          <p:cNvSpPr/>
          <p:nvPr/>
        </p:nvSpPr>
        <p:spPr>
          <a:xfrm>
            <a:off x="6263640" y="1508760"/>
            <a:ext cx="2651760" cy="566928"/>
          </a:xfrm>
          <a:prstGeom prst="rect">
            <a:avLst/>
          </a:prstGeom>
          <a:solidFill>
            <a:srgbClr val="21262D"/>
          </a:solidFill>
          <a:ln w="12700">
            <a:solidFill>
              <a:srgbClr val="30363D"/>
            </a:solidFill>
            <a:prstDash val="solid"/>
          </a:ln>
        </p:spPr>
      </p:sp>
      <p:sp>
        <p:nvSpPr>
          <p:cNvPr id="43" name="Text 41"/>
          <p:cNvSpPr/>
          <p:nvPr/>
        </p:nvSpPr>
        <p:spPr>
          <a:xfrm>
            <a:off x="6355080" y="1508760"/>
            <a:ext cx="2468880" cy="566928"/>
          </a:xfrm>
          <a:prstGeom prst="rect">
            <a:avLst/>
          </a:prstGeom>
          <a:noFill/>
          <a:ln/>
        </p:spPr>
        <p:txBody>
          <a:bodyPr wrap="square" rtlCol="0" anchor="ctr"/>
          <a:lstStyle/>
          <a:p>
            <a:pPr indent="0" marL="0">
              <a:buNone/>
            </a:pPr>
            <a:r>
              <a:rPr lang="en-US" sz="1000" dirty="0">
                <a:solidFill>
                  <a:srgbClr val="E6EDF3"/>
                </a:solidFill>
                <a:latin typeface="Calibri" pitchFamily="34" charset="0"/>
                <a:ea typeface="Calibri" pitchFamily="34" charset="-122"/>
                <a:cs typeface="Calibri" pitchFamily="34" charset="-120"/>
              </a:rPr>
              <a:t>Tank → Pump → Roller → Wall</a:t>
            </a:r>
            <a:endParaRPr lang="en-US" sz="1000" dirty="0"/>
          </a:p>
        </p:txBody>
      </p:sp>
      <p:sp>
        <p:nvSpPr>
          <p:cNvPr id="44" name="Text 42"/>
          <p:cNvSpPr/>
          <p:nvPr/>
        </p:nvSpPr>
        <p:spPr>
          <a:xfrm>
            <a:off x="7360920" y="2075688"/>
            <a:ext cx="457200" cy="137160"/>
          </a:xfrm>
          <a:prstGeom prst="rect">
            <a:avLst/>
          </a:prstGeom>
          <a:noFill/>
          <a:ln/>
        </p:spPr>
        <p:txBody>
          <a:bodyPr wrap="square" rtlCol="0" anchor="ctr"/>
          <a:lstStyle/>
          <a:p>
            <a:pPr algn="ctr" indent="0" marL="0">
              <a:buNone/>
            </a:pPr>
            <a:r>
              <a:rPr lang="en-US" sz="1100" dirty="0">
                <a:solidFill>
                  <a:srgbClr val="D29922"/>
                </a:solidFill>
              </a:rPr>
              <a:t>↓</a:t>
            </a:r>
            <a:endParaRPr lang="en-US" sz="1100" dirty="0"/>
          </a:p>
        </p:txBody>
      </p:sp>
      <p:sp>
        <p:nvSpPr>
          <p:cNvPr id="45" name="Shape 43"/>
          <p:cNvSpPr/>
          <p:nvPr/>
        </p:nvSpPr>
        <p:spPr>
          <a:xfrm>
            <a:off x="6263640" y="2221992"/>
            <a:ext cx="2651760" cy="566928"/>
          </a:xfrm>
          <a:prstGeom prst="rect">
            <a:avLst/>
          </a:prstGeom>
          <a:solidFill>
            <a:srgbClr val="21262D"/>
          </a:solidFill>
          <a:ln w="12700">
            <a:solidFill>
              <a:srgbClr val="30363D"/>
            </a:solidFill>
            <a:prstDash val="solid"/>
          </a:ln>
        </p:spPr>
      </p:sp>
      <p:sp>
        <p:nvSpPr>
          <p:cNvPr id="46" name="Text 44"/>
          <p:cNvSpPr/>
          <p:nvPr/>
        </p:nvSpPr>
        <p:spPr>
          <a:xfrm>
            <a:off x="6355080" y="2221992"/>
            <a:ext cx="2468880" cy="566928"/>
          </a:xfrm>
          <a:prstGeom prst="rect">
            <a:avLst/>
          </a:prstGeom>
          <a:noFill/>
          <a:ln/>
        </p:spPr>
        <p:txBody>
          <a:bodyPr wrap="square" rtlCol="0" anchor="ctr"/>
          <a:lstStyle/>
          <a:p>
            <a:pPr indent="0" marL="0">
              <a:buNone/>
            </a:pPr>
            <a:r>
              <a:rPr lang="en-US" sz="1000" dirty="0">
                <a:solidFill>
                  <a:srgbClr val="E6EDF3"/>
                </a:solidFill>
                <a:latin typeface="Calibri" pitchFamily="34" charset="0"/>
                <a:ea typeface="Calibri" pitchFamily="34" charset="-122"/>
                <a:cs typeface="Calibri" pitchFamily="34" charset="-120"/>
              </a:rPr>
              <a:t>Paint distribution path</a:t>
            </a:r>
            <a:endParaRPr lang="en-US" sz="1000" dirty="0"/>
          </a:p>
        </p:txBody>
      </p:sp>
      <p:sp>
        <p:nvSpPr>
          <p:cNvPr id="47" name="Text 45"/>
          <p:cNvSpPr/>
          <p:nvPr/>
        </p:nvSpPr>
        <p:spPr>
          <a:xfrm>
            <a:off x="7360920" y="2788920"/>
            <a:ext cx="457200" cy="137160"/>
          </a:xfrm>
          <a:prstGeom prst="rect">
            <a:avLst/>
          </a:prstGeom>
          <a:noFill/>
          <a:ln/>
        </p:spPr>
        <p:txBody>
          <a:bodyPr wrap="square" rtlCol="0" anchor="ctr"/>
          <a:lstStyle/>
          <a:p>
            <a:pPr algn="ctr" indent="0" marL="0">
              <a:buNone/>
            </a:pPr>
            <a:r>
              <a:rPr lang="en-US" sz="1100" dirty="0">
                <a:solidFill>
                  <a:srgbClr val="D29922"/>
                </a:solidFill>
              </a:rPr>
              <a:t>↓</a:t>
            </a:r>
            <a:endParaRPr lang="en-US" sz="1100" dirty="0"/>
          </a:p>
        </p:txBody>
      </p:sp>
      <p:sp>
        <p:nvSpPr>
          <p:cNvPr id="48" name="Shape 46"/>
          <p:cNvSpPr/>
          <p:nvPr/>
        </p:nvSpPr>
        <p:spPr>
          <a:xfrm>
            <a:off x="6263640" y="2935224"/>
            <a:ext cx="2651760" cy="566928"/>
          </a:xfrm>
          <a:prstGeom prst="rect">
            <a:avLst/>
          </a:prstGeom>
          <a:solidFill>
            <a:srgbClr val="21262D"/>
          </a:solidFill>
          <a:ln w="12700">
            <a:solidFill>
              <a:srgbClr val="30363D"/>
            </a:solidFill>
            <a:prstDash val="solid"/>
          </a:ln>
        </p:spPr>
      </p:sp>
      <p:sp>
        <p:nvSpPr>
          <p:cNvPr id="49" name="Text 47"/>
          <p:cNvSpPr/>
          <p:nvPr/>
        </p:nvSpPr>
        <p:spPr>
          <a:xfrm>
            <a:off x="6355080" y="2935224"/>
            <a:ext cx="2468880" cy="566928"/>
          </a:xfrm>
          <a:prstGeom prst="rect">
            <a:avLst/>
          </a:prstGeom>
          <a:noFill/>
          <a:ln/>
        </p:spPr>
        <p:txBody>
          <a:bodyPr wrap="square" rtlCol="0" anchor="ctr"/>
          <a:lstStyle/>
          <a:p>
            <a:pPr indent="0" marL="0">
              <a:buNone/>
            </a:pPr>
            <a:r>
              <a:rPr lang="en-US" sz="1000" dirty="0">
                <a:solidFill>
                  <a:srgbClr val="E6EDF3"/>
                </a:solidFill>
                <a:latin typeface="Calibri" pitchFamily="34" charset="0"/>
                <a:ea typeface="Calibri" pitchFamily="34" charset="-122"/>
                <a:cs typeface="Calibri" pitchFamily="34" charset="-120"/>
              </a:rPr>
              <a:t>Chassis mounts all subsystems</a:t>
            </a:r>
            <a:endParaRPr lang="en-US" sz="1000" dirty="0"/>
          </a:p>
        </p:txBody>
      </p:sp>
      <p:sp>
        <p:nvSpPr>
          <p:cNvPr id="50" name="Text 48"/>
          <p:cNvSpPr/>
          <p:nvPr/>
        </p:nvSpPr>
        <p:spPr>
          <a:xfrm>
            <a:off x="7360920" y="3502152"/>
            <a:ext cx="457200" cy="137160"/>
          </a:xfrm>
          <a:prstGeom prst="rect">
            <a:avLst/>
          </a:prstGeom>
          <a:noFill/>
          <a:ln/>
        </p:spPr>
        <p:txBody>
          <a:bodyPr wrap="square" rtlCol="0" anchor="ctr"/>
          <a:lstStyle/>
          <a:p>
            <a:pPr algn="ctr" indent="0" marL="0">
              <a:buNone/>
            </a:pPr>
            <a:r>
              <a:rPr lang="en-US" sz="1100" dirty="0">
                <a:solidFill>
                  <a:srgbClr val="D29922"/>
                </a:solidFill>
              </a:rPr>
              <a:t>↓</a:t>
            </a:r>
            <a:endParaRPr lang="en-US" sz="1100" dirty="0"/>
          </a:p>
        </p:txBody>
      </p:sp>
      <p:sp>
        <p:nvSpPr>
          <p:cNvPr id="51" name="Shape 49"/>
          <p:cNvSpPr/>
          <p:nvPr/>
        </p:nvSpPr>
        <p:spPr>
          <a:xfrm>
            <a:off x="6263640" y="3648456"/>
            <a:ext cx="2651760" cy="566928"/>
          </a:xfrm>
          <a:prstGeom prst="rect">
            <a:avLst/>
          </a:prstGeom>
          <a:solidFill>
            <a:srgbClr val="21262D"/>
          </a:solidFill>
          <a:ln w="12700">
            <a:solidFill>
              <a:srgbClr val="30363D"/>
            </a:solidFill>
            <a:prstDash val="solid"/>
          </a:ln>
        </p:spPr>
      </p:sp>
      <p:sp>
        <p:nvSpPr>
          <p:cNvPr id="52" name="Text 50"/>
          <p:cNvSpPr/>
          <p:nvPr/>
        </p:nvSpPr>
        <p:spPr>
          <a:xfrm>
            <a:off x="6355080" y="3648456"/>
            <a:ext cx="2468880" cy="566928"/>
          </a:xfrm>
          <a:prstGeom prst="rect">
            <a:avLst/>
          </a:prstGeom>
          <a:noFill/>
          <a:ln/>
        </p:spPr>
        <p:txBody>
          <a:bodyPr wrap="square" rtlCol="0" anchor="ctr"/>
          <a:lstStyle/>
          <a:p>
            <a:pPr indent="0" marL="0">
              <a:buNone/>
            </a:pPr>
            <a:r>
              <a:rPr lang="en-US" sz="1000" dirty="0">
                <a:solidFill>
                  <a:srgbClr val="E6EDF3"/>
                </a:solidFill>
                <a:latin typeface="Calibri" pitchFamily="34" charset="0"/>
                <a:ea typeface="Calibri" pitchFamily="34" charset="-122"/>
                <a:cs typeface="Calibri" pitchFamily="34" charset="-120"/>
              </a:rPr>
              <a:t>Roller final applicator</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1B22"/>
          </a:solidFill>
          <a:ln w="12700">
            <a:solidFill>
              <a:srgbClr val="30363D"/>
            </a:solidFill>
            <a:prstDash val="solid"/>
          </a:ln>
        </p:spPr>
      </p:sp>
      <p:sp>
        <p:nvSpPr>
          <p:cNvPr id="3" name="Shape 1"/>
          <p:cNvSpPr/>
          <p:nvPr/>
        </p:nvSpPr>
        <p:spPr>
          <a:xfrm>
            <a:off x="182880" y="91440"/>
            <a:ext cx="411480" cy="411480"/>
          </a:xfrm>
          <a:prstGeom prst="rect">
            <a:avLst/>
          </a:prstGeom>
          <a:solidFill>
            <a:srgbClr val="21262D"/>
          </a:solidFill>
          <a:ln w="12700">
            <a:solidFill>
              <a:srgbClr val="30363D"/>
            </a:solidFill>
            <a:prstDash val="solid"/>
          </a:ln>
        </p:spPr>
      </p:sp>
      <p:sp>
        <p:nvSpPr>
          <p:cNvPr id="4" name="Text 2"/>
          <p:cNvSpPr/>
          <p:nvPr/>
        </p:nvSpPr>
        <p:spPr>
          <a:xfrm>
            <a:off x="182880" y="73152"/>
            <a:ext cx="411480" cy="448056"/>
          </a:xfrm>
          <a:prstGeom prst="rect">
            <a:avLst/>
          </a:prstGeom>
          <a:noFill/>
          <a:ln/>
        </p:spPr>
        <p:txBody>
          <a:bodyPr wrap="square" rtlCol="0" anchor="ctr"/>
          <a:lstStyle/>
          <a:p>
            <a:pPr algn="ctr" indent="0" marL="0">
              <a:buNone/>
            </a:pPr>
            <a:r>
              <a:rPr lang="en-US" sz="1800" dirty="0">
                <a:solidFill>
                  <a:srgbClr val="E6EDF3"/>
                </a:solidFill>
              </a:rPr>
              <a:t>⬡</a:t>
            </a:r>
            <a:endParaRPr lang="en-US" sz="1800" dirty="0"/>
          </a:p>
        </p:txBody>
      </p:sp>
      <p:sp>
        <p:nvSpPr>
          <p:cNvPr id="5" name="Text 3"/>
          <p:cNvSpPr/>
          <p:nvPr/>
        </p:nvSpPr>
        <p:spPr>
          <a:xfrm>
            <a:off x="685800" y="91440"/>
            <a:ext cx="4572000" cy="411480"/>
          </a:xfrm>
          <a:prstGeom prst="rect">
            <a:avLst/>
          </a:prstGeom>
          <a:noFill/>
          <a:ln/>
        </p:spPr>
        <p:txBody>
          <a:bodyPr wrap="square" rtlCol="0" anchor="ctr"/>
          <a:lstStyle/>
          <a:p>
            <a:pPr indent="0" marL="0">
              <a:buNone/>
            </a:pPr>
            <a:r>
              <a:rPr lang="en-US" sz="1000" dirty="0">
                <a:solidFill>
                  <a:srgbClr val="58A6FF"/>
                </a:solidFill>
                <a:latin typeface="Consolas" pitchFamily="34" charset="0"/>
                <a:ea typeface="Consolas" pitchFamily="34" charset="-122"/>
                <a:cs typeface="Consolas" pitchFamily="34" charset="-120"/>
              </a:rPr>
              <a:t>HN-WallBot / udgam-urban-solution</a:t>
            </a:r>
            <a:endParaRPr lang="en-US" sz="1000" dirty="0"/>
          </a:p>
        </p:txBody>
      </p:sp>
      <p:sp>
        <p:nvSpPr>
          <p:cNvPr id="6" name="Text 4"/>
          <p:cNvSpPr/>
          <p:nvPr/>
        </p:nvSpPr>
        <p:spPr>
          <a:xfrm>
            <a:off x="5029200" y="91440"/>
            <a:ext cx="3931920" cy="411480"/>
          </a:xfrm>
          <a:prstGeom prst="rect">
            <a:avLst/>
          </a:prstGeom>
          <a:noFill/>
          <a:ln/>
        </p:spPr>
        <p:txBody>
          <a:bodyPr wrap="square" rtlCol="0" anchor="ctr"/>
          <a:lstStyle/>
          <a:p>
            <a:pPr algn="r" indent="0" marL="0">
              <a:buNone/>
            </a:pPr>
            <a:r>
              <a:rPr lang="en-US" sz="1100" dirty="0">
                <a:solidFill>
                  <a:srgbClr val="8B949E"/>
                </a:solidFill>
                <a:latin typeface="Consolas" pitchFamily="34" charset="0"/>
                <a:ea typeface="Consolas" pitchFamily="34" charset="-122"/>
                <a:cs typeface="Consolas" pitchFamily="34" charset="-120"/>
              </a:rPr>
              <a:t>docs/arch-electronics.md</a:t>
            </a:r>
            <a:endParaRPr lang="en-US" sz="1100" dirty="0"/>
          </a:p>
        </p:txBody>
      </p:sp>
      <p:sp>
        <p:nvSpPr>
          <p:cNvPr id="7" name="Shape 5"/>
          <p:cNvSpPr/>
          <p:nvPr/>
        </p:nvSpPr>
        <p:spPr>
          <a:xfrm>
            <a:off x="0" y="4892040"/>
            <a:ext cx="9144000" cy="251460"/>
          </a:xfrm>
          <a:prstGeom prst="rect">
            <a:avLst/>
          </a:prstGeom>
          <a:solidFill>
            <a:srgbClr val="161B22"/>
          </a:solidFill>
          <a:ln w="12700">
            <a:solidFill>
              <a:srgbClr val="30363D"/>
            </a:solidFill>
            <a:prstDash val="solid"/>
          </a:ln>
        </p:spPr>
      </p:sp>
      <p:sp>
        <p:nvSpPr>
          <p:cNvPr id="8" name="Text 6"/>
          <p:cNvSpPr/>
          <p:nvPr/>
        </p:nvSpPr>
        <p:spPr>
          <a:xfrm>
            <a:off x="274320" y="4901184"/>
            <a:ext cx="8595360" cy="219456"/>
          </a:xfrm>
          <a:prstGeom prst="rect">
            <a:avLst/>
          </a:prstGeom>
          <a:noFill/>
          <a:ln/>
        </p:spPr>
        <p:txBody>
          <a:bodyPr wrap="square" rtlCol="0" anchor="ctr"/>
          <a:lstStyle/>
          <a:p>
            <a:pPr indent="0" marL="0">
              <a:buNone/>
            </a:pPr>
            <a:r>
              <a:rPr lang="en-US" sz="800" dirty="0">
                <a:solidFill>
                  <a:srgbClr val="8B949E"/>
                </a:solidFill>
                <a:latin typeface="Consolas" pitchFamily="34" charset="0"/>
                <a:ea typeface="Consolas" pitchFamily="34" charset="-122"/>
                <a:cs typeface="Consolas" pitchFamily="34" charset="-120"/>
              </a:rPr>
              <a:t>India Innovates 2025  •  Semi-Autonomous Wall Painting Robot</a:t>
            </a:r>
            <a:endParaRPr lang="en-US" sz="800" dirty="0"/>
          </a:p>
        </p:txBody>
      </p:sp>
      <p:sp>
        <p:nvSpPr>
          <p:cNvPr id="9" name="Shape 7"/>
          <p:cNvSpPr/>
          <p:nvPr/>
        </p:nvSpPr>
        <p:spPr>
          <a:xfrm>
            <a:off x="8686800" y="4919472"/>
            <a:ext cx="109728" cy="109728"/>
          </a:xfrm>
          <a:prstGeom prst="ellipse">
            <a:avLst/>
          </a:prstGeom>
          <a:solidFill>
            <a:srgbClr val="3FB950"/>
          </a:solidFill>
          <a:ln w="12700">
            <a:solidFill>
              <a:srgbClr val="3FB950"/>
            </a:solidFill>
            <a:prstDash val="solid"/>
          </a:ln>
        </p:spPr>
      </p:sp>
      <p:sp>
        <p:nvSpPr>
          <p:cNvPr id="10" name="Text 8"/>
          <p:cNvSpPr/>
          <p:nvPr/>
        </p:nvSpPr>
        <p:spPr>
          <a:xfrm>
            <a:off x="274320" y="685800"/>
            <a:ext cx="8229600" cy="256032"/>
          </a:xfrm>
          <a:prstGeom prst="rect">
            <a:avLst/>
          </a:prstGeom>
          <a:noFill/>
          <a:ln/>
        </p:spPr>
        <p:txBody>
          <a:bodyPr wrap="square" rtlCol="0" anchor="ctr"/>
          <a:lstStyle/>
          <a:p>
            <a:pPr indent="0" marL="0">
              <a:buNone/>
            </a:pPr>
            <a:r>
              <a:rPr lang="en-US" sz="1200" b="1" dirty="0">
                <a:solidFill>
                  <a:srgbClr val="D29922"/>
                </a:solidFill>
                <a:latin typeface="Consolas" pitchFamily="34" charset="0"/>
                <a:ea typeface="Consolas" pitchFamily="34" charset="-122"/>
                <a:cs typeface="Consolas" pitchFamily="34" charset="-120"/>
              </a:rPr>
              <a:t>// Architecture Electronics — Layered System Design</a:t>
            </a:r>
            <a:endParaRPr lang="en-US" sz="1200" dirty="0"/>
          </a:p>
        </p:txBody>
      </p:sp>
      <p:sp>
        <p:nvSpPr>
          <p:cNvPr id="11" name="Text 9"/>
          <p:cNvSpPr/>
          <p:nvPr/>
        </p:nvSpPr>
        <p:spPr>
          <a:xfrm>
            <a:off x="274320" y="960120"/>
            <a:ext cx="8595360" cy="292608"/>
          </a:xfrm>
          <a:prstGeom prst="rect">
            <a:avLst/>
          </a:prstGeom>
          <a:noFill/>
          <a:ln/>
        </p:spPr>
        <p:txBody>
          <a:bodyPr wrap="square" rtlCol="0" anchor="ctr"/>
          <a:lstStyle/>
          <a:p>
            <a:pPr algn="ctr" indent="0" marL="0">
              <a:buNone/>
            </a:pPr>
            <a:r>
              <a:rPr lang="en-US" sz="1300" dirty="0">
                <a:solidFill>
                  <a:srgbClr val="8B949E"/>
                </a:solidFill>
                <a:latin typeface="Consolas" pitchFamily="34" charset="0"/>
                <a:ea typeface="Consolas" pitchFamily="34" charset="-122"/>
                <a:cs typeface="Consolas" pitchFamily="34" charset="-120"/>
              </a:rPr>
              <a:t>Layered Architecture For Semi-Autonomous Painting Robot</a:t>
            </a:r>
            <a:endParaRPr lang="en-US" sz="1300" dirty="0"/>
          </a:p>
        </p:txBody>
      </p:sp>
      <p:sp>
        <p:nvSpPr>
          <p:cNvPr id="12" name="Shape 10"/>
          <p:cNvSpPr/>
          <p:nvPr/>
        </p:nvSpPr>
        <p:spPr>
          <a:xfrm>
            <a:off x="274320" y="2423160"/>
            <a:ext cx="1828800" cy="502920"/>
          </a:xfrm>
          <a:prstGeom prst="rect">
            <a:avLst/>
          </a:prstGeom>
          <a:solidFill>
            <a:srgbClr val="58A6FF"/>
          </a:solidFill>
          <a:ln w="12700">
            <a:solidFill>
              <a:srgbClr val="58A6FF"/>
            </a:solidFill>
            <a:prstDash val="solid"/>
          </a:ln>
        </p:spPr>
      </p:sp>
      <p:sp>
        <p:nvSpPr>
          <p:cNvPr id="13" name="Text 11"/>
          <p:cNvSpPr/>
          <p:nvPr/>
        </p:nvSpPr>
        <p:spPr>
          <a:xfrm>
            <a:off x="1920240" y="2423160"/>
            <a:ext cx="365760" cy="502920"/>
          </a:xfrm>
          <a:prstGeom prst="rect">
            <a:avLst/>
          </a:prstGeom>
          <a:noFill/>
          <a:ln/>
        </p:spPr>
        <p:txBody>
          <a:bodyPr wrap="square" rtlCol="0" anchor="ctr"/>
          <a:lstStyle/>
          <a:p>
            <a:pPr algn="ctr" indent="0" marL="0">
              <a:buNone/>
            </a:pPr>
            <a:r>
              <a:rPr lang="en-US" sz="1600" dirty="0">
                <a:solidFill>
                  <a:srgbClr val="E6EDF3"/>
                </a:solidFill>
              </a:rPr>
              <a:t>→</a:t>
            </a:r>
            <a:endParaRPr lang="en-US" sz="1600" dirty="0"/>
          </a:p>
        </p:txBody>
      </p:sp>
      <p:sp>
        <p:nvSpPr>
          <p:cNvPr id="14" name="Shape 12"/>
          <p:cNvSpPr/>
          <p:nvPr/>
        </p:nvSpPr>
        <p:spPr>
          <a:xfrm>
            <a:off x="2377440" y="2423160"/>
            <a:ext cx="1828800" cy="502920"/>
          </a:xfrm>
          <a:prstGeom prst="rect">
            <a:avLst/>
          </a:prstGeom>
          <a:solidFill>
            <a:srgbClr val="3FB950"/>
          </a:solidFill>
          <a:ln w="12700">
            <a:solidFill>
              <a:srgbClr val="3FB950"/>
            </a:solidFill>
            <a:prstDash val="solid"/>
          </a:ln>
        </p:spPr>
      </p:sp>
      <p:sp>
        <p:nvSpPr>
          <p:cNvPr id="15" name="Text 13"/>
          <p:cNvSpPr/>
          <p:nvPr/>
        </p:nvSpPr>
        <p:spPr>
          <a:xfrm>
            <a:off x="4023360" y="2423160"/>
            <a:ext cx="365760" cy="502920"/>
          </a:xfrm>
          <a:prstGeom prst="rect">
            <a:avLst/>
          </a:prstGeom>
          <a:noFill/>
          <a:ln/>
        </p:spPr>
        <p:txBody>
          <a:bodyPr wrap="square" rtlCol="0" anchor="ctr"/>
          <a:lstStyle/>
          <a:p>
            <a:pPr algn="ctr" indent="0" marL="0">
              <a:buNone/>
            </a:pPr>
            <a:r>
              <a:rPr lang="en-US" sz="1600" dirty="0">
                <a:solidFill>
                  <a:srgbClr val="E6EDF3"/>
                </a:solidFill>
              </a:rPr>
              <a:t>→</a:t>
            </a:r>
            <a:endParaRPr lang="en-US" sz="1600" dirty="0"/>
          </a:p>
        </p:txBody>
      </p:sp>
      <p:sp>
        <p:nvSpPr>
          <p:cNvPr id="16" name="Shape 14"/>
          <p:cNvSpPr/>
          <p:nvPr/>
        </p:nvSpPr>
        <p:spPr>
          <a:xfrm>
            <a:off x="4480560" y="2423160"/>
            <a:ext cx="1828800" cy="502920"/>
          </a:xfrm>
          <a:prstGeom prst="rect">
            <a:avLst/>
          </a:prstGeom>
          <a:solidFill>
            <a:srgbClr val="D29922"/>
          </a:solidFill>
          <a:ln w="12700">
            <a:solidFill>
              <a:srgbClr val="D29922"/>
            </a:solidFill>
            <a:prstDash val="solid"/>
          </a:ln>
        </p:spPr>
      </p:sp>
      <p:sp>
        <p:nvSpPr>
          <p:cNvPr id="17" name="Text 15"/>
          <p:cNvSpPr/>
          <p:nvPr/>
        </p:nvSpPr>
        <p:spPr>
          <a:xfrm>
            <a:off x="6126480" y="2423160"/>
            <a:ext cx="365760" cy="502920"/>
          </a:xfrm>
          <a:prstGeom prst="rect">
            <a:avLst/>
          </a:prstGeom>
          <a:noFill/>
          <a:ln/>
        </p:spPr>
        <p:txBody>
          <a:bodyPr wrap="square" rtlCol="0" anchor="ctr"/>
          <a:lstStyle/>
          <a:p>
            <a:pPr algn="ctr" indent="0" marL="0">
              <a:buNone/>
            </a:pPr>
            <a:r>
              <a:rPr lang="en-US" sz="1600" dirty="0">
                <a:solidFill>
                  <a:srgbClr val="E6EDF3"/>
                </a:solidFill>
              </a:rPr>
              <a:t>→</a:t>
            </a:r>
            <a:endParaRPr lang="en-US" sz="1600" dirty="0"/>
          </a:p>
        </p:txBody>
      </p:sp>
      <p:sp>
        <p:nvSpPr>
          <p:cNvPr id="18" name="Shape 16"/>
          <p:cNvSpPr/>
          <p:nvPr/>
        </p:nvSpPr>
        <p:spPr>
          <a:xfrm>
            <a:off x="6583680" y="2423160"/>
            <a:ext cx="1828800" cy="502920"/>
          </a:xfrm>
          <a:prstGeom prst="rect">
            <a:avLst/>
          </a:prstGeom>
          <a:solidFill>
            <a:srgbClr val="F78166"/>
          </a:solidFill>
          <a:ln w="12700">
            <a:solidFill>
              <a:srgbClr val="F78166"/>
            </a:solidFill>
            <a:prstDash val="solid"/>
          </a:ln>
        </p:spPr>
      </p:sp>
      <p:sp>
        <p:nvSpPr>
          <p:cNvPr id="19" name="Shape 17"/>
          <p:cNvSpPr/>
          <p:nvPr/>
        </p:nvSpPr>
        <p:spPr>
          <a:xfrm>
            <a:off x="274320" y="1280160"/>
            <a:ext cx="1828800" cy="1051560"/>
          </a:xfrm>
          <a:prstGeom prst="rect">
            <a:avLst/>
          </a:prstGeom>
          <a:solidFill>
            <a:srgbClr val="161B22"/>
          </a:solidFill>
          <a:ln w="12700">
            <a:solidFill>
              <a:srgbClr val="58A6FF"/>
            </a:solidFill>
            <a:prstDash val="solid"/>
          </a:ln>
        </p:spPr>
      </p:sp>
      <p:sp>
        <p:nvSpPr>
          <p:cNvPr id="20" name="Text 18"/>
          <p:cNvSpPr/>
          <p:nvPr/>
        </p:nvSpPr>
        <p:spPr>
          <a:xfrm>
            <a:off x="365760" y="1298448"/>
            <a:ext cx="1645920" cy="320040"/>
          </a:xfrm>
          <a:prstGeom prst="rect">
            <a:avLst/>
          </a:prstGeom>
          <a:noFill/>
          <a:ln/>
        </p:spPr>
        <p:txBody>
          <a:bodyPr wrap="square" rtlCol="0" anchor="ctr"/>
          <a:lstStyle/>
          <a:p>
            <a:pPr indent="0" marL="0">
              <a:buNone/>
            </a:pPr>
            <a:r>
              <a:rPr lang="en-US" sz="900" b="1" dirty="0">
                <a:solidFill>
                  <a:srgbClr val="58A6FF"/>
                </a:solidFill>
                <a:latin typeface="Calibri" pitchFamily="34" charset="0"/>
                <a:ea typeface="Calibri" pitchFamily="34" charset="-122"/>
                <a:cs typeface="Calibri" pitchFamily="34" charset="-120"/>
              </a:rPr>
              <a:t>Power System Layer</a:t>
            </a:r>
            <a:endParaRPr lang="en-US" sz="900" dirty="0"/>
          </a:p>
        </p:txBody>
      </p:sp>
      <p:sp>
        <p:nvSpPr>
          <p:cNvPr id="21" name="Text 19"/>
          <p:cNvSpPr/>
          <p:nvPr/>
        </p:nvSpPr>
        <p:spPr>
          <a:xfrm>
            <a:off x="365760" y="1645920"/>
            <a:ext cx="1645920" cy="640080"/>
          </a:xfrm>
          <a:prstGeom prst="rect">
            <a:avLst/>
          </a:prstGeom>
          <a:noFill/>
          <a:ln/>
        </p:spPr>
        <p:txBody>
          <a:bodyPr wrap="square" rtlCol="0" anchor="ctr"/>
          <a:lstStyle/>
          <a:p>
            <a:pPr indent="0" marL="0">
              <a:buNone/>
            </a:pPr>
            <a:r>
              <a:rPr lang="en-US" sz="850" dirty="0">
                <a:solidFill>
                  <a:srgbClr val="8B949E"/>
                </a:solidFill>
                <a:latin typeface="Calibri" pitchFamily="34" charset="0"/>
                <a:ea typeface="Calibri" pitchFamily="34" charset="-122"/>
                <a:cs typeface="Calibri" pitchFamily="34" charset="-120"/>
              </a:rPr>
              <a:t>48V DC Main Input</a:t>
            </a:r>
            <a:endParaRPr lang="en-US" sz="850" dirty="0"/>
          </a:p>
          <a:p>
            <a:pPr indent="0" marL="0">
              <a:buNone/>
            </a:pPr>
            <a:r>
              <a:rPr lang="en-US" sz="850" dirty="0">
                <a:solidFill>
                  <a:srgbClr val="8B949E"/>
                </a:solidFill>
                <a:latin typeface="Calibri" pitchFamily="34" charset="0"/>
                <a:ea typeface="Calibri" pitchFamily="34" charset="-122"/>
                <a:cs typeface="Calibri" pitchFamily="34" charset="-120"/>
              </a:rPr>
              <a:t>and Backup Battery</a:t>
            </a:r>
            <a:endParaRPr lang="en-US" sz="850" dirty="0"/>
          </a:p>
        </p:txBody>
      </p:sp>
      <p:sp>
        <p:nvSpPr>
          <p:cNvPr id="22" name="Shape 20"/>
          <p:cNvSpPr/>
          <p:nvPr/>
        </p:nvSpPr>
        <p:spPr>
          <a:xfrm>
            <a:off x="1188720" y="2331720"/>
            <a:ext cx="0" cy="91440"/>
          </a:xfrm>
          <a:prstGeom prst="line">
            <a:avLst/>
          </a:prstGeom>
          <a:noFill/>
          <a:ln w="12700">
            <a:solidFill>
              <a:srgbClr val="58A6FF"/>
            </a:solidFill>
            <a:prstDash val="solid"/>
          </a:ln>
        </p:spPr>
      </p:sp>
      <p:sp>
        <p:nvSpPr>
          <p:cNvPr id="23" name="Shape 21"/>
          <p:cNvSpPr/>
          <p:nvPr/>
        </p:nvSpPr>
        <p:spPr>
          <a:xfrm>
            <a:off x="2377440" y="1280160"/>
            <a:ext cx="1828800" cy="1051560"/>
          </a:xfrm>
          <a:prstGeom prst="rect">
            <a:avLst/>
          </a:prstGeom>
          <a:solidFill>
            <a:srgbClr val="161B22"/>
          </a:solidFill>
          <a:ln w="12700">
            <a:solidFill>
              <a:srgbClr val="3FB950"/>
            </a:solidFill>
            <a:prstDash val="solid"/>
          </a:ln>
        </p:spPr>
      </p:sp>
      <p:sp>
        <p:nvSpPr>
          <p:cNvPr id="24" name="Text 22"/>
          <p:cNvSpPr/>
          <p:nvPr/>
        </p:nvSpPr>
        <p:spPr>
          <a:xfrm>
            <a:off x="2468880" y="1298448"/>
            <a:ext cx="1645920" cy="320040"/>
          </a:xfrm>
          <a:prstGeom prst="rect">
            <a:avLst/>
          </a:prstGeom>
          <a:noFill/>
          <a:ln/>
        </p:spPr>
        <p:txBody>
          <a:bodyPr wrap="square" rtlCol="0" anchor="ctr"/>
          <a:lstStyle/>
          <a:p>
            <a:pPr indent="0" marL="0">
              <a:buNone/>
            </a:pPr>
            <a:r>
              <a:rPr lang="en-US" sz="900" b="1" dirty="0">
                <a:solidFill>
                  <a:srgbClr val="3FB950"/>
                </a:solidFill>
                <a:latin typeface="Calibri" pitchFamily="34" charset="0"/>
                <a:ea typeface="Calibri" pitchFamily="34" charset="-122"/>
                <a:cs typeface="Calibri" pitchFamily="34" charset="-120"/>
              </a:rPr>
              <a:t>Sensor Layer</a:t>
            </a:r>
            <a:endParaRPr lang="en-US" sz="900" dirty="0"/>
          </a:p>
        </p:txBody>
      </p:sp>
      <p:sp>
        <p:nvSpPr>
          <p:cNvPr id="25" name="Text 23"/>
          <p:cNvSpPr/>
          <p:nvPr/>
        </p:nvSpPr>
        <p:spPr>
          <a:xfrm>
            <a:off x="2468880" y="1645920"/>
            <a:ext cx="1645920" cy="640080"/>
          </a:xfrm>
          <a:prstGeom prst="rect">
            <a:avLst/>
          </a:prstGeom>
          <a:noFill/>
          <a:ln/>
        </p:spPr>
        <p:txBody>
          <a:bodyPr wrap="square" rtlCol="0" anchor="ctr"/>
          <a:lstStyle/>
          <a:p>
            <a:pPr indent="0" marL="0">
              <a:buNone/>
            </a:pPr>
            <a:r>
              <a:rPr lang="en-US" sz="850" dirty="0">
                <a:solidFill>
                  <a:srgbClr val="8B949E"/>
                </a:solidFill>
                <a:latin typeface="Calibri" pitchFamily="34" charset="0"/>
                <a:ea typeface="Calibri" pitchFamily="34" charset="-122"/>
                <a:cs typeface="Calibri" pitchFamily="34" charset="-120"/>
              </a:rPr>
              <a:t>Dual Redundant Pressure Sensors, IMU, Encoders, Current Sensors, Force Sensor</a:t>
            </a:r>
            <a:endParaRPr lang="en-US" sz="850" dirty="0"/>
          </a:p>
        </p:txBody>
      </p:sp>
      <p:sp>
        <p:nvSpPr>
          <p:cNvPr id="26" name="Shape 24"/>
          <p:cNvSpPr/>
          <p:nvPr/>
        </p:nvSpPr>
        <p:spPr>
          <a:xfrm>
            <a:off x="3291840" y="2331720"/>
            <a:ext cx="0" cy="91440"/>
          </a:xfrm>
          <a:prstGeom prst="line">
            <a:avLst/>
          </a:prstGeom>
          <a:noFill/>
          <a:ln w="12700">
            <a:solidFill>
              <a:srgbClr val="3FB950"/>
            </a:solidFill>
            <a:prstDash val="solid"/>
          </a:ln>
        </p:spPr>
      </p:sp>
      <p:sp>
        <p:nvSpPr>
          <p:cNvPr id="27" name="Shape 25"/>
          <p:cNvSpPr/>
          <p:nvPr/>
        </p:nvSpPr>
        <p:spPr>
          <a:xfrm>
            <a:off x="4480560" y="1280160"/>
            <a:ext cx="1828800" cy="1051560"/>
          </a:xfrm>
          <a:prstGeom prst="rect">
            <a:avLst/>
          </a:prstGeom>
          <a:solidFill>
            <a:srgbClr val="161B22"/>
          </a:solidFill>
          <a:ln w="12700">
            <a:solidFill>
              <a:srgbClr val="D29922"/>
            </a:solidFill>
            <a:prstDash val="solid"/>
          </a:ln>
        </p:spPr>
      </p:sp>
      <p:sp>
        <p:nvSpPr>
          <p:cNvPr id="28" name="Text 26"/>
          <p:cNvSpPr/>
          <p:nvPr/>
        </p:nvSpPr>
        <p:spPr>
          <a:xfrm>
            <a:off x="4572000" y="1298448"/>
            <a:ext cx="1645920" cy="320040"/>
          </a:xfrm>
          <a:prstGeom prst="rect">
            <a:avLst/>
          </a:prstGeom>
          <a:noFill/>
          <a:ln/>
        </p:spPr>
        <p:txBody>
          <a:bodyPr wrap="square" rtlCol="0" anchor="ctr"/>
          <a:lstStyle/>
          <a:p>
            <a:pPr indent="0" marL="0">
              <a:buNone/>
            </a:pPr>
            <a:r>
              <a:rPr lang="en-US" sz="900" b="1" dirty="0">
                <a:solidFill>
                  <a:srgbClr val="D29922"/>
                </a:solidFill>
                <a:latin typeface="Calibri" pitchFamily="34" charset="0"/>
                <a:ea typeface="Calibri" pitchFamily="34" charset="-122"/>
                <a:cs typeface="Calibri" pitchFamily="34" charset="-120"/>
              </a:rPr>
              <a:t>Painting Mechanism</a:t>
            </a:r>
            <a:endParaRPr lang="en-US" sz="900" dirty="0"/>
          </a:p>
        </p:txBody>
      </p:sp>
      <p:sp>
        <p:nvSpPr>
          <p:cNvPr id="29" name="Text 27"/>
          <p:cNvSpPr/>
          <p:nvPr/>
        </p:nvSpPr>
        <p:spPr>
          <a:xfrm>
            <a:off x="4572000" y="1645920"/>
            <a:ext cx="1645920" cy="640080"/>
          </a:xfrm>
          <a:prstGeom prst="rect">
            <a:avLst/>
          </a:prstGeom>
          <a:noFill/>
          <a:ln/>
        </p:spPr>
        <p:txBody>
          <a:bodyPr wrap="square" rtlCol="0" anchor="ctr"/>
          <a:lstStyle/>
          <a:p>
            <a:pPr indent="0" marL="0">
              <a:buNone/>
            </a:pPr>
            <a:r>
              <a:rPr lang="en-US" sz="850" dirty="0">
                <a:solidFill>
                  <a:srgbClr val="8B949E"/>
                </a:solidFill>
                <a:latin typeface="Calibri" pitchFamily="34" charset="0"/>
                <a:ea typeface="Calibri" pitchFamily="34" charset="-122"/>
                <a:cs typeface="Calibri" pitchFamily="34" charset="-120"/>
              </a:rPr>
              <a:t>Roller Painting Unit,</a:t>
            </a:r>
            <a:endParaRPr lang="en-US" sz="850" dirty="0"/>
          </a:p>
          <a:p>
            <a:pPr indent="0" marL="0">
              <a:buNone/>
            </a:pPr>
            <a:r>
              <a:rPr lang="en-US" sz="850" dirty="0">
                <a:solidFill>
                  <a:srgbClr val="8B949E"/>
                </a:solidFill>
                <a:latin typeface="Calibri" pitchFamily="34" charset="0"/>
                <a:ea typeface="Calibri" pitchFamily="34" charset="-122"/>
                <a:cs typeface="Calibri" pitchFamily="34" charset="-120"/>
              </a:rPr>
              <a:t>Reducing paint waste</a:t>
            </a:r>
            <a:endParaRPr lang="en-US" sz="850" dirty="0"/>
          </a:p>
        </p:txBody>
      </p:sp>
      <p:sp>
        <p:nvSpPr>
          <p:cNvPr id="30" name="Shape 28"/>
          <p:cNvSpPr/>
          <p:nvPr/>
        </p:nvSpPr>
        <p:spPr>
          <a:xfrm>
            <a:off x="5394960" y="2331720"/>
            <a:ext cx="0" cy="91440"/>
          </a:xfrm>
          <a:prstGeom prst="line">
            <a:avLst/>
          </a:prstGeom>
          <a:noFill/>
          <a:ln w="12700">
            <a:solidFill>
              <a:srgbClr val="D29922"/>
            </a:solidFill>
            <a:prstDash val="solid"/>
          </a:ln>
        </p:spPr>
      </p:sp>
      <p:sp>
        <p:nvSpPr>
          <p:cNvPr id="31" name="Shape 29"/>
          <p:cNvSpPr/>
          <p:nvPr/>
        </p:nvSpPr>
        <p:spPr>
          <a:xfrm>
            <a:off x="6583680" y="1280160"/>
            <a:ext cx="1828800" cy="1051560"/>
          </a:xfrm>
          <a:prstGeom prst="rect">
            <a:avLst/>
          </a:prstGeom>
          <a:solidFill>
            <a:srgbClr val="161B22"/>
          </a:solidFill>
          <a:ln w="12700">
            <a:solidFill>
              <a:srgbClr val="F78166"/>
            </a:solidFill>
            <a:prstDash val="solid"/>
          </a:ln>
        </p:spPr>
      </p:sp>
      <p:sp>
        <p:nvSpPr>
          <p:cNvPr id="32" name="Text 30"/>
          <p:cNvSpPr/>
          <p:nvPr/>
        </p:nvSpPr>
        <p:spPr>
          <a:xfrm>
            <a:off x="6675120" y="1298448"/>
            <a:ext cx="1645920" cy="320040"/>
          </a:xfrm>
          <a:prstGeom prst="rect">
            <a:avLst/>
          </a:prstGeom>
          <a:noFill/>
          <a:ln/>
        </p:spPr>
        <p:txBody>
          <a:bodyPr wrap="square" rtlCol="0" anchor="ctr"/>
          <a:lstStyle/>
          <a:p>
            <a:pPr indent="0" marL="0">
              <a:buNone/>
            </a:pPr>
            <a:r>
              <a:rPr lang="en-US" sz="900" b="1" dirty="0">
                <a:solidFill>
                  <a:srgbClr val="F78166"/>
                </a:solidFill>
                <a:latin typeface="Calibri" pitchFamily="34" charset="0"/>
                <a:ea typeface="Calibri" pitchFamily="34" charset="-122"/>
                <a:cs typeface="Calibri" pitchFamily="34" charset="-120"/>
              </a:rPr>
              <a:t>Safety &amp; Fault Mgmt</a:t>
            </a:r>
            <a:endParaRPr lang="en-US" sz="900" dirty="0"/>
          </a:p>
        </p:txBody>
      </p:sp>
      <p:sp>
        <p:nvSpPr>
          <p:cNvPr id="33" name="Text 31"/>
          <p:cNvSpPr/>
          <p:nvPr/>
        </p:nvSpPr>
        <p:spPr>
          <a:xfrm>
            <a:off x="6675120" y="1645920"/>
            <a:ext cx="1645920" cy="640080"/>
          </a:xfrm>
          <a:prstGeom prst="rect">
            <a:avLst/>
          </a:prstGeom>
          <a:noFill/>
          <a:ln/>
        </p:spPr>
        <p:txBody>
          <a:bodyPr wrap="square" rtlCol="0" anchor="ctr"/>
          <a:lstStyle/>
          <a:p>
            <a:pPr indent="0" marL="0">
              <a:buNone/>
            </a:pPr>
            <a:r>
              <a:rPr lang="en-US" sz="850" dirty="0">
                <a:solidFill>
                  <a:srgbClr val="8B949E"/>
                </a:solidFill>
                <a:latin typeface="Calibri" pitchFamily="34" charset="0"/>
                <a:ea typeface="Calibri" pitchFamily="34" charset="-122"/>
                <a:cs typeface="Calibri" pitchFamily="34" charset="-120"/>
              </a:rPr>
              <a:t>Emergency Stop Button,</a:t>
            </a:r>
            <a:endParaRPr lang="en-US" sz="850" dirty="0"/>
          </a:p>
          <a:p>
            <a:pPr indent="0" marL="0">
              <a:buNone/>
            </a:pPr>
            <a:r>
              <a:rPr lang="en-US" sz="850" dirty="0">
                <a:solidFill>
                  <a:srgbClr val="8B949E"/>
                </a:solidFill>
                <a:latin typeface="Calibri" pitchFamily="34" charset="0"/>
                <a:ea typeface="Calibri" pitchFamily="34" charset="-122"/>
                <a:cs typeface="Calibri" pitchFamily="34" charset="-120"/>
              </a:rPr>
              <a:t>Fault Detection System</a:t>
            </a:r>
            <a:endParaRPr lang="en-US" sz="850" dirty="0"/>
          </a:p>
        </p:txBody>
      </p:sp>
      <p:sp>
        <p:nvSpPr>
          <p:cNvPr id="34" name="Shape 32"/>
          <p:cNvSpPr/>
          <p:nvPr/>
        </p:nvSpPr>
        <p:spPr>
          <a:xfrm>
            <a:off x="7498080" y="2331720"/>
            <a:ext cx="0" cy="91440"/>
          </a:xfrm>
          <a:prstGeom prst="line">
            <a:avLst/>
          </a:prstGeom>
          <a:noFill/>
          <a:ln w="12700">
            <a:solidFill>
              <a:srgbClr val="F78166"/>
            </a:solidFill>
            <a:prstDash val="solid"/>
          </a:ln>
        </p:spPr>
      </p:sp>
      <p:sp>
        <p:nvSpPr>
          <p:cNvPr id="35" name="Shape 33"/>
          <p:cNvSpPr/>
          <p:nvPr/>
        </p:nvSpPr>
        <p:spPr>
          <a:xfrm>
            <a:off x="274320" y="3017520"/>
            <a:ext cx="1828800" cy="1051560"/>
          </a:xfrm>
          <a:prstGeom prst="rect">
            <a:avLst/>
          </a:prstGeom>
          <a:solidFill>
            <a:srgbClr val="161B22"/>
          </a:solidFill>
          <a:ln w="12700">
            <a:solidFill>
              <a:srgbClr val="BC8CFF"/>
            </a:solidFill>
            <a:prstDash val="solid"/>
          </a:ln>
        </p:spPr>
      </p:sp>
      <p:sp>
        <p:nvSpPr>
          <p:cNvPr id="36" name="Text 34"/>
          <p:cNvSpPr/>
          <p:nvPr/>
        </p:nvSpPr>
        <p:spPr>
          <a:xfrm>
            <a:off x="365760" y="3035808"/>
            <a:ext cx="1645920" cy="320040"/>
          </a:xfrm>
          <a:prstGeom prst="rect">
            <a:avLst/>
          </a:prstGeom>
          <a:noFill/>
          <a:ln/>
        </p:spPr>
        <p:txBody>
          <a:bodyPr wrap="square" rtlCol="0" anchor="ctr"/>
          <a:lstStyle/>
          <a:p>
            <a:pPr indent="0" marL="0">
              <a:buNone/>
            </a:pPr>
            <a:r>
              <a:rPr lang="en-US" sz="900" b="1" dirty="0">
                <a:solidFill>
                  <a:srgbClr val="BC8CFF"/>
                </a:solidFill>
                <a:latin typeface="Calibri" pitchFamily="34" charset="0"/>
                <a:ea typeface="Calibri" pitchFamily="34" charset="-122"/>
                <a:cs typeface="Calibri" pitchFamily="34" charset="-120"/>
              </a:rPr>
              <a:t>Real-Time Motion &amp; Control</a:t>
            </a:r>
            <a:endParaRPr lang="en-US" sz="900" dirty="0"/>
          </a:p>
        </p:txBody>
      </p:sp>
      <p:sp>
        <p:nvSpPr>
          <p:cNvPr id="37" name="Text 35"/>
          <p:cNvSpPr/>
          <p:nvPr/>
        </p:nvSpPr>
        <p:spPr>
          <a:xfrm>
            <a:off x="365760" y="3383280"/>
            <a:ext cx="1645920" cy="640080"/>
          </a:xfrm>
          <a:prstGeom prst="rect">
            <a:avLst/>
          </a:prstGeom>
          <a:noFill/>
          <a:ln/>
        </p:spPr>
        <p:txBody>
          <a:bodyPr wrap="square" rtlCol="0" anchor="ctr"/>
          <a:lstStyle/>
          <a:p>
            <a:pPr indent="0" marL="0">
              <a:buNone/>
            </a:pPr>
            <a:r>
              <a:rPr lang="en-US" sz="850" dirty="0">
                <a:solidFill>
                  <a:srgbClr val="8B949E"/>
                </a:solidFill>
                <a:latin typeface="Calibri" pitchFamily="34" charset="0"/>
                <a:ea typeface="Calibri" pitchFamily="34" charset="-122"/>
                <a:cs typeface="Calibri" pitchFamily="34" charset="-120"/>
              </a:rPr>
              <a:t>STM32 Microcontroller</a:t>
            </a:r>
            <a:endParaRPr lang="en-US" sz="850" dirty="0"/>
          </a:p>
          <a:p>
            <a:pPr indent="0" marL="0">
              <a:buNone/>
            </a:pPr>
            <a:r>
              <a:rPr lang="en-US" sz="850" dirty="0">
                <a:solidFill>
                  <a:srgbClr val="8B949E"/>
                </a:solidFill>
                <a:latin typeface="Calibri" pitchFamily="34" charset="0"/>
                <a:ea typeface="Calibri" pitchFamily="34" charset="-122"/>
                <a:cs typeface="Calibri" pitchFamily="34" charset="-120"/>
              </a:rPr>
              <a:t>and CAN Bus, RTOS</a:t>
            </a:r>
            <a:endParaRPr lang="en-US" sz="850" dirty="0"/>
          </a:p>
        </p:txBody>
      </p:sp>
      <p:sp>
        <p:nvSpPr>
          <p:cNvPr id="38" name="Shape 36"/>
          <p:cNvSpPr/>
          <p:nvPr/>
        </p:nvSpPr>
        <p:spPr>
          <a:xfrm>
            <a:off x="1188720" y="2944368"/>
            <a:ext cx="0" cy="73152"/>
          </a:xfrm>
          <a:prstGeom prst="line">
            <a:avLst/>
          </a:prstGeom>
          <a:noFill/>
          <a:ln w="12700">
            <a:solidFill>
              <a:srgbClr val="BC8CFF"/>
            </a:solidFill>
            <a:prstDash val="solid"/>
          </a:ln>
        </p:spPr>
      </p:sp>
      <p:sp>
        <p:nvSpPr>
          <p:cNvPr id="39" name="Shape 37"/>
          <p:cNvSpPr/>
          <p:nvPr/>
        </p:nvSpPr>
        <p:spPr>
          <a:xfrm>
            <a:off x="2377440" y="3017520"/>
            <a:ext cx="1828800" cy="1051560"/>
          </a:xfrm>
          <a:prstGeom prst="rect">
            <a:avLst/>
          </a:prstGeom>
          <a:solidFill>
            <a:srgbClr val="161B22"/>
          </a:solidFill>
          <a:ln w="12700">
            <a:solidFill>
              <a:srgbClr val="58A6FF"/>
            </a:solidFill>
            <a:prstDash val="solid"/>
          </a:ln>
        </p:spPr>
      </p:sp>
      <p:sp>
        <p:nvSpPr>
          <p:cNvPr id="40" name="Text 38"/>
          <p:cNvSpPr/>
          <p:nvPr/>
        </p:nvSpPr>
        <p:spPr>
          <a:xfrm>
            <a:off x="2468880" y="3035808"/>
            <a:ext cx="1645920" cy="320040"/>
          </a:xfrm>
          <a:prstGeom prst="rect">
            <a:avLst/>
          </a:prstGeom>
          <a:noFill/>
          <a:ln/>
        </p:spPr>
        <p:txBody>
          <a:bodyPr wrap="square" rtlCol="0" anchor="ctr"/>
          <a:lstStyle/>
          <a:p>
            <a:pPr indent="0" marL="0">
              <a:buNone/>
            </a:pPr>
            <a:r>
              <a:rPr lang="en-US" sz="900" b="1" dirty="0">
                <a:solidFill>
                  <a:srgbClr val="58A6FF"/>
                </a:solidFill>
                <a:latin typeface="Calibri" pitchFamily="34" charset="0"/>
                <a:ea typeface="Calibri" pitchFamily="34" charset="-122"/>
                <a:cs typeface="Calibri" pitchFamily="34" charset="-120"/>
              </a:rPr>
              <a:t>Adhesion System</a:t>
            </a:r>
            <a:endParaRPr lang="en-US" sz="900" dirty="0"/>
          </a:p>
        </p:txBody>
      </p:sp>
      <p:sp>
        <p:nvSpPr>
          <p:cNvPr id="41" name="Text 39"/>
          <p:cNvSpPr/>
          <p:nvPr/>
        </p:nvSpPr>
        <p:spPr>
          <a:xfrm>
            <a:off x="2468880" y="3383280"/>
            <a:ext cx="1645920" cy="640080"/>
          </a:xfrm>
          <a:prstGeom prst="rect">
            <a:avLst/>
          </a:prstGeom>
          <a:noFill/>
          <a:ln/>
        </p:spPr>
        <p:txBody>
          <a:bodyPr wrap="square" rtlCol="0" anchor="ctr"/>
          <a:lstStyle/>
          <a:p>
            <a:pPr indent="0" marL="0">
              <a:buNone/>
            </a:pPr>
            <a:r>
              <a:rPr lang="en-US" sz="850" dirty="0">
                <a:solidFill>
                  <a:srgbClr val="8B949E"/>
                </a:solidFill>
                <a:latin typeface="Calibri" pitchFamily="34" charset="0"/>
                <a:ea typeface="Calibri" pitchFamily="34" charset="-122"/>
                <a:cs typeface="Calibri" pitchFamily="34" charset="-120"/>
              </a:rPr>
              <a:t>Single Vacuum Pump</a:t>
            </a:r>
            <a:endParaRPr lang="en-US" sz="850" dirty="0"/>
          </a:p>
          <a:p>
            <a:pPr indent="0" marL="0">
              <a:buNone/>
            </a:pPr>
            <a:r>
              <a:rPr lang="en-US" sz="850" dirty="0">
                <a:solidFill>
                  <a:srgbClr val="8B949E"/>
                </a:solidFill>
                <a:latin typeface="Calibri" pitchFamily="34" charset="0"/>
                <a:ea typeface="Calibri" pitchFamily="34" charset="-122"/>
                <a:cs typeface="Calibri" pitchFamily="34" charset="-120"/>
              </a:rPr>
              <a:t>and Suction Chamber</a:t>
            </a:r>
            <a:endParaRPr lang="en-US" sz="850" dirty="0"/>
          </a:p>
        </p:txBody>
      </p:sp>
      <p:sp>
        <p:nvSpPr>
          <p:cNvPr id="42" name="Shape 40"/>
          <p:cNvSpPr/>
          <p:nvPr/>
        </p:nvSpPr>
        <p:spPr>
          <a:xfrm>
            <a:off x="3291840" y="2944368"/>
            <a:ext cx="0" cy="73152"/>
          </a:xfrm>
          <a:prstGeom prst="line">
            <a:avLst/>
          </a:prstGeom>
          <a:noFill/>
          <a:ln w="12700">
            <a:solidFill>
              <a:srgbClr val="58A6FF"/>
            </a:solidFill>
            <a:prstDash val="solid"/>
          </a:ln>
        </p:spPr>
      </p:sp>
      <p:sp>
        <p:nvSpPr>
          <p:cNvPr id="43" name="Shape 41"/>
          <p:cNvSpPr/>
          <p:nvPr/>
        </p:nvSpPr>
        <p:spPr>
          <a:xfrm>
            <a:off x="4480560" y="3017520"/>
            <a:ext cx="1828800" cy="1051560"/>
          </a:xfrm>
          <a:prstGeom prst="rect">
            <a:avLst/>
          </a:prstGeom>
          <a:solidFill>
            <a:srgbClr val="161B22"/>
          </a:solidFill>
          <a:ln w="12700">
            <a:solidFill>
              <a:srgbClr val="3FB950"/>
            </a:solidFill>
            <a:prstDash val="solid"/>
          </a:ln>
        </p:spPr>
      </p:sp>
      <p:sp>
        <p:nvSpPr>
          <p:cNvPr id="44" name="Text 42"/>
          <p:cNvSpPr/>
          <p:nvPr/>
        </p:nvSpPr>
        <p:spPr>
          <a:xfrm>
            <a:off x="4572000" y="3035808"/>
            <a:ext cx="1645920" cy="320040"/>
          </a:xfrm>
          <a:prstGeom prst="rect">
            <a:avLst/>
          </a:prstGeom>
          <a:noFill/>
          <a:ln/>
        </p:spPr>
        <p:txBody>
          <a:bodyPr wrap="square" rtlCol="0" anchor="ctr"/>
          <a:lstStyle/>
          <a:p>
            <a:pPr indent="0" marL="0">
              <a:buNone/>
            </a:pPr>
            <a:r>
              <a:rPr lang="en-US" sz="900" b="1" dirty="0">
                <a:solidFill>
                  <a:srgbClr val="3FB950"/>
                </a:solidFill>
                <a:latin typeface="Calibri" pitchFamily="34" charset="0"/>
                <a:ea typeface="Calibri" pitchFamily="34" charset="-122"/>
                <a:cs typeface="Calibri" pitchFamily="34" charset="-120"/>
              </a:rPr>
              <a:t>Vision &amp; Processing</a:t>
            </a:r>
            <a:endParaRPr lang="en-US" sz="900" dirty="0"/>
          </a:p>
        </p:txBody>
      </p:sp>
      <p:sp>
        <p:nvSpPr>
          <p:cNvPr id="45" name="Text 43"/>
          <p:cNvSpPr/>
          <p:nvPr/>
        </p:nvSpPr>
        <p:spPr>
          <a:xfrm>
            <a:off x="4572000" y="3383280"/>
            <a:ext cx="1645920" cy="640080"/>
          </a:xfrm>
          <a:prstGeom prst="rect">
            <a:avLst/>
          </a:prstGeom>
          <a:noFill/>
          <a:ln/>
        </p:spPr>
        <p:txBody>
          <a:bodyPr wrap="square" rtlCol="0" anchor="ctr"/>
          <a:lstStyle/>
          <a:p>
            <a:pPr indent="0" marL="0">
              <a:buNone/>
            </a:pPr>
            <a:r>
              <a:rPr lang="en-US" sz="850" dirty="0">
                <a:solidFill>
                  <a:srgbClr val="8B949E"/>
                </a:solidFill>
                <a:latin typeface="Calibri" pitchFamily="34" charset="0"/>
                <a:ea typeface="Calibri" pitchFamily="34" charset="-122"/>
                <a:cs typeface="Calibri" pitchFamily="34" charset="-120"/>
              </a:rPr>
              <a:t>Stereo Camera, Thermal Camera,</a:t>
            </a:r>
            <a:endParaRPr lang="en-US" sz="850" dirty="0"/>
          </a:p>
          <a:p>
            <a:pPr indent="0" marL="0">
              <a:buNone/>
            </a:pPr>
            <a:r>
              <a:rPr lang="en-US" sz="850" dirty="0">
                <a:solidFill>
                  <a:srgbClr val="8B949E"/>
                </a:solidFill>
                <a:latin typeface="Calibri" pitchFamily="34" charset="0"/>
                <a:ea typeface="Calibri" pitchFamily="34" charset="-122"/>
                <a:cs typeface="Calibri" pitchFamily="34" charset="-120"/>
              </a:rPr>
              <a:t>Onboard Processor</a:t>
            </a:r>
            <a:endParaRPr lang="en-US" sz="850" dirty="0"/>
          </a:p>
        </p:txBody>
      </p:sp>
      <p:sp>
        <p:nvSpPr>
          <p:cNvPr id="46" name="Shape 44"/>
          <p:cNvSpPr/>
          <p:nvPr/>
        </p:nvSpPr>
        <p:spPr>
          <a:xfrm>
            <a:off x="5394960" y="2944368"/>
            <a:ext cx="0" cy="73152"/>
          </a:xfrm>
          <a:prstGeom prst="line">
            <a:avLst/>
          </a:prstGeom>
          <a:noFill/>
          <a:ln w="12700">
            <a:solidFill>
              <a:srgbClr val="3FB950"/>
            </a:solidFill>
            <a:prstDash val="solid"/>
          </a:ln>
        </p:spPr>
      </p:sp>
      <p:sp>
        <p:nvSpPr>
          <p:cNvPr id="47" name="Shape 45"/>
          <p:cNvSpPr/>
          <p:nvPr/>
        </p:nvSpPr>
        <p:spPr>
          <a:xfrm>
            <a:off x="6583680" y="3017520"/>
            <a:ext cx="1828800" cy="1051560"/>
          </a:xfrm>
          <a:prstGeom prst="rect">
            <a:avLst/>
          </a:prstGeom>
          <a:solidFill>
            <a:srgbClr val="161B22"/>
          </a:solidFill>
          <a:ln w="12700">
            <a:solidFill>
              <a:srgbClr val="D29922"/>
            </a:solidFill>
            <a:prstDash val="solid"/>
          </a:ln>
        </p:spPr>
      </p:sp>
      <p:sp>
        <p:nvSpPr>
          <p:cNvPr id="48" name="Text 46"/>
          <p:cNvSpPr/>
          <p:nvPr/>
        </p:nvSpPr>
        <p:spPr>
          <a:xfrm>
            <a:off x="6675120" y="3035808"/>
            <a:ext cx="1645920" cy="320040"/>
          </a:xfrm>
          <a:prstGeom prst="rect">
            <a:avLst/>
          </a:prstGeom>
          <a:noFill/>
          <a:ln/>
        </p:spPr>
        <p:txBody>
          <a:bodyPr wrap="square" rtlCol="0" anchor="ctr"/>
          <a:lstStyle/>
          <a:p>
            <a:pPr indent="0" marL="0">
              <a:buNone/>
            </a:pPr>
            <a:r>
              <a:rPr lang="en-US" sz="900" b="1" dirty="0">
                <a:solidFill>
                  <a:srgbClr val="D29922"/>
                </a:solidFill>
                <a:latin typeface="Calibri" pitchFamily="34" charset="0"/>
                <a:ea typeface="Calibri" pitchFamily="34" charset="-122"/>
                <a:cs typeface="Calibri" pitchFamily="34" charset="-120"/>
              </a:rPr>
              <a:t>Data Logging &amp; Alert</a:t>
            </a:r>
            <a:endParaRPr lang="en-US" sz="900" dirty="0"/>
          </a:p>
        </p:txBody>
      </p:sp>
      <p:sp>
        <p:nvSpPr>
          <p:cNvPr id="49" name="Text 47"/>
          <p:cNvSpPr/>
          <p:nvPr/>
        </p:nvSpPr>
        <p:spPr>
          <a:xfrm>
            <a:off x="6675120" y="3383280"/>
            <a:ext cx="1645920" cy="640080"/>
          </a:xfrm>
          <a:prstGeom prst="rect">
            <a:avLst/>
          </a:prstGeom>
          <a:noFill/>
          <a:ln/>
        </p:spPr>
        <p:txBody>
          <a:bodyPr wrap="square" rtlCol="0" anchor="ctr"/>
          <a:lstStyle/>
          <a:p>
            <a:pPr indent="0" marL="0">
              <a:buNone/>
            </a:pPr>
            <a:r>
              <a:rPr lang="en-US" sz="850" dirty="0">
                <a:solidFill>
                  <a:srgbClr val="8B949E"/>
                </a:solidFill>
                <a:latin typeface="Calibri" pitchFamily="34" charset="0"/>
                <a:ea typeface="Calibri" pitchFamily="34" charset="-122"/>
                <a:cs typeface="Calibri" pitchFamily="34" charset="-120"/>
              </a:rPr>
              <a:t>Onboard Data Logging</a:t>
            </a:r>
            <a:endParaRPr lang="en-US" sz="850" dirty="0"/>
          </a:p>
          <a:p>
            <a:pPr indent="0" marL="0">
              <a:buNone/>
            </a:pPr>
            <a:r>
              <a:rPr lang="en-US" sz="850" dirty="0">
                <a:solidFill>
                  <a:srgbClr val="8B949E"/>
                </a:solidFill>
                <a:latin typeface="Calibri" pitchFamily="34" charset="0"/>
                <a:ea typeface="Calibri" pitchFamily="34" charset="-122"/>
                <a:cs typeface="Calibri" pitchFamily="34" charset="-120"/>
              </a:rPr>
              <a:t>Module and Alert System</a:t>
            </a:r>
            <a:endParaRPr lang="en-US" sz="850" dirty="0"/>
          </a:p>
        </p:txBody>
      </p:sp>
      <p:sp>
        <p:nvSpPr>
          <p:cNvPr id="50" name="Shape 48"/>
          <p:cNvSpPr/>
          <p:nvPr/>
        </p:nvSpPr>
        <p:spPr>
          <a:xfrm>
            <a:off x="7498080" y="2944368"/>
            <a:ext cx="0" cy="73152"/>
          </a:xfrm>
          <a:prstGeom prst="line">
            <a:avLst/>
          </a:prstGeom>
          <a:noFill/>
          <a:ln w="12700">
            <a:solidFill>
              <a:srgbClr val="D29922"/>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1B22"/>
          </a:solidFill>
          <a:ln w="12700">
            <a:solidFill>
              <a:srgbClr val="30363D"/>
            </a:solidFill>
            <a:prstDash val="solid"/>
          </a:ln>
        </p:spPr>
      </p:sp>
      <p:sp>
        <p:nvSpPr>
          <p:cNvPr id="3" name="Shape 1"/>
          <p:cNvSpPr/>
          <p:nvPr/>
        </p:nvSpPr>
        <p:spPr>
          <a:xfrm>
            <a:off x="182880" y="91440"/>
            <a:ext cx="411480" cy="411480"/>
          </a:xfrm>
          <a:prstGeom prst="rect">
            <a:avLst/>
          </a:prstGeom>
          <a:solidFill>
            <a:srgbClr val="21262D"/>
          </a:solidFill>
          <a:ln w="12700">
            <a:solidFill>
              <a:srgbClr val="30363D"/>
            </a:solidFill>
            <a:prstDash val="solid"/>
          </a:ln>
        </p:spPr>
      </p:sp>
      <p:sp>
        <p:nvSpPr>
          <p:cNvPr id="4" name="Text 2"/>
          <p:cNvSpPr/>
          <p:nvPr/>
        </p:nvSpPr>
        <p:spPr>
          <a:xfrm>
            <a:off x="182880" y="73152"/>
            <a:ext cx="411480" cy="448056"/>
          </a:xfrm>
          <a:prstGeom prst="rect">
            <a:avLst/>
          </a:prstGeom>
          <a:noFill/>
          <a:ln/>
        </p:spPr>
        <p:txBody>
          <a:bodyPr wrap="square" rtlCol="0" anchor="ctr"/>
          <a:lstStyle/>
          <a:p>
            <a:pPr algn="ctr" indent="0" marL="0">
              <a:buNone/>
            </a:pPr>
            <a:r>
              <a:rPr lang="en-US" sz="1800" dirty="0">
                <a:solidFill>
                  <a:srgbClr val="E6EDF3"/>
                </a:solidFill>
              </a:rPr>
              <a:t>⬡</a:t>
            </a:r>
            <a:endParaRPr lang="en-US" sz="1800" dirty="0"/>
          </a:p>
        </p:txBody>
      </p:sp>
      <p:sp>
        <p:nvSpPr>
          <p:cNvPr id="5" name="Text 3"/>
          <p:cNvSpPr/>
          <p:nvPr/>
        </p:nvSpPr>
        <p:spPr>
          <a:xfrm>
            <a:off x="685800" y="91440"/>
            <a:ext cx="4572000" cy="411480"/>
          </a:xfrm>
          <a:prstGeom prst="rect">
            <a:avLst/>
          </a:prstGeom>
          <a:noFill/>
          <a:ln/>
        </p:spPr>
        <p:txBody>
          <a:bodyPr wrap="square" rtlCol="0" anchor="ctr"/>
          <a:lstStyle/>
          <a:p>
            <a:pPr indent="0" marL="0">
              <a:buNone/>
            </a:pPr>
            <a:r>
              <a:rPr lang="en-US" sz="1000" dirty="0">
                <a:solidFill>
                  <a:srgbClr val="58A6FF"/>
                </a:solidFill>
                <a:latin typeface="Consolas" pitchFamily="34" charset="0"/>
                <a:ea typeface="Consolas" pitchFamily="34" charset="-122"/>
                <a:cs typeface="Consolas" pitchFamily="34" charset="-120"/>
              </a:rPr>
              <a:t>HN-WallBot / udgam-urban-solution</a:t>
            </a:r>
            <a:endParaRPr lang="en-US" sz="1000" dirty="0"/>
          </a:p>
        </p:txBody>
      </p:sp>
      <p:sp>
        <p:nvSpPr>
          <p:cNvPr id="6" name="Text 4"/>
          <p:cNvSpPr/>
          <p:nvPr/>
        </p:nvSpPr>
        <p:spPr>
          <a:xfrm>
            <a:off x="5029200" y="91440"/>
            <a:ext cx="3931920" cy="411480"/>
          </a:xfrm>
          <a:prstGeom prst="rect">
            <a:avLst/>
          </a:prstGeom>
          <a:noFill/>
          <a:ln/>
        </p:spPr>
        <p:txBody>
          <a:bodyPr wrap="square" rtlCol="0" anchor="ctr"/>
          <a:lstStyle/>
          <a:p>
            <a:pPr algn="r" indent="0" marL="0">
              <a:buNone/>
            </a:pPr>
            <a:r>
              <a:rPr lang="en-US" sz="1100" dirty="0">
                <a:solidFill>
                  <a:srgbClr val="8B949E"/>
                </a:solidFill>
                <a:latin typeface="Consolas" pitchFamily="34" charset="0"/>
                <a:ea typeface="Consolas" pitchFamily="34" charset="-122"/>
                <a:cs typeface="Consolas" pitchFamily="34" charset="-120"/>
              </a:rPr>
              <a:t>src/ros2/architecture.py</a:t>
            </a:r>
            <a:endParaRPr lang="en-US" sz="1100" dirty="0"/>
          </a:p>
        </p:txBody>
      </p:sp>
      <p:sp>
        <p:nvSpPr>
          <p:cNvPr id="7" name="Shape 5"/>
          <p:cNvSpPr/>
          <p:nvPr/>
        </p:nvSpPr>
        <p:spPr>
          <a:xfrm>
            <a:off x="0" y="4892040"/>
            <a:ext cx="9144000" cy="251460"/>
          </a:xfrm>
          <a:prstGeom prst="rect">
            <a:avLst/>
          </a:prstGeom>
          <a:solidFill>
            <a:srgbClr val="161B22"/>
          </a:solidFill>
          <a:ln w="12700">
            <a:solidFill>
              <a:srgbClr val="30363D"/>
            </a:solidFill>
            <a:prstDash val="solid"/>
          </a:ln>
        </p:spPr>
      </p:sp>
      <p:sp>
        <p:nvSpPr>
          <p:cNvPr id="8" name="Text 6"/>
          <p:cNvSpPr/>
          <p:nvPr/>
        </p:nvSpPr>
        <p:spPr>
          <a:xfrm>
            <a:off x="274320" y="4901184"/>
            <a:ext cx="8595360" cy="219456"/>
          </a:xfrm>
          <a:prstGeom prst="rect">
            <a:avLst/>
          </a:prstGeom>
          <a:noFill/>
          <a:ln/>
        </p:spPr>
        <p:txBody>
          <a:bodyPr wrap="square" rtlCol="0" anchor="ctr"/>
          <a:lstStyle/>
          <a:p>
            <a:pPr indent="0" marL="0">
              <a:buNone/>
            </a:pPr>
            <a:r>
              <a:rPr lang="en-US" sz="800" dirty="0">
                <a:solidFill>
                  <a:srgbClr val="8B949E"/>
                </a:solidFill>
                <a:latin typeface="Consolas" pitchFamily="34" charset="0"/>
                <a:ea typeface="Consolas" pitchFamily="34" charset="-122"/>
                <a:cs typeface="Consolas" pitchFamily="34" charset="-120"/>
              </a:rPr>
              <a:t>India Innovates 2025  •  Semi-Autonomous Wall Painting Robot</a:t>
            </a:r>
            <a:endParaRPr lang="en-US" sz="800" dirty="0"/>
          </a:p>
        </p:txBody>
      </p:sp>
      <p:sp>
        <p:nvSpPr>
          <p:cNvPr id="9" name="Shape 7"/>
          <p:cNvSpPr/>
          <p:nvPr/>
        </p:nvSpPr>
        <p:spPr>
          <a:xfrm>
            <a:off x="8686800" y="4919472"/>
            <a:ext cx="109728" cy="109728"/>
          </a:xfrm>
          <a:prstGeom prst="ellipse">
            <a:avLst/>
          </a:prstGeom>
          <a:solidFill>
            <a:srgbClr val="3FB950"/>
          </a:solidFill>
          <a:ln w="12700">
            <a:solidFill>
              <a:srgbClr val="3FB950"/>
            </a:solidFill>
            <a:prstDash val="solid"/>
          </a:ln>
        </p:spPr>
      </p:sp>
      <p:sp>
        <p:nvSpPr>
          <p:cNvPr id="10" name="Text 8"/>
          <p:cNvSpPr/>
          <p:nvPr/>
        </p:nvSpPr>
        <p:spPr>
          <a:xfrm>
            <a:off x="274320" y="685800"/>
            <a:ext cx="8229600" cy="256032"/>
          </a:xfrm>
          <a:prstGeom prst="rect">
            <a:avLst/>
          </a:prstGeom>
          <a:noFill/>
          <a:ln/>
        </p:spPr>
        <p:txBody>
          <a:bodyPr wrap="square" rtlCol="0" anchor="ctr"/>
          <a:lstStyle/>
          <a:p>
            <a:pPr indent="0" marL="0">
              <a:buNone/>
            </a:pPr>
            <a:r>
              <a:rPr lang="en-US" sz="1200" b="1" dirty="0">
                <a:solidFill>
                  <a:srgbClr val="BC8CFF"/>
                </a:solidFill>
                <a:latin typeface="Consolas" pitchFamily="34" charset="0"/>
                <a:ea typeface="Consolas" pitchFamily="34" charset="-122"/>
                <a:cs typeface="Consolas" pitchFamily="34" charset="-120"/>
              </a:rPr>
              <a:t>// Architecture Software — ROS 2 Based Control Pipeline</a:t>
            </a:r>
            <a:endParaRPr lang="en-US" sz="1200" dirty="0"/>
          </a:p>
        </p:txBody>
      </p:sp>
      <p:sp>
        <p:nvSpPr>
          <p:cNvPr id="11" name="Shape 9"/>
          <p:cNvSpPr/>
          <p:nvPr/>
        </p:nvSpPr>
        <p:spPr>
          <a:xfrm>
            <a:off x="228600" y="1005840"/>
            <a:ext cx="1508760" cy="1463040"/>
          </a:xfrm>
          <a:prstGeom prst="rect">
            <a:avLst/>
          </a:prstGeom>
          <a:solidFill>
            <a:srgbClr val="161B22"/>
          </a:solidFill>
          <a:ln w="12700">
            <a:solidFill>
              <a:srgbClr val="58A6FF"/>
            </a:solidFill>
            <a:prstDash val="solid"/>
          </a:ln>
        </p:spPr>
      </p:sp>
      <p:sp>
        <p:nvSpPr>
          <p:cNvPr id="12" name="Text 10"/>
          <p:cNvSpPr/>
          <p:nvPr/>
        </p:nvSpPr>
        <p:spPr>
          <a:xfrm>
            <a:off x="228600" y="1097280"/>
            <a:ext cx="1508760" cy="347472"/>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13" name="Text 11"/>
          <p:cNvSpPr/>
          <p:nvPr/>
        </p:nvSpPr>
        <p:spPr>
          <a:xfrm>
            <a:off x="228600" y="1481328"/>
            <a:ext cx="1508760" cy="402336"/>
          </a:xfrm>
          <a:prstGeom prst="rect">
            <a:avLst/>
          </a:prstGeom>
          <a:noFill/>
          <a:ln/>
        </p:spPr>
        <p:txBody>
          <a:bodyPr wrap="square" rtlCol="0" anchor="ctr"/>
          <a:lstStyle/>
          <a:p>
            <a:pPr algn="ctr" indent="0" marL="0">
              <a:buNone/>
            </a:pPr>
            <a:r>
              <a:rPr lang="en-US" sz="1000" b="1" dirty="0">
                <a:solidFill>
                  <a:srgbClr val="58A6FF"/>
                </a:solidFill>
                <a:latin typeface="Calibri" pitchFamily="34" charset="0"/>
                <a:ea typeface="Calibri" pitchFamily="34" charset="-122"/>
                <a:cs typeface="Calibri" pitchFamily="34" charset="-120"/>
              </a:rPr>
              <a:t>Operator</a:t>
            </a:r>
            <a:endParaRPr lang="en-US" sz="1000" dirty="0"/>
          </a:p>
          <a:p>
            <a:pPr algn="ctr" indent="0" marL="0">
              <a:buNone/>
            </a:pPr>
            <a:r>
              <a:rPr lang="en-US" sz="1000" b="1" dirty="0">
                <a:solidFill>
                  <a:srgbClr val="58A6FF"/>
                </a:solidFill>
                <a:latin typeface="Calibri" pitchFamily="34" charset="0"/>
                <a:ea typeface="Calibri" pitchFamily="34" charset="-122"/>
                <a:cs typeface="Calibri" pitchFamily="34" charset="-120"/>
              </a:rPr>
              <a:t>Command</a:t>
            </a:r>
            <a:endParaRPr lang="en-US" sz="1000" dirty="0"/>
          </a:p>
        </p:txBody>
      </p:sp>
      <p:sp>
        <p:nvSpPr>
          <p:cNvPr id="14" name="Text 12"/>
          <p:cNvSpPr/>
          <p:nvPr/>
        </p:nvSpPr>
        <p:spPr>
          <a:xfrm>
            <a:off x="228600" y="1901952"/>
            <a:ext cx="1508760" cy="502920"/>
          </a:xfrm>
          <a:prstGeom prst="rect">
            <a:avLst/>
          </a:prstGeom>
          <a:noFill/>
          <a:ln/>
        </p:spPr>
        <p:txBody>
          <a:bodyPr wrap="square" rtlCol="0" anchor="ctr"/>
          <a:lstStyle/>
          <a:p>
            <a:pPr algn="ctr" indent="0" marL="0">
              <a:buNone/>
            </a:pPr>
            <a:r>
              <a:rPr lang="en-US" sz="800" dirty="0">
                <a:solidFill>
                  <a:srgbClr val="8B949E"/>
                </a:solidFill>
                <a:latin typeface="Calibri" pitchFamily="34" charset="0"/>
                <a:ea typeface="Calibri" pitchFamily="34" charset="-122"/>
                <a:cs typeface="Calibri" pitchFamily="34" charset="-120"/>
              </a:rPr>
              <a:t>Initial instruction</a:t>
            </a:r>
            <a:endParaRPr lang="en-US" sz="800" dirty="0"/>
          </a:p>
        </p:txBody>
      </p:sp>
      <p:sp>
        <p:nvSpPr>
          <p:cNvPr id="15" name="Text 13"/>
          <p:cNvSpPr/>
          <p:nvPr/>
        </p:nvSpPr>
        <p:spPr>
          <a:xfrm>
            <a:off x="1737360" y="1600200"/>
            <a:ext cx="182880" cy="274320"/>
          </a:xfrm>
          <a:prstGeom prst="rect">
            <a:avLst/>
          </a:prstGeom>
          <a:noFill/>
          <a:ln/>
        </p:spPr>
        <p:txBody>
          <a:bodyPr wrap="square" rtlCol="0" anchor="ctr"/>
          <a:lstStyle/>
          <a:p>
            <a:pPr algn="ctr" indent="0" marL="0">
              <a:buNone/>
            </a:pPr>
            <a:r>
              <a:rPr lang="en-US" sz="1400" dirty="0">
                <a:solidFill>
                  <a:srgbClr val="8B949E"/>
                </a:solidFill>
              </a:rPr>
              <a:t>→</a:t>
            </a:r>
            <a:endParaRPr lang="en-US" sz="1400" dirty="0"/>
          </a:p>
        </p:txBody>
      </p:sp>
      <p:sp>
        <p:nvSpPr>
          <p:cNvPr id="16" name="Shape 14"/>
          <p:cNvSpPr/>
          <p:nvPr/>
        </p:nvSpPr>
        <p:spPr>
          <a:xfrm>
            <a:off x="1920240" y="1005840"/>
            <a:ext cx="1508760" cy="1463040"/>
          </a:xfrm>
          <a:prstGeom prst="rect">
            <a:avLst/>
          </a:prstGeom>
          <a:solidFill>
            <a:srgbClr val="161B22"/>
          </a:solidFill>
          <a:ln w="12700">
            <a:solidFill>
              <a:srgbClr val="D29922"/>
            </a:solidFill>
            <a:prstDash val="solid"/>
          </a:ln>
        </p:spPr>
      </p:sp>
      <p:sp>
        <p:nvSpPr>
          <p:cNvPr id="17" name="Text 15"/>
          <p:cNvSpPr/>
          <p:nvPr/>
        </p:nvSpPr>
        <p:spPr>
          <a:xfrm>
            <a:off x="1920240" y="1097280"/>
            <a:ext cx="1508760" cy="347472"/>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18" name="Text 16"/>
          <p:cNvSpPr/>
          <p:nvPr/>
        </p:nvSpPr>
        <p:spPr>
          <a:xfrm>
            <a:off x="1920240" y="1481328"/>
            <a:ext cx="1508760" cy="402336"/>
          </a:xfrm>
          <a:prstGeom prst="rect">
            <a:avLst/>
          </a:prstGeom>
          <a:noFill/>
          <a:ln/>
        </p:spPr>
        <p:txBody>
          <a:bodyPr wrap="square" rtlCol="0" anchor="ctr"/>
          <a:lstStyle/>
          <a:p>
            <a:pPr algn="ctr" indent="0" marL="0">
              <a:buNone/>
            </a:pPr>
            <a:r>
              <a:rPr lang="en-US" sz="1000" b="1" dirty="0">
                <a:solidFill>
                  <a:srgbClr val="D29922"/>
                </a:solidFill>
                <a:latin typeface="Calibri" pitchFamily="34" charset="0"/>
                <a:ea typeface="Calibri" pitchFamily="34" charset="-122"/>
                <a:cs typeface="Calibri" pitchFamily="34" charset="-120"/>
              </a:rPr>
              <a:t>Controller</a:t>
            </a:r>
            <a:endParaRPr lang="en-US" sz="1000" dirty="0"/>
          </a:p>
        </p:txBody>
      </p:sp>
      <p:sp>
        <p:nvSpPr>
          <p:cNvPr id="19" name="Text 17"/>
          <p:cNvSpPr/>
          <p:nvPr/>
        </p:nvSpPr>
        <p:spPr>
          <a:xfrm>
            <a:off x="1920240" y="1901952"/>
            <a:ext cx="1508760" cy="502920"/>
          </a:xfrm>
          <a:prstGeom prst="rect">
            <a:avLst/>
          </a:prstGeom>
          <a:noFill/>
          <a:ln/>
        </p:spPr>
        <p:txBody>
          <a:bodyPr wrap="square" rtlCol="0" anchor="ctr"/>
          <a:lstStyle/>
          <a:p>
            <a:pPr algn="ctr" indent="0" marL="0">
              <a:buNone/>
            </a:pPr>
            <a:r>
              <a:rPr lang="en-US" sz="800" dirty="0">
                <a:solidFill>
                  <a:srgbClr val="8B949E"/>
                </a:solidFill>
                <a:latin typeface="Calibri" pitchFamily="34" charset="0"/>
                <a:ea typeface="Calibri" pitchFamily="34" charset="-122"/>
                <a:cs typeface="Calibri" pitchFamily="34" charset="-120"/>
              </a:rPr>
              <a:t>Command execution</a:t>
            </a:r>
            <a:endParaRPr lang="en-US" sz="800" dirty="0"/>
          </a:p>
          <a:p>
            <a:pPr algn="ctr" indent="0" marL="0">
              <a:buNone/>
            </a:pPr>
            <a:r>
              <a:rPr lang="en-US" sz="800" dirty="0">
                <a:solidFill>
                  <a:srgbClr val="8B949E"/>
                </a:solidFill>
                <a:latin typeface="Calibri" pitchFamily="34" charset="0"/>
                <a:ea typeface="Calibri" pitchFamily="34" charset="-122"/>
                <a:cs typeface="Calibri" pitchFamily="34" charset="-120"/>
              </a:rPr>
              <a:t>&amp; motor control</a:t>
            </a:r>
            <a:endParaRPr lang="en-US" sz="800" dirty="0"/>
          </a:p>
        </p:txBody>
      </p:sp>
      <p:sp>
        <p:nvSpPr>
          <p:cNvPr id="20" name="Text 18"/>
          <p:cNvSpPr/>
          <p:nvPr/>
        </p:nvSpPr>
        <p:spPr>
          <a:xfrm>
            <a:off x="3429000" y="1600200"/>
            <a:ext cx="182880" cy="274320"/>
          </a:xfrm>
          <a:prstGeom prst="rect">
            <a:avLst/>
          </a:prstGeom>
          <a:noFill/>
          <a:ln/>
        </p:spPr>
        <p:txBody>
          <a:bodyPr wrap="square" rtlCol="0" anchor="ctr"/>
          <a:lstStyle/>
          <a:p>
            <a:pPr algn="ctr" indent="0" marL="0">
              <a:buNone/>
            </a:pPr>
            <a:r>
              <a:rPr lang="en-US" sz="1400" dirty="0">
                <a:solidFill>
                  <a:srgbClr val="8B949E"/>
                </a:solidFill>
              </a:rPr>
              <a:t>→</a:t>
            </a:r>
            <a:endParaRPr lang="en-US" sz="1400" dirty="0"/>
          </a:p>
        </p:txBody>
      </p:sp>
      <p:sp>
        <p:nvSpPr>
          <p:cNvPr id="21" name="Shape 19"/>
          <p:cNvSpPr/>
          <p:nvPr/>
        </p:nvSpPr>
        <p:spPr>
          <a:xfrm>
            <a:off x="3611880" y="1005840"/>
            <a:ext cx="1508760" cy="1463040"/>
          </a:xfrm>
          <a:prstGeom prst="rect">
            <a:avLst/>
          </a:prstGeom>
          <a:solidFill>
            <a:srgbClr val="161B22"/>
          </a:solidFill>
          <a:ln w="12700">
            <a:solidFill>
              <a:srgbClr val="F78166"/>
            </a:solidFill>
            <a:prstDash val="solid"/>
          </a:ln>
        </p:spPr>
      </p:sp>
      <p:sp>
        <p:nvSpPr>
          <p:cNvPr id="22" name="Text 20"/>
          <p:cNvSpPr/>
          <p:nvPr/>
        </p:nvSpPr>
        <p:spPr>
          <a:xfrm>
            <a:off x="3611880" y="1097280"/>
            <a:ext cx="1508760" cy="347472"/>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23" name="Text 21"/>
          <p:cNvSpPr/>
          <p:nvPr/>
        </p:nvSpPr>
        <p:spPr>
          <a:xfrm>
            <a:off x="3611880" y="1481328"/>
            <a:ext cx="1508760" cy="402336"/>
          </a:xfrm>
          <a:prstGeom prst="rect">
            <a:avLst/>
          </a:prstGeom>
          <a:noFill/>
          <a:ln/>
        </p:spPr>
        <p:txBody>
          <a:bodyPr wrap="square" rtlCol="0" anchor="ctr"/>
          <a:lstStyle/>
          <a:p>
            <a:pPr algn="ctr" indent="0" marL="0">
              <a:buNone/>
            </a:pPr>
            <a:r>
              <a:rPr lang="en-US" sz="1000" b="1" dirty="0">
                <a:solidFill>
                  <a:srgbClr val="F78166"/>
                </a:solidFill>
                <a:latin typeface="Calibri" pitchFamily="34" charset="0"/>
                <a:ea typeface="Calibri" pitchFamily="34" charset="-122"/>
                <a:cs typeface="Calibri" pitchFamily="34" charset="-120"/>
              </a:rPr>
              <a:t>Motors</a:t>
            </a:r>
            <a:endParaRPr lang="en-US" sz="1000" dirty="0"/>
          </a:p>
        </p:txBody>
      </p:sp>
      <p:sp>
        <p:nvSpPr>
          <p:cNvPr id="24" name="Text 22"/>
          <p:cNvSpPr/>
          <p:nvPr/>
        </p:nvSpPr>
        <p:spPr>
          <a:xfrm>
            <a:off x="3611880" y="1901952"/>
            <a:ext cx="1508760" cy="502920"/>
          </a:xfrm>
          <a:prstGeom prst="rect">
            <a:avLst/>
          </a:prstGeom>
          <a:noFill/>
          <a:ln/>
        </p:spPr>
        <p:txBody>
          <a:bodyPr wrap="square" rtlCol="0" anchor="ctr"/>
          <a:lstStyle/>
          <a:p>
            <a:pPr algn="ctr" indent="0" marL="0">
              <a:buNone/>
            </a:pPr>
            <a:r>
              <a:rPr lang="en-US" sz="800" dirty="0">
                <a:solidFill>
                  <a:srgbClr val="8B949E"/>
                </a:solidFill>
                <a:latin typeface="Calibri" pitchFamily="34" charset="0"/>
                <a:ea typeface="Calibri" pitchFamily="34" charset="-122"/>
                <a:cs typeface="Calibri" pitchFamily="34" charset="-120"/>
              </a:rPr>
              <a:t>Physical movement</a:t>
            </a:r>
            <a:endParaRPr lang="en-US" sz="800" dirty="0"/>
          </a:p>
          <a:p>
            <a:pPr algn="ctr" indent="0" marL="0">
              <a:buNone/>
            </a:pPr>
            <a:r>
              <a:rPr lang="en-US" sz="800" dirty="0">
                <a:solidFill>
                  <a:srgbClr val="8B949E"/>
                </a:solidFill>
                <a:latin typeface="Calibri" pitchFamily="34" charset="0"/>
                <a:ea typeface="Calibri" pitchFamily="34" charset="-122"/>
                <a:cs typeface="Calibri" pitchFamily="34" charset="-120"/>
              </a:rPr>
              <a:t>&amp; action</a:t>
            </a:r>
            <a:endParaRPr lang="en-US" sz="800" dirty="0"/>
          </a:p>
        </p:txBody>
      </p:sp>
      <p:sp>
        <p:nvSpPr>
          <p:cNvPr id="25" name="Text 23"/>
          <p:cNvSpPr/>
          <p:nvPr/>
        </p:nvSpPr>
        <p:spPr>
          <a:xfrm>
            <a:off x="5120640" y="1600200"/>
            <a:ext cx="182880" cy="274320"/>
          </a:xfrm>
          <a:prstGeom prst="rect">
            <a:avLst/>
          </a:prstGeom>
          <a:noFill/>
          <a:ln/>
        </p:spPr>
        <p:txBody>
          <a:bodyPr wrap="square" rtlCol="0" anchor="ctr"/>
          <a:lstStyle/>
          <a:p>
            <a:pPr algn="ctr" indent="0" marL="0">
              <a:buNone/>
            </a:pPr>
            <a:r>
              <a:rPr lang="en-US" sz="1400" dirty="0">
                <a:solidFill>
                  <a:srgbClr val="8B949E"/>
                </a:solidFill>
              </a:rPr>
              <a:t>→</a:t>
            </a:r>
            <a:endParaRPr lang="en-US" sz="1400" dirty="0"/>
          </a:p>
        </p:txBody>
      </p:sp>
      <p:sp>
        <p:nvSpPr>
          <p:cNvPr id="26" name="Shape 24"/>
          <p:cNvSpPr/>
          <p:nvPr/>
        </p:nvSpPr>
        <p:spPr>
          <a:xfrm>
            <a:off x="5303520" y="1005840"/>
            <a:ext cx="1508760" cy="1463040"/>
          </a:xfrm>
          <a:prstGeom prst="rect">
            <a:avLst/>
          </a:prstGeom>
          <a:solidFill>
            <a:srgbClr val="161B22"/>
          </a:solidFill>
          <a:ln w="12700">
            <a:solidFill>
              <a:srgbClr val="3FB950"/>
            </a:solidFill>
            <a:prstDash val="solid"/>
          </a:ln>
        </p:spPr>
      </p:sp>
      <p:sp>
        <p:nvSpPr>
          <p:cNvPr id="27" name="Text 25"/>
          <p:cNvSpPr/>
          <p:nvPr/>
        </p:nvSpPr>
        <p:spPr>
          <a:xfrm>
            <a:off x="5303520" y="1097280"/>
            <a:ext cx="1508760" cy="347472"/>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28" name="Text 26"/>
          <p:cNvSpPr/>
          <p:nvPr/>
        </p:nvSpPr>
        <p:spPr>
          <a:xfrm>
            <a:off x="5303520" y="1481328"/>
            <a:ext cx="1508760" cy="402336"/>
          </a:xfrm>
          <a:prstGeom prst="rect">
            <a:avLst/>
          </a:prstGeom>
          <a:noFill/>
          <a:ln/>
        </p:spPr>
        <p:txBody>
          <a:bodyPr wrap="square" rtlCol="0" anchor="ctr"/>
          <a:lstStyle/>
          <a:p>
            <a:pPr algn="ctr" indent="0" marL="0">
              <a:buNone/>
            </a:pPr>
            <a:r>
              <a:rPr lang="en-US" sz="1000" b="1" dirty="0">
                <a:solidFill>
                  <a:srgbClr val="3FB950"/>
                </a:solidFill>
                <a:latin typeface="Calibri" pitchFamily="34" charset="0"/>
                <a:ea typeface="Calibri" pitchFamily="34" charset="-122"/>
                <a:cs typeface="Calibri" pitchFamily="34" charset="-120"/>
              </a:rPr>
              <a:t>Sensor</a:t>
            </a:r>
            <a:endParaRPr lang="en-US" sz="1000" dirty="0"/>
          </a:p>
          <a:p>
            <a:pPr algn="ctr" indent="0" marL="0">
              <a:buNone/>
            </a:pPr>
            <a:r>
              <a:rPr lang="en-US" sz="1000" b="1" dirty="0">
                <a:solidFill>
                  <a:srgbClr val="3FB950"/>
                </a:solidFill>
                <a:latin typeface="Calibri" pitchFamily="34" charset="0"/>
                <a:ea typeface="Calibri" pitchFamily="34" charset="-122"/>
                <a:cs typeface="Calibri" pitchFamily="34" charset="-120"/>
              </a:rPr>
              <a:t>Feedback</a:t>
            </a:r>
            <a:endParaRPr lang="en-US" sz="1000" dirty="0"/>
          </a:p>
        </p:txBody>
      </p:sp>
      <p:sp>
        <p:nvSpPr>
          <p:cNvPr id="29" name="Text 27"/>
          <p:cNvSpPr/>
          <p:nvPr/>
        </p:nvSpPr>
        <p:spPr>
          <a:xfrm>
            <a:off x="5303520" y="1901952"/>
            <a:ext cx="1508760" cy="502920"/>
          </a:xfrm>
          <a:prstGeom prst="rect">
            <a:avLst/>
          </a:prstGeom>
          <a:noFill/>
          <a:ln/>
        </p:spPr>
        <p:txBody>
          <a:bodyPr wrap="square" rtlCol="0" anchor="ctr"/>
          <a:lstStyle/>
          <a:p>
            <a:pPr algn="ctr" indent="0" marL="0">
              <a:buNone/>
            </a:pPr>
            <a:r>
              <a:rPr lang="en-US" sz="800" dirty="0">
                <a:solidFill>
                  <a:srgbClr val="8B949E"/>
                </a:solidFill>
                <a:latin typeface="Calibri" pitchFamily="34" charset="0"/>
                <a:ea typeface="Calibri" pitchFamily="34" charset="-122"/>
                <a:cs typeface="Calibri" pitchFamily="34" charset="-120"/>
              </a:rPr>
              <a:t>Data collection</a:t>
            </a:r>
            <a:endParaRPr lang="en-US" sz="800" dirty="0"/>
          </a:p>
        </p:txBody>
      </p:sp>
      <p:sp>
        <p:nvSpPr>
          <p:cNvPr id="30" name="Text 28"/>
          <p:cNvSpPr/>
          <p:nvPr/>
        </p:nvSpPr>
        <p:spPr>
          <a:xfrm>
            <a:off x="6812280" y="1600200"/>
            <a:ext cx="182880" cy="274320"/>
          </a:xfrm>
          <a:prstGeom prst="rect">
            <a:avLst/>
          </a:prstGeom>
          <a:noFill/>
          <a:ln/>
        </p:spPr>
        <p:txBody>
          <a:bodyPr wrap="square" rtlCol="0" anchor="ctr"/>
          <a:lstStyle/>
          <a:p>
            <a:pPr algn="ctr" indent="0" marL="0">
              <a:buNone/>
            </a:pPr>
            <a:r>
              <a:rPr lang="en-US" sz="1400" dirty="0">
                <a:solidFill>
                  <a:srgbClr val="8B949E"/>
                </a:solidFill>
              </a:rPr>
              <a:t>→</a:t>
            </a:r>
            <a:endParaRPr lang="en-US" sz="1400" dirty="0"/>
          </a:p>
        </p:txBody>
      </p:sp>
      <p:sp>
        <p:nvSpPr>
          <p:cNvPr id="31" name="Shape 29"/>
          <p:cNvSpPr/>
          <p:nvPr/>
        </p:nvSpPr>
        <p:spPr>
          <a:xfrm>
            <a:off x="6995160" y="1005840"/>
            <a:ext cx="1508760" cy="1463040"/>
          </a:xfrm>
          <a:prstGeom prst="rect">
            <a:avLst/>
          </a:prstGeom>
          <a:solidFill>
            <a:srgbClr val="161B22"/>
          </a:solidFill>
          <a:ln w="12700">
            <a:solidFill>
              <a:srgbClr val="BC8CFF"/>
            </a:solidFill>
            <a:prstDash val="solid"/>
          </a:ln>
        </p:spPr>
      </p:sp>
      <p:sp>
        <p:nvSpPr>
          <p:cNvPr id="32" name="Text 30"/>
          <p:cNvSpPr/>
          <p:nvPr/>
        </p:nvSpPr>
        <p:spPr>
          <a:xfrm>
            <a:off x="6995160" y="1097280"/>
            <a:ext cx="1508760" cy="347472"/>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33" name="Text 31"/>
          <p:cNvSpPr/>
          <p:nvPr/>
        </p:nvSpPr>
        <p:spPr>
          <a:xfrm>
            <a:off x="6995160" y="1481328"/>
            <a:ext cx="1508760" cy="402336"/>
          </a:xfrm>
          <a:prstGeom prst="rect">
            <a:avLst/>
          </a:prstGeom>
          <a:noFill/>
          <a:ln/>
        </p:spPr>
        <p:txBody>
          <a:bodyPr wrap="square" rtlCol="0" anchor="ctr"/>
          <a:lstStyle/>
          <a:p>
            <a:pPr algn="ctr" indent="0" marL="0">
              <a:buNone/>
            </a:pPr>
            <a:r>
              <a:rPr lang="en-US" sz="1000" b="1" dirty="0">
                <a:solidFill>
                  <a:srgbClr val="BC8CFF"/>
                </a:solidFill>
                <a:latin typeface="Calibri" pitchFamily="34" charset="0"/>
                <a:ea typeface="Calibri" pitchFamily="34" charset="-122"/>
                <a:cs typeface="Calibri" pitchFamily="34" charset="-120"/>
              </a:rPr>
              <a:t>GUI Display</a:t>
            </a:r>
            <a:endParaRPr lang="en-US" sz="1000" dirty="0"/>
          </a:p>
        </p:txBody>
      </p:sp>
      <p:sp>
        <p:nvSpPr>
          <p:cNvPr id="34" name="Text 32"/>
          <p:cNvSpPr/>
          <p:nvPr/>
        </p:nvSpPr>
        <p:spPr>
          <a:xfrm>
            <a:off x="6995160" y="1901952"/>
            <a:ext cx="1508760" cy="502920"/>
          </a:xfrm>
          <a:prstGeom prst="rect">
            <a:avLst/>
          </a:prstGeom>
          <a:noFill/>
          <a:ln/>
        </p:spPr>
        <p:txBody>
          <a:bodyPr wrap="square" rtlCol="0" anchor="ctr"/>
          <a:lstStyle/>
          <a:p>
            <a:pPr algn="ctr" indent="0" marL="0">
              <a:buNone/>
            </a:pPr>
            <a:r>
              <a:rPr lang="en-US" sz="800" dirty="0">
                <a:solidFill>
                  <a:srgbClr val="8B949E"/>
                </a:solidFill>
                <a:latin typeface="Calibri" pitchFamily="34" charset="0"/>
                <a:ea typeface="Calibri" pitchFamily="34" charset="-122"/>
                <a:cs typeface="Calibri" pitchFamily="34" charset="-120"/>
              </a:rPr>
              <a:t>Visual feedback</a:t>
            </a:r>
            <a:endParaRPr lang="en-US" sz="800" dirty="0"/>
          </a:p>
          <a:p>
            <a:pPr algn="ctr" indent="0" marL="0">
              <a:buNone/>
            </a:pPr>
            <a:r>
              <a:rPr lang="en-US" sz="800" dirty="0">
                <a:solidFill>
                  <a:srgbClr val="8B949E"/>
                </a:solidFill>
                <a:latin typeface="Calibri" pitchFamily="34" charset="0"/>
                <a:ea typeface="Calibri" pitchFamily="34" charset="-122"/>
                <a:cs typeface="Calibri" pitchFamily="34" charset="-120"/>
              </a:rPr>
              <a:t>to operator</a:t>
            </a:r>
            <a:endParaRPr lang="en-US" sz="800" dirty="0"/>
          </a:p>
        </p:txBody>
      </p:sp>
      <p:sp>
        <p:nvSpPr>
          <p:cNvPr id="35" name="Shape 33"/>
          <p:cNvSpPr/>
          <p:nvPr/>
        </p:nvSpPr>
        <p:spPr>
          <a:xfrm>
            <a:off x="228600" y="2651760"/>
            <a:ext cx="8686800" cy="868680"/>
          </a:xfrm>
          <a:prstGeom prst="rect">
            <a:avLst/>
          </a:prstGeom>
          <a:solidFill>
            <a:srgbClr val="161B22"/>
          </a:solidFill>
          <a:ln w="12700">
            <a:solidFill>
              <a:srgbClr val="30363D"/>
            </a:solidFill>
            <a:prstDash val="solid"/>
          </a:ln>
        </p:spPr>
      </p:sp>
      <p:sp>
        <p:nvSpPr>
          <p:cNvPr id="36" name="Text 34"/>
          <p:cNvSpPr/>
          <p:nvPr/>
        </p:nvSpPr>
        <p:spPr>
          <a:xfrm>
            <a:off x="365760" y="2679192"/>
            <a:ext cx="8412480" cy="804672"/>
          </a:xfrm>
          <a:prstGeom prst="rect">
            <a:avLst/>
          </a:prstGeom>
          <a:noFill/>
          <a:ln/>
        </p:spPr>
        <p:txBody>
          <a:bodyPr wrap="square" rtlCol="0" anchor="ctr"/>
          <a:lstStyle/>
          <a:p>
            <a:pPr indent="0" marL="0">
              <a:buNone/>
            </a:pPr>
            <a:r>
              <a:rPr lang="en-US" sz="1000" b="1" dirty="0">
                <a:solidFill>
                  <a:srgbClr val="3FB950"/>
                </a:solidFill>
                <a:latin typeface="Consolas" pitchFamily="34" charset="0"/>
                <a:ea typeface="Consolas" pitchFamily="34" charset="-122"/>
                <a:cs typeface="Consolas" pitchFamily="34" charset="-120"/>
              </a:rPr>
              <a:t># Software Architecture Overview
</a:t>
            </a:r>
            <a:endParaRPr lang="en-US" sz="1000" dirty="0"/>
          </a:p>
          <a:p>
            <a:pPr indent="0" marL="0">
              <a:buNone/>
            </a:pPr>
            <a:r>
              <a:rPr lang="en-US" sz="1000" dirty="0">
                <a:solidFill>
                  <a:srgbClr val="E6EDF3"/>
                </a:solidFill>
                <a:latin typeface="Consolas" pitchFamily="34" charset="0"/>
                <a:ea typeface="Consolas" pitchFamily="34" charset="-122"/>
                <a:cs typeface="Consolas" pitchFamily="34" charset="-120"/>
              </a:rPr>
              <a:t>The software architecture is based on </a:t>
            </a:r>
            <a:pPr indent="0" marL="0">
              <a:buNone/>
            </a:pPr>
            <a:r>
              <a:rPr lang="en-US" sz="1000" b="1" dirty="0">
                <a:solidFill>
                  <a:srgbClr val="58A6FF"/>
                </a:solidFill>
                <a:latin typeface="Consolas" pitchFamily="34" charset="0"/>
                <a:ea typeface="Consolas" pitchFamily="34" charset="-122"/>
                <a:cs typeface="Consolas" pitchFamily="34" charset="-120"/>
              </a:rPr>
              <a:t>ROS 2</a:t>
            </a:r>
            <a:pPr indent="0" marL="0">
              <a:buNone/>
            </a:pPr>
            <a:r>
              <a:rPr lang="en-US" sz="1000" dirty="0">
                <a:solidFill>
                  <a:srgbClr val="E6EDF3"/>
                </a:solidFill>
                <a:latin typeface="Consolas" pitchFamily="34" charset="0"/>
                <a:ea typeface="Consolas" pitchFamily="34" charset="-122"/>
                <a:cs typeface="Consolas" pitchFamily="34" charset="-120"/>
              </a:rPr>
              <a:t> and supports semi-autonomous operation with human supervision.
</a:t>
            </a:r>
            <a:endParaRPr lang="en-US" sz="1000" dirty="0"/>
          </a:p>
          <a:p>
            <a:pPr indent="0" marL="0">
              <a:buNone/>
            </a:pPr>
            <a:r>
              <a:rPr lang="en-US" sz="1000" dirty="0">
                <a:solidFill>
                  <a:srgbClr val="8B949E"/>
                </a:solidFill>
                <a:latin typeface="Consolas" pitchFamily="34" charset="0"/>
                <a:ea typeface="Consolas" pitchFamily="34" charset="-122"/>
                <a:cs typeface="Consolas" pitchFamily="34" charset="-120"/>
              </a:rPr>
              <a:t>Includes: operator control, localization &amp; sensor fusion, motion planning, and hardware control — all through a closed-loop feedback system.</a:t>
            </a:r>
            <a:endParaRPr lang="en-US" sz="1000" dirty="0"/>
          </a:p>
        </p:txBody>
      </p:sp>
      <p:sp>
        <p:nvSpPr>
          <p:cNvPr id="37" name="Shape 35"/>
          <p:cNvSpPr/>
          <p:nvPr/>
        </p:nvSpPr>
        <p:spPr>
          <a:xfrm>
            <a:off x="228600" y="3657600"/>
            <a:ext cx="4069080" cy="1005840"/>
          </a:xfrm>
          <a:prstGeom prst="rect">
            <a:avLst/>
          </a:prstGeom>
          <a:solidFill>
            <a:srgbClr val="161B22"/>
          </a:solidFill>
          <a:ln w="12700">
            <a:solidFill>
              <a:srgbClr val="58A6FF"/>
            </a:solidFill>
            <a:prstDash val="solid"/>
          </a:ln>
        </p:spPr>
      </p:sp>
      <p:sp>
        <p:nvSpPr>
          <p:cNvPr id="38" name="Text 36"/>
          <p:cNvSpPr/>
          <p:nvPr/>
        </p:nvSpPr>
        <p:spPr>
          <a:xfrm>
            <a:off x="365760" y="3703320"/>
            <a:ext cx="1828800" cy="384048"/>
          </a:xfrm>
          <a:prstGeom prst="rect">
            <a:avLst/>
          </a:prstGeom>
          <a:noFill/>
          <a:ln/>
        </p:spPr>
        <p:txBody>
          <a:bodyPr wrap="square" rtlCol="0" anchor="ctr"/>
          <a:lstStyle/>
          <a:p>
            <a:pPr indent="0" marL="0">
              <a:buNone/>
            </a:pPr>
            <a:r>
              <a:rPr lang="en-US" sz="1200" b="1" dirty="0">
                <a:solidFill>
                  <a:srgbClr val="58A6FF"/>
                </a:solidFill>
                <a:latin typeface="Calibri" pitchFamily="34" charset="0"/>
                <a:ea typeface="Calibri" pitchFamily="34" charset="-122"/>
                <a:cs typeface="Calibri" pitchFamily="34" charset="-120"/>
              </a:rPr>
              <a:t>Pattern</a:t>
            </a:r>
            <a:endParaRPr lang="en-US" sz="1200" dirty="0"/>
          </a:p>
          <a:p>
            <a:pPr indent="0" marL="0">
              <a:buNone/>
            </a:pPr>
            <a:r>
              <a:rPr lang="en-US" sz="1200" b="1" dirty="0">
                <a:solidFill>
                  <a:srgbClr val="58A6FF"/>
                </a:solidFill>
                <a:latin typeface="Calibri" pitchFamily="34" charset="0"/>
                <a:ea typeface="Calibri" pitchFamily="34" charset="-122"/>
                <a:cs typeface="Calibri" pitchFamily="34" charset="-120"/>
              </a:rPr>
              <a:t>Estimation</a:t>
            </a:r>
            <a:endParaRPr lang="en-US" sz="1200" dirty="0"/>
          </a:p>
        </p:txBody>
      </p:sp>
      <p:sp>
        <p:nvSpPr>
          <p:cNvPr id="39" name="Text 37"/>
          <p:cNvSpPr/>
          <p:nvPr/>
        </p:nvSpPr>
        <p:spPr>
          <a:xfrm>
            <a:off x="365760" y="4114800"/>
            <a:ext cx="3749040" cy="457200"/>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Selects the pattern</a:t>
            </a:r>
            <a:endParaRPr lang="en-US" sz="1000" dirty="0"/>
          </a:p>
          <a:p>
            <a:pPr indent="0" marL="0">
              <a:buNone/>
            </a:pPr>
            <a:r>
              <a:rPr lang="en-US" sz="1000" dirty="0">
                <a:solidFill>
                  <a:srgbClr val="8B949E"/>
                </a:solidFill>
                <a:latin typeface="Calibri" pitchFamily="34" charset="0"/>
                <a:ea typeface="Calibri" pitchFamily="34" charset="-122"/>
                <a:cs typeface="Calibri" pitchFamily="34" charset="-120"/>
              </a:rPr>
              <a:t>for painting</a:t>
            </a:r>
            <a:endParaRPr lang="en-US" sz="1000" dirty="0"/>
          </a:p>
        </p:txBody>
      </p:sp>
      <p:sp>
        <p:nvSpPr>
          <p:cNvPr id="40" name="Shape 38"/>
          <p:cNvSpPr/>
          <p:nvPr/>
        </p:nvSpPr>
        <p:spPr>
          <a:xfrm>
            <a:off x="4526280" y="3657600"/>
            <a:ext cx="4069080" cy="1005840"/>
          </a:xfrm>
          <a:prstGeom prst="rect">
            <a:avLst/>
          </a:prstGeom>
          <a:solidFill>
            <a:srgbClr val="161B22"/>
          </a:solidFill>
          <a:ln w="12700">
            <a:solidFill>
              <a:srgbClr val="3FB950"/>
            </a:solidFill>
            <a:prstDash val="solid"/>
          </a:ln>
        </p:spPr>
      </p:sp>
      <p:sp>
        <p:nvSpPr>
          <p:cNvPr id="41" name="Text 39"/>
          <p:cNvSpPr/>
          <p:nvPr/>
        </p:nvSpPr>
        <p:spPr>
          <a:xfrm>
            <a:off x="4663440" y="3703320"/>
            <a:ext cx="1828800" cy="384048"/>
          </a:xfrm>
          <a:prstGeom prst="rect">
            <a:avLst/>
          </a:prstGeom>
          <a:noFill/>
          <a:ln/>
        </p:spPr>
        <p:txBody>
          <a:bodyPr wrap="square" rtlCol="0" anchor="ctr"/>
          <a:lstStyle/>
          <a:p>
            <a:pPr indent="0" marL="0">
              <a:buNone/>
            </a:pPr>
            <a:r>
              <a:rPr lang="en-US" sz="1200" b="1" dirty="0">
                <a:solidFill>
                  <a:srgbClr val="3FB950"/>
                </a:solidFill>
                <a:latin typeface="Calibri" pitchFamily="34" charset="0"/>
                <a:ea typeface="Calibri" pitchFamily="34" charset="-122"/>
                <a:cs typeface="Calibri" pitchFamily="34" charset="-120"/>
              </a:rPr>
              <a:t>Path</a:t>
            </a:r>
            <a:endParaRPr lang="en-US" sz="1200" dirty="0"/>
          </a:p>
          <a:p>
            <a:pPr indent="0" marL="0">
              <a:buNone/>
            </a:pPr>
            <a:r>
              <a:rPr lang="en-US" sz="1200" b="1" dirty="0">
                <a:solidFill>
                  <a:srgbClr val="3FB950"/>
                </a:solidFill>
                <a:latin typeface="Calibri" pitchFamily="34" charset="0"/>
                <a:ea typeface="Calibri" pitchFamily="34" charset="-122"/>
                <a:cs typeface="Calibri" pitchFamily="34" charset="-120"/>
              </a:rPr>
              <a:t>Planner</a:t>
            </a:r>
            <a:endParaRPr lang="en-US" sz="1200" dirty="0"/>
          </a:p>
        </p:txBody>
      </p:sp>
      <p:sp>
        <p:nvSpPr>
          <p:cNvPr id="42" name="Text 40"/>
          <p:cNvSpPr/>
          <p:nvPr/>
        </p:nvSpPr>
        <p:spPr>
          <a:xfrm>
            <a:off x="4663440" y="4114800"/>
            <a:ext cx="3749040" cy="457200"/>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Route calculation</a:t>
            </a:r>
            <a:endParaRPr lang="en-US" sz="1000" dirty="0"/>
          </a:p>
          <a:p>
            <a:pPr indent="0" marL="0">
              <a:buNone/>
            </a:pPr>
            <a:r>
              <a:rPr lang="en-US" sz="1000" dirty="0">
                <a:solidFill>
                  <a:srgbClr val="8B949E"/>
                </a:solidFill>
                <a:latin typeface="Calibri" pitchFamily="34" charset="0"/>
                <a:ea typeface="Calibri" pitchFamily="34" charset="-122"/>
                <a:cs typeface="Calibri" pitchFamily="34" charset="-120"/>
              </a:rPr>
              <a:t>and optimization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1B22"/>
          </a:solidFill>
          <a:ln w="12700">
            <a:solidFill>
              <a:srgbClr val="30363D"/>
            </a:solidFill>
            <a:prstDash val="solid"/>
          </a:ln>
        </p:spPr>
      </p:sp>
      <p:sp>
        <p:nvSpPr>
          <p:cNvPr id="3" name="Shape 1"/>
          <p:cNvSpPr/>
          <p:nvPr/>
        </p:nvSpPr>
        <p:spPr>
          <a:xfrm>
            <a:off x="182880" y="91440"/>
            <a:ext cx="411480" cy="411480"/>
          </a:xfrm>
          <a:prstGeom prst="rect">
            <a:avLst/>
          </a:prstGeom>
          <a:solidFill>
            <a:srgbClr val="21262D"/>
          </a:solidFill>
          <a:ln w="12700">
            <a:solidFill>
              <a:srgbClr val="30363D"/>
            </a:solidFill>
            <a:prstDash val="solid"/>
          </a:ln>
        </p:spPr>
      </p:sp>
      <p:sp>
        <p:nvSpPr>
          <p:cNvPr id="4" name="Text 2"/>
          <p:cNvSpPr/>
          <p:nvPr/>
        </p:nvSpPr>
        <p:spPr>
          <a:xfrm>
            <a:off x="182880" y="73152"/>
            <a:ext cx="411480" cy="448056"/>
          </a:xfrm>
          <a:prstGeom prst="rect">
            <a:avLst/>
          </a:prstGeom>
          <a:noFill/>
          <a:ln/>
        </p:spPr>
        <p:txBody>
          <a:bodyPr wrap="square" rtlCol="0" anchor="ctr"/>
          <a:lstStyle/>
          <a:p>
            <a:pPr algn="ctr" indent="0" marL="0">
              <a:buNone/>
            </a:pPr>
            <a:r>
              <a:rPr lang="en-US" sz="1800" dirty="0">
                <a:solidFill>
                  <a:srgbClr val="E6EDF3"/>
                </a:solidFill>
              </a:rPr>
              <a:t>⬡</a:t>
            </a:r>
            <a:endParaRPr lang="en-US" sz="1800" dirty="0"/>
          </a:p>
        </p:txBody>
      </p:sp>
      <p:sp>
        <p:nvSpPr>
          <p:cNvPr id="5" name="Text 3"/>
          <p:cNvSpPr/>
          <p:nvPr/>
        </p:nvSpPr>
        <p:spPr>
          <a:xfrm>
            <a:off x="685800" y="91440"/>
            <a:ext cx="4572000" cy="411480"/>
          </a:xfrm>
          <a:prstGeom prst="rect">
            <a:avLst/>
          </a:prstGeom>
          <a:noFill/>
          <a:ln/>
        </p:spPr>
        <p:txBody>
          <a:bodyPr wrap="square" rtlCol="0" anchor="ctr"/>
          <a:lstStyle/>
          <a:p>
            <a:pPr indent="0" marL="0">
              <a:buNone/>
            </a:pPr>
            <a:r>
              <a:rPr lang="en-US" sz="1000" dirty="0">
                <a:solidFill>
                  <a:srgbClr val="58A6FF"/>
                </a:solidFill>
                <a:latin typeface="Consolas" pitchFamily="34" charset="0"/>
                <a:ea typeface="Consolas" pitchFamily="34" charset="-122"/>
                <a:cs typeface="Consolas" pitchFamily="34" charset="-120"/>
              </a:rPr>
              <a:t>HN-WallBot / udgam-urban-solution</a:t>
            </a:r>
            <a:endParaRPr lang="en-US" sz="1000" dirty="0"/>
          </a:p>
        </p:txBody>
      </p:sp>
      <p:sp>
        <p:nvSpPr>
          <p:cNvPr id="6" name="Text 4"/>
          <p:cNvSpPr/>
          <p:nvPr/>
        </p:nvSpPr>
        <p:spPr>
          <a:xfrm>
            <a:off x="5029200" y="91440"/>
            <a:ext cx="3931920" cy="411480"/>
          </a:xfrm>
          <a:prstGeom prst="rect">
            <a:avLst/>
          </a:prstGeom>
          <a:noFill/>
          <a:ln/>
        </p:spPr>
        <p:txBody>
          <a:bodyPr wrap="square" rtlCol="0" anchor="ctr"/>
          <a:lstStyle/>
          <a:p>
            <a:pPr algn="r" indent="0" marL="0">
              <a:buNone/>
            </a:pPr>
            <a:r>
              <a:rPr lang="en-US" sz="1100" dirty="0">
                <a:solidFill>
                  <a:srgbClr val="8B949E"/>
                </a:solidFill>
                <a:latin typeface="Consolas" pitchFamily="34" charset="0"/>
                <a:ea typeface="Consolas" pitchFamily="34" charset="-122"/>
                <a:cs typeface="Consolas" pitchFamily="34" charset="-120"/>
              </a:rPr>
              <a:t>src/mechanical/technology.md</a:t>
            </a:r>
            <a:endParaRPr lang="en-US" sz="1100" dirty="0"/>
          </a:p>
        </p:txBody>
      </p:sp>
      <p:sp>
        <p:nvSpPr>
          <p:cNvPr id="7" name="Shape 5"/>
          <p:cNvSpPr/>
          <p:nvPr/>
        </p:nvSpPr>
        <p:spPr>
          <a:xfrm>
            <a:off x="0" y="4892040"/>
            <a:ext cx="9144000" cy="251460"/>
          </a:xfrm>
          <a:prstGeom prst="rect">
            <a:avLst/>
          </a:prstGeom>
          <a:solidFill>
            <a:srgbClr val="161B22"/>
          </a:solidFill>
          <a:ln w="12700">
            <a:solidFill>
              <a:srgbClr val="30363D"/>
            </a:solidFill>
            <a:prstDash val="solid"/>
          </a:ln>
        </p:spPr>
      </p:sp>
      <p:sp>
        <p:nvSpPr>
          <p:cNvPr id="8" name="Text 6"/>
          <p:cNvSpPr/>
          <p:nvPr/>
        </p:nvSpPr>
        <p:spPr>
          <a:xfrm>
            <a:off x="274320" y="4901184"/>
            <a:ext cx="8595360" cy="219456"/>
          </a:xfrm>
          <a:prstGeom prst="rect">
            <a:avLst/>
          </a:prstGeom>
          <a:noFill/>
          <a:ln/>
        </p:spPr>
        <p:txBody>
          <a:bodyPr wrap="square" rtlCol="0" anchor="ctr"/>
          <a:lstStyle/>
          <a:p>
            <a:pPr indent="0" marL="0">
              <a:buNone/>
            </a:pPr>
            <a:r>
              <a:rPr lang="en-US" sz="800" dirty="0">
                <a:solidFill>
                  <a:srgbClr val="8B949E"/>
                </a:solidFill>
                <a:latin typeface="Consolas" pitchFamily="34" charset="0"/>
                <a:ea typeface="Consolas" pitchFamily="34" charset="-122"/>
                <a:cs typeface="Consolas" pitchFamily="34" charset="-120"/>
              </a:rPr>
              <a:t>India Innovates 2025  •  Semi-Autonomous Wall Painting Robot</a:t>
            </a:r>
            <a:endParaRPr lang="en-US" sz="800" dirty="0"/>
          </a:p>
        </p:txBody>
      </p:sp>
      <p:sp>
        <p:nvSpPr>
          <p:cNvPr id="9" name="Shape 7"/>
          <p:cNvSpPr/>
          <p:nvPr/>
        </p:nvSpPr>
        <p:spPr>
          <a:xfrm>
            <a:off x="8686800" y="4919472"/>
            <a:ext cx="109728" cy="109728"/>
          </a:xfrm>
          <a:prstGeom prst="ellipse">
            <a:avLst/>
          </a:prstGeom>
          <a:solidFill>
            <a:srgbClr val="3FB950"/>
          </a:solidFill>
          <a:ln w="12700">
            <a:solidFill>
              <a:srgbClr val="3FB950"/>
            </a:solidFill>
            <a:prstDash val="solid"/>
          </a:ln>
        </p:spPr>
      </p:sp>
      <p:sp>
        <p:nvSpPr>
          <p:cNvPr id="10" name="Text 8"/>
          <p:cNvSpPr/>
          <p:nvPr/>
        </p:nvSpPr>
        <p:spPr>
          <a:xfrm>
            <a:off x="274320" y="685800"/>
            <a:ext cx="8229600" cy="256032"/>
          </a:xfrm>
          <a:prstGeom prst="rect">
            <a:avLst/>
          </a:prstGeom>
          <a:noFill/>
          <a:ln/>
        </p:spPr>
        <p:txBody>
          <a:bodyPr wrap="square" rtlCol="0" anchor="ctr"/>
          <a:lstStyle/>
          <a:p>
            <a:pPr indent="0" marL="0">
              <a:buNone/>
            </a:pPr>
            <a:r>
              <a:rPr lang="en-US" sz="1200" b="1" dirty="0">
                <a:solidFill>
                  <a:srgbClr val="F78166"/>
                </a:solidFill>
                <a:latin typeface="Consolas" pitchFamily="34" charset="0"/>
                <a:ea typeface="Consolas" pitchFamily="34" charset="-122"/>
                <a:cs typeface="Consolas" pitchFamily="34" charset="-120"/>
              </a:rPr>
              <a:t>// Technology — Mechanical Design &amp; Manufacturing</a:t>
            </a:r>
            <a:endParaRPr lang="en-US" sz="1200" dirty="0"/>
          </a:p>
        </p:txBody>
      </p:sp>
      <p:sp>
        <p:nvSpPr>
          <p:cNvPr id="11" name="Text 9"/>
          <p:cNvSpPr/>
          <p:nvPr/>
        </p:nvSpPr>
        <p:spPr>
          <a:xfrm>
            <a:off x="228600" y="1005840"/>
            <a:ext cx="2743200" cy="292608"/>
          </a:xfrm>
          <a:prstGeom prst="rect">
            <a:avLst/>
          </a:prstGeom>
          <a:noFill/>
          <a:ln/>
        </p:spPr>
        <p:txBody>
          <a:bodyPr wrap="square" rtlCol="0" anchor="ctr"/>
          <a:lstStyle/>
          <a:p>
            <a:pPr indent="0" marL="0">
              <a:buNone/>
            </a:pPr>
            <a:r>
              <a:rPr lang="en-US" sz="1100" b="1" dirty="0">
                <a:solidFill>
                  <a:srgbClr val="58A6FF"/>
                </a:solidFill>
                <a:latin typeface="Calibri" pitchFamily="34" charset="0"/>
                <a:ea typeface="Calibri" pitchFamily="34" charset="-122"/>
                <a:cs typeface="Calibri" pitchFamily="34" charset="-120"/>
              </a:rPr>
              <a:t>Mechanical Design &amp; Modeling</a:t>
            </a:r>
            <a:endParaRPr lang="en-US" sz="1100" dirty="0"/>
          </a:p>
        </p:txBody>
      </p:sp>
      <p:sp>
        <p:nvSpPr>
          <p:cNvPr id="12" name="Shape 10"/>
          <p:cNvSpPr/>
          <p:nvPr/>
        </p:nvSpPr>
        <p:spPr>
          <a:xfrm>
            <a:off x="228600" y="1371600"/>
            <a:ext cx="2788920" cy="1188720"/>
          </a:xfrm>
          <a:prstGeom prst="rect">
            <a:avLst/>
          </a:prstGeom>
          <a:solidFill>
            <a:srgbClr val="161B22"/>
          </a:solidFill>
          <a:ln w="12700">
            <a:solidFill>
              <a:srgbClr val="58A6FF"/>
            </a:solidFill>
            <a:prstDash val="solid"/>
          </a:ln>
        </p:spPr>
      </p:sp>
      <p:sp>
        <p:nvSpPr>
          <p:cNvPr id="13" name="Shape 11"/>
          <p:cNvSpPr/>
          <p:nvPr/>
        </p:nvSpPr>
        <p:spPr>
          <a:xfrm>
            <a:off x="228600" y="1371600"/>
            <a:ext cx="2788920" cy="36576"/>
          </a:xfrm>
          <a:prstGeom prst="rect">
            <a:avLst/>
          </a:prstGeom>
          <a:solidFill>
            <a:srgbClr val="58A6FF"/>
          </a:solidFill>
          <a:ln w="12700">
            <a:solidFill>
              <a:srgbClr val="58A6FF"/>
            </a:solidFill>
            <a:prstDash val="solid"/>
          </a:ln>
        </p:spPr>
      </p:sp>
      <p:sp>
        <p:nvSpPr>
          <p:cNvPr id="14" name="Text 12"/>
          <p:cNvSpPr/>
          <p:nvPr/>
        </p:nvSpPr>
        <p:spPr>
          <a:xfrm>
            <a:off x="338328" y="1463040"/>
            <a:ext cx="2560320" cy="292608"/>
          </a:xfrm>
          <a:prstGeom prst="rect">
            <a:avLst/>
          </a:prstGeom>
          <a:noFill/>
          <a:ln/>
        </p:spPr>
        <p:txBody>
          <a:bodyPr wrap="square" rtlCol="0" anchor="ctr"/>
          <a:lstStyle/>
          <a:p>
            <a:pPr indent="0" marL="0">
              <a:buNone/>
            </a:pPr>
            <a:r>
              <a:rPr lang="en-US" sz="1050" b="1" dirty="0">
                <a:solidFill>
                  <a:srgbClr val="E6EDF3"/>
                </a:solidFill>
                <a:latin typeface="Calibri" pitchFamily="34" charset="0"/>
                <a:ea typeface="Calibri" pitchFamily="34" charset="-122"/>
                <a:cs typeface="Calibri" pitchFamily="34" charset="-120"/>
              </a:rPr>
              <a:t>SolidWorks / Fusion 360</a:t>
            </a:r>
            <a:endParaRPr lang="en-US" sz="1050" dirty="0"/>
          </a:p>
        </p:txBody>
      </p:sp>
      <p:sp>
        <p:nvSpPr>
          <p:cNvPr id="15" name="Text 13"/>
          <p:cNvSpPr/>
          <p:nvPr/>
        </p:nvSpPr>
        <p:spPr>
          <a:xfrm>
            <a:off x="338328" y="1783080"/>
            <a:ext cx="2560320" cy="713232"/>
          </a:xfrm>
          <a:prstGeom prst="rect">
            <a:avLst/>
          </a:prstGeom>
          <a:noFill/>
          <a:ln/>
        </p:spPr>
        <p:txBody>
          <a:bodyPr wrap="square" rtlCol="0" anchor="ctr"/>
          <a:lstStyle/>
          <a:p>
            <a:pPr indent="0" marL="0">
              <a:buNone/>
            </a:pPr>
            <a:r>
              <a:rPr lang="en-US" sz="950" dirty="0">
                <a:solidFill>
                  <a:srgbClr val="8B949E"/>
                </a:solidFill>
                <a:latin typeface="Calibri" pitchFamily="34" charset="0"/>
                <a:ea typeface="Calibri" pitchFamily="34" charset="-122"/>
                <a:cs typeface="Calibri" pitchFamily="34" charset="-120"/>
              </a:rPr>
              <a:t>3D modeling of chassis, suction plate, wheel assembly, CG analysis</a:t>
            </a:r>
            <a:endParaRPr lang="en-US" sz="950" dirty="0"/>
          </a:p>
        </p:txBody>
      </p:sp>
      <p:sp>
        <p:nvSpPr>
          <p:cNvPr id="16" name="Shape 14"/>
          <p:cNvSpPr/>
          <p:nvPr/>
        </p:nvSpPr>
        <p:spPr>
          <a:xfrm>
            <a:off x="228600" y="2743200"/>
            <a:ext cx="2788920" cy="1188720"/>
          </a:xfrm>
          <a:prstGeom prst="rect">
            <a:avLst/>
          </a:prstGeom>
          <a:solidFill>
            <a:srgbClr val="161B22"/>
          </a:solidFill>
          <a:ln w="12700">
            <a:solidFill>
              <a:srgbClr val="58A6FF"/>
            </a:solidFill>
            <a:prstDash val="solid"/>
          </a:ln>
        </p:spPr>
      </p:sp>
      <p:sp>
        <p:nvSpPr>
          <p:cNvPr id="17" name="Shape 15"/>
          <p:cNvSpPr/>
          <p:nvPr/>
        </p:nvSpPr>
        <p:spPr>
          <a:xfrm>
            <a:off x="228600" y="2743200"/>
            <a:ext cx="2788920" cy="36576"/>
          </a:xfrm>
          <a:prstGeom prst="rect">
            <a:avLst/>
          </a:prstGeom>
          <a:solidFill>
            <a:srgbClr val="58A6FF"/>
          </a:solidFill>
          <a:ln w="12700">
            <a:solidFill>
              <a:srgbClr val="58A6FF"/>
            </a:solidFill>
            <a:prstDash val="solid"/>
          </a:ln>
        </p:spPr>
      </p:sp>
      <p:sp>
        <p:nvSpPr>
          <p:cNvPr id="18" name="Text 16"/>
          <p:cNvSpPr/>
          <p:nvPr/>
        </p:nvSpPr>
        <p:spPr>
          <a:xfrm>
            <a:off x="338328" y="2834640"/>
            <a:ext cx="2560320" cy="292608"/>
          </a:xfrm>
          <a:prstGeom prst="rect">
            <a:avLst/>
          </a:prstGeom>
          <a:noFill/>
          <a:ln/>
        </p:spPr>
        <p:txBody>
          <a:bodyPr wrap="square" rtlCol="0" anchor="ctr"/>
          <a:lstStyle/>
          <a:p>
            <a:pPr indent="0" marL="0">
              <a:buNone/>
            </a:pPr>
            <a:r>
              <a:rPr lang="en-US" sz="1050" b="1" dirty="0">
                <a:solidFill>
                  <a:srgbClr val="E6EDF3"/>
                </a:solidFill>
                <a:latin typeface="Calibri" pitchFamily="34" charset="0"/>
                <a:ea typeface="Calibri" pitchFamily="34" charset="-122"/>
                <a:cs typeface="Calibri" pitchFamily="34" charset="-120"/>
              </a:rPr>
              <a:t>ANSYS</a:t>
            </a:r>
            <a:endParaRPr lang="en-US" sz="1050" dirty="0"/>
          </a:p>
        </p:txBody>
      </p:sp>
      <p:sp>
        <p:nvSpPr>
          <p:cNvPr id="19" name="Text 17"/>
          <p:cNvSpPr/>
          <p:nvPr/>
        </p:nvSpPr>
        <p:spPr>
          <a:xfrm>
            <a:off x="338328" y="3154680"/>
            <a:ext cx="2560320" cy="713232"/>
          </a:xfrm>
          <a:prstGeom prst="rect">
            <a:avLst/>
          </a:prstGeom>
          <a:noFill/>
          <a:ln/>
        </p:spPr>
        <p:txBody>
          <a:bodyPr wrap="square" rtlCol="0" anchor="ctr"/>
          <a:lstStyle/>
          <a:p>
            <a:pPr indent="0" marL="0">
              <a:buNone/>
            </a:pPr>
            <a:r>
              <a:rPr lang="en-US" sz="950" dirty="0">
                <a:solidFill>
                  <a:srgbClr val="8B949E"/>
                </a:solidFill>
                <a:latin typeface="Calibri" pitchFamily="34" charset="0"/>
                <a:ea typeface="Calibri" pitchFamily="34" charset="-122"/>
                <a:cs typeface="Calibri" pitchFamily="34" charset="-120"/>
              </a:rPr>
              <a:t>Structural stress analysis, suction plate deformation study, load distribution, Fluent flow analysis</a:t>
            </a:r>
            <a:endParaRPr lang="en-US" sz="950" dirty="0"/>
          </a:p>
        </p:txBody>
      </p:sp>
      <p:sp>
        <p:nvSpPr>
          <p:cNvPr id="20" name="Text 18"/>
          <p:cNvSpPr/>
          <p:nvPr/>
        </p:nvSpPr>
        <p:spPr>
          <a:xfrm>
            <a:off x="3200400" y="1005840"/>
            <a:ext cx="2743200" cy="292608"/>
          </a:xfrm>
          <a:prstGeom prst="rect">
            <a:avLst/>
          </a:prstGeom>
          <a:noFill/>
          <a:ln/>
        </p:spPr>
        <p:txBody>
          <a:bodyPr wrap="square" rtlCol="0" anchor="ctr"/>
          <a:lstStyle/>
          <a:p>
            <a:pPr indent="0" marL="0">
              <a:buNone/>
            </a:pPr>
            <a:r>
              <a:rPr lang="en-US" sz="1100" b="1" dirty="0">
                <a:solidFill>
                  <a:srgbClr val="3FB950"/>
                </a:solidFill>
                <a:latin typeface="Calibri" pitchFamily="34" charset="0"/>
                <a:ea typeface="Calibri" pitchFamily="34" charset="-122"/>
                <a:cs typeface="Calibri" pitchFamily="34" charset="-120"/>
              </a:rPr>
              <a:t>Locomotion Technology</a:t>
            </a:r>
            <a:endParaRPr lang="en-US" sz="1100" dirty="0"/>
          </a:p>
        </p:txBody>
      </p:sp>
      <p:sp>
        <p:nvSpPr>
          <p:cNvPr id="21" name="Shape 19"/>
          <p:cNvSpPr/>
          <p:nvPr/>
        </p:nvSpPr>
        <p:spPr>
          <a:xfrm>
            <a:off x="3200400" y="1371600"/>
            <a:ext cx="2788920" cy="1188720"/>
          </a:xfrm>
          <a:prstGeom prst="rect">
            <a:avLst/>
          </a:prstGeom>
          <a:solidFill>
            <a:srgbClr val="161B22"/>
          </a:solidFill>
          <a:ln w="12700">
            <a:solidFill>
              <a:srgbClr val="3FB950"/>
            </a:solidFill>
            <a:prstDash val="solid"/>
          </a:ln>
        </p:spPr>
      </p:sp>
      <p:sp>
        <p:nvSpPr>
          <p:cNvPr id="22" name="Shape 20"/>
          <p:cNvSpPr/>
          <p:nvPr/>
        </p:nvSpPr>
        <p:spPr>
          <a:xfrm>
            <a:off x="3200400" y="1371600"/>
            <a:ext cx="2788920" cy="36576"/>
          </a:xfrm>
          <a:prstGeom prst="rect">
            <a:avLst/>
          </a:prstGeom>
          <a:solidFill>
            <a:srgbClr val="3FB950"/>
          </a:solidFill>
          <a:ln w="12700">
            <a:solidFill>
              <a:srgbClr val="3FB950"/>
            </a:solidFill>
            <a:prstDash val="solid"/>
          </a:ln>
        </p:spPr>
      </p:sp>
      <p:sp>
        <p:nvSpPr>
          <p:cNvPr id="23" name="Text 21"/>
          <p:cNvSpPr/>
          <p:nvPr/>
        </p:nvSpPr>
        <p:spPr>
          <a:xfrm>
            <a:off x="3310128" y="1463040"/>
            <a:ext cx="2560320" cy="292608"/>
          </a:xfrm>
          <a:prstGeom prst="rect">
            <a:avLst/>
          </a:prstGeom>
          <a:noFill/>
          <a:ln/>
        </p:spPr>
        <p:txBody>
          <a:bodyPr wrap="square" rtlCol="0" anchor="ctr"/>
          <a:lstStyle/>
          <a:p>
            <a:pPr indent="0" marL="0">
              <a:buNone/>
            </a:pPr>
            <a:r>
              <a:rPr lang="en-US" sz="1050" b="1" dirty="0">
                <a:solidFill>
                  <a:srgbClr val="E6EDF3"/>
                </a:solidFill>
                <a:latin typeface="Calibri" pitchFamily="34" charset="0"/>
                <a:ea typeface="Calibri" pitchFamily="34" charset="-122"/>
                <a:cs typeface="Calibri" pitchFamily="34" charset="-120"/>
              </a:rPr>
              <a:t>Conveyor-Based Wheel Drive</a:t>
            </a:r>
            <a:endParaRPr lang="en-US" sz="1050" dirty="0"/>
          </a:p>
        </p:txBody>
      </p:sp>
      <p:sp>
        <p:nvSpPr>
          <p:cNvPr id="24" name="Text 22"/>
          <p:cNvSpPr/>
          <p:nvPr/>
        </p:nvSpPr>
        <p:spPr>
          <a:xfrm>
            <a:off x="3310128" y="1783080"/>
            <a:ext cx="2560320" cy="713232"/>
          </a:xfrm>
          <a:prstGeom prst="rect">
            <a:avLst/>
          </a:prstGeom>
          <a:noFill/>
          <a:ln/>
        </p:spPr>
        <p:txBody>
          <a:bodyPr wrap="square" rtlCol="0" anchor="ctr"/>
          <a:lstStyle/>
          <a:p>
            <a:pPr indent="0" marL="0">
              <a:buNone/>
            </a:pPr>
            <a:r>
              <a:rPr lang="en-US" sz="950" dirty="0">
                <a:solidFill>
                  <a:srgbClr val="8B949E"/>
                </a:solidFill>
                <a:latin typeface="Calibri" pitchFamily="34" charset="0"/>
                <a:ea typeface="Calibri" pitchFamily="34" charset="-122"/>
                <a:cs typeface="Calibri" pitchFamily="34" charset="-120"/>
              </a:rPr>
              <a:t>Increased surface contact</a:t>
            </a:r>
            <a:endParaRPr lang="en-US" sz="950" dirty="0"/>
          </a:p>
          <a:p>
            <a:pPr indent="0" marL="0">
              <a:buNone/>
            </a:pPr>
            <a:r>
              <a:rPr lang="en-US" sz="950" dirty="0">
                <a:solidFill>
                  <a:srgbClr val="8B949E"/>
                </a:solidFill>
                <a:latin typeface="Calibri" pitchFamily="34" charset="0"/>
                <a:ea typeface="Calibri" pitchFamily="34" charset="-122"/>
                <a:cs typeface="Calibri" pitchFamily="34" charset="-120"/>
              </a:rPr>
              <a:t>Better traction on all facades</a:t>
            </a:r>
            <a:endParaRPr lang="en-US" sz="950" dirty="0"/>
          </a:p>
        </p:txBody>
      </p:sp>
      <p:sp>
        <p:nvSpPr>
          <p:cNvPr id="25" name="Shape 23"/>
          <p:cNvSpPr/>
          <p:nvPr/>
        </p:nvSpPr>
        <p:spPr>
          <a:xfrm>
            <a:off x="3200400" y="2743200"/>
            <a:ext cx="2788920" cy="1188720"/>
          </a:xfrm>
          <a:prstGeom prst="rect">
            <a:avLst/>
          </a:prstGeom>
          <a:solidFill>
            <a:srgbClr val="161B22"/>
          </a:solidFill>
          <a:ln w="12700">
            <a:solidFill>
              <a:srgbClr val="3FB950"/>
            </a:solidFill>
            <a:prstDash val="solid"/>
          </a:ln>
        </p:spPr>
      </p:sp>
      <p:sp>
        <p:nvSpPr>
          <p:cNvPr id="26" name="Shape 24"/>
          <p:cNvSpPr/>
          <p:nvPr/>
        </p:nvSpPr>
        <p:spPr>
          <a:xfrm>
            <a:off x="3200400" y="2743200"/>
            <a:ext cx="2788920" cy="36576"/>
          </a:xfrm>
          <a:prstGeom prst="rect">
            <a:avLst/>
          </a:prstGeom>
          <a:solidFill>
            <a:srgbClr val="3FB950"/>
          </a:solidFill>
          <a:ln w="12700">
            <a:solidFill>
              <a:srgbClr val="3FB950"/>
            </a:solidFill>
            <a:prstDash val="solid"/>
          </a:ln>
        </p:spPr>
      </p:sp>
      <p:sp>
        <p:nvSpPr>
          <p:cNvPr id="27" name="Text 25"/>
          <p:cNvSpPr/>
          <p:nvPr/>
        </p:nvSpPr>
        <p:spPr>
          <a:xfrm>
            <a:off x="3310128" y="2834640"/>
            <a:ext cx="2560320" cy="292608"/>
          </a:xfrm>
          <a:prstGeom prst="rect">
            <a:avLst/>
          </a:prstGeom>
          <a:noFill/>
          <a:ln/>
        </p:spPr>
        <p:txBody>
          <a:bodyPr wrap="square" rtlCol="0" anchor="ctr"/>
          <a:lstStyle/>
          <a:p>
            <a:pPr indent="0" marL="0">
              <a:buNone/>
            </a:pPr>
            <a:r>
              <a:rPr lang="en-US" sz="1050" b="1" dirty="0">
                <a:solidFill>
                  <a:srgbClr val="E6EDF3"/>
                </a:solidFill>
                <a:latin typeface="Calibri" pitchFamily="34" charset="0"/>
                <a:ea typeface="Calibri" pitchFamily="34" charset="-122"/>
                <a:cs typeface="Calibri" pitchFamily="34" charset="-120"/>
              </a:rPr>
              <a:t>DC Gear Motors</a:t>
            </a:r>
            <a:endParaRPr lang="en-US" sz="1050" dirty="0"/>
          </a:p>
        </p:txBody>
      </p:sp>
      <p:sp>
        <p:nvSpPr>
          <p:cNvPr id="28" name="Text 26"/>
          <p:cNvSpPr/>
          <p:nvPr/>
        </p:nvSpPr>
        <p:spPr>
          <a:xfrm>
            <a:off x="3310128" y="3154680"/>
            <a:ext cx="2560320" cy="713232"/>
          </a:xfrm>
          <a:prstGeom prst="rect">
            <a:avLst/>
          </a:prstGeom>
          <a:noFill/>
          <a:ln/>
        </p:spPr>
        <p:txBody>
          <a:bodyPr wrap="square" rtlCol="0" anchor="ctr"/>
          <a:lstStyle/>
          <a:p>
            <a:pPr indent="0" marL="0">
              <a:buNone/>
            </a:pPr>
            <a:r>
              <a:rPr lang="en-US" sz="950" dirty="0">
                <a:solidFill>
                  <a:srgbClr val="8B949E"/>
                </a:solidFill>
                <a:latin typeface="Calibri" pitchFamily="34" charset="0"/>
                <a:ea typeface="Calibri" pitchFamily="34" charset="-122"/>
                <a:cs typeface="Calibri" pitchFamily="34" charset="-120"/>
              </a:rPr>
              <a:t>High torque at low RPM</a:t>
            </a:r>
            <a:endParaRPr lang="en-US" sz="950" dirty="0"/>
          </a:p>
          <a:p>
            <a:pPr indent="0" marL="0">
              <a:buNone/>
            </a:pPr>
            <a:r>
              <a:rPr lang="en-US" sz="950" dirty="0">
                <a:solidFill>
                  <a:srgbClr val="8B949E"/>
                </a:solidFill>
                <a:latin typeface="Calibri" pitchFamily="34" charset="0"/>
                <a:ea typeface="Calibri" pitchFamily="34" charset="-122"/>
                <a:cs typeface="Calibri" pitchFamily="34" charset="-120"/>
              </a:rPr>
              <a:t>Controlled vertical climbing</a:t>
            </a:r>
            <a:endParaRPr lang="en-US" sz="950" dirty="0"/>
          </a:p>
        </p:txBody>
      </p:sp>
      <p:sp>
        <p:nvSpPr>
          <p:cNvPr id="29" name="Text 27"/>
          <p:cNvSpPr/>
          <p:nvPr/>
        </p:nvSpPr>
        <p:spPr>
          <a:xfrm>
            <a:off x="6172200" y="1005840"/>
            <a:ext cx="2743200" cy="292608"/>
          </a:xfrm>
          <a:prstGeom prst="rect">
            <a:avLst/>
          </a:prstGeom>
          <a:noFill/>
          <a:ln/>
        </p:spPr>
        <p:txBody>
          <a:bodyPr wrap="square" rtlCol="0" anchor="ctr"/>
          <a:lstStyle/>
          <a:p>
            <a:pPr indent="0" marL="0">
              <a:buNone/>
            </a:pPr>
            <a:r>
              <a:rPr lang="en-US" sz="1100" b="1" dirty="0">
                <a:solidFill>
                  <a:srgbClr val="D29922"/>
                </a:solidFill>
                <a:latin typeface="Calibri" pitchFamily="34" charset="0"/>
                <a:ea typeface="Calibri" pitchFamily="34" charset="-122"/>
                <a:cs typeface="Calibri" pitchFamily="34" charset="-120"/>
              </a:rPr>
              <a:t>Manufacturing Technologies</a:t>
            </a:r>
            <a:endParaRPr lang="en-US" sz="1100" dirty="0"/>
          </a:p>
        </p:txBody>
      </p:sp>
      <p:sp>
        <p:nvSpPr>
          <p:cNvPr id="30" name="Shape 28"/>
          <p:cNvSpPr/>
          <p:nvPr/>
        </p:nvSpPr>
        <p:spPr>
          <a:xfrm>
            <a:off x="6172200" y="1371600"/>
            <a:ext cx="2788920" cy="1188720"/>
          </a:xfrm>
          <a:prstGeom prst="rect">
            <a:avLst/>
          </a:prstGeom>
          <a:solidFill>
            <a:srgbClr val="161B22"/>
          </a:solidFill>
          <a:ln w="12700">
            <a:solidFill>
              <a:srgbClr val="D29922"/>
            </a:solidFill>
            <a:prstDash val="solid"/>
          </a:ln>
        </p:spPr>
      </p:sp>
      <p:sp>
        <p:nvSpPr>
          <p:cNvPr id="31" name="Shape 29"/>
          <p:cNvSpPr/>
          <p:nvPr/>
        </p:nvSpPr>
        <p:spPr>
          <a:xfrm>
            <a:off x="6172200" y="1371600"/>
            <a:ext cx="2788920" cy="36576"/>
          </a:xfrm>
          <a:prstGeom prst="rect">
            <a:avLst/>
          </a:prstGeom>
          <a:solidFill>
            <a:srgbClr val="D29922"/>
          </a:solidFill>
          <a:ln w="12700">
            <a:solidFill>
              <a:srgbClr val="D29922"/>
            </a:solidFill>
            <a:prstDash val="solid"/>
          </a:ln>
        </p:spPr>
      </p:sp>
      <p:sp>
        <p:nvSpPr>
          <p:cNvPr id="32" name="Text 30"/>
          <p:cNvSpPr/>
          <p:nvPr/>
        </p:nvSpPr>
        <p:spPr>
          <a:xfrm>
            <a:off x="6281928" y="1463040"/>
            <a:ext cx="2560320" cy="292608"/>
          </a:xfrm>
          <a:prstGeom prst="rect">
            <a:avLst/>
          </a:prstGeom>
          <a:noFill/>
          <a:ln/>
        </p:spPr>
        <p:txBody>
          <a:bodyPr wrap="square" rtlCol="0" anchor="ctr"/>
          <a:lstStyle/>
          <a:p>
            <a:pPr indent="0" marL="0">
              <a:buNone/>
            </a:pPr>
            <a:r>
              <a:rPr lang="en-US" sz="1050" b="1" dirty="0">
                <a:solidFill>
                  <a:srgbClr val="E6EDF3"/>
                </a:solidFill>
                <a:latin typeface="Calibri" pitchFamily="34" charset="0"/>
                <a:ea typeface="Calibri" pitchFamily="34" charset="-122"/>
                <a:cs typeface="Calibri" pitchFamily="34" charset="-120"/>
              </a:rPr>
              <a:t>3D Printing (FDM)</a:t>
            </a:r>
            <a:endParaRPr lang="en-US" sz="1050" dirty="0"/>
          </a:p>
        </p:txBody>
      </p:sp>
      <p:sp>
        <p:nvSpPr>
          <p:cNvPr id="33" name="Text 31"/>
          <p:cNvSpPr/>
          <p:nvPr/>
        </p:nvSpPr>
        <p:spPr>
          <a:xfrm>
            <a:off x="6281928" y="1783080"/>
            <a:ext cx="2560320" cy="713232"/>
          </a:xfrm>
          <a:prstGeom prst="rect">
            <a:avLst/>
          </a:prstGeom>
          <a:noFill/>
          <a:ln/>
        </p:spPr>
        <p:txBody>
          <a:bodyPr wrap="square" rtlCol="0" anchor="ctr"/>
          <a:lstStyle/>
          <a:p>
            <a:pPr indent="0" marL="0">
              <a:buNone/>
            </a:pPr>
            <a:r>
              <a:rPr lang="en-US" sz="950" dirty="0">
                <a:solidFill>
                  <a:srgbClr val="8B949E"/>
                </a:solidFill>
                <a:latin typeface="Calibri" pitchFamily="34" charset="0"/>
                <a:ea typeface="Calibri" pitchFamily="34" charset="-122"/>
                <a:cs typeface="Calibri" pitchFamily="34" charset="-120"/>
              </a:rPr>
              <a:t>Motor mounts, pump holders, custom brackets</a:t>
            </a:r>
            <a:endParaRPr lang="en-US" sz="950" dirty="0"/>
          </a:p>
        </p:txBody>
      </p:sp>
      <p:sp>
        <p:nvSpPr>
          <p:cNvPr id="34" name="Shape 32"/>
          <p:cNvSpPr/>
          <p:nvPr/>
        </p:nvSpPr>
        <p:spPr>
          <a:xfrm>
            <a:off x="6172200" y="2743200"/>
            <a:ext cx="2788920" cy="1188720"/>
          </a:xfrm>
          <a:prstGeom prst="rect">
            <a:avLst/>
          </a:prstGeom>
          <a:solidFill>
            <a:srgbClr val="161B22"/>
          </a:solidFill>
          <a:ln w="12700">
            <a:solidFill>
              <a:srgbClr val="D29922"/>
            </a:solidFill>
            <a:prstDash val="solid"/>
          </a:ln>
        </p:spPr>
      </p:sp>
      <p:sp>
        <p:nvSpPr>
          <p:cNvPr id="35" name="Shape 33"/>
          <p:cNvSpPr/>
          <p:nvPr/>
        </p:nvSpPr>
        <p:spPr>
          <a:xfrm>
            <a:off x="6172200" y="2743200"/>
            <a:ext cx="2788920" cy="36576"/>
          </a:xfrm>
          <a:prstGeom prst="rect">
            <a:avLst/>
          </a:prstGeom>
          <a:solidFill>
            <a:srgbClr val="D29922"/>
          </a:solidFill>
          <a:ln w="12700">
            <a:solidFill>
              <a:srgbClr val="D29922"/>
            </a:solidFill>
            <a:prstDash val="solid"/>
          </a:ln>
        </p:spPr>
      </p:sp>
      <p:sp>
        <p:nvSpPr>
          <p:cNvPr id="36" name="Text 34"/>
          <p:cNvSpPr/>
          <p:nvPr/>
        </p:nvSpPr>
        <p:spPr>
          <a:xfrm>
            <a:off x="6281928" y="2834640"/>
            <a:ext cx="2560320" cy="292608"/>
          </a:xfrm>
          <a:prstGeom prst="rect">
            <a:avLst/>
          </a:prstGeom>
          <a:noFill/>
          <a:ln/>
        </p:spPr>
        <p:txBody>
          <a:bodyPr wrap="square" rtlCol="0" anchor="ctr"/>
          <a:lstStyle/>
          <a:p>
            <a:pPr indent="0" marL="0">
              <a:buNone/>
            </a:pPr>
            <a:r>
              <a:rPr lang="en-US" sz="1050" b="1" dirty="0">
                <a:solidFill>
                  <a:srgbClr val="E6EDF3"/>
                </a:solidFill>
                <a:latin typeface="Calibri" pitchFamily="34" charset="0"/>
                <a:ea typeface="Calibri" pitchFamily="34" charset="-122"/>
                <a:cs typeface="Calibri" pitchFamily="34" charset="-120"/>
              </a:rPr>
              <a:t>Laser Cutting</a:t>
            </a:r>
            <a:endParaRPr lang="en-US" sz="1050" dirty="0"/>
          </a:p>
        </p:txBody>
      </p:sp>
      <p:sp>
        <p:nvSpPr>
          <p:cNvPr id="37" name="Text 35"/>
          <p:cNvSpPr/>
          <p:nvPr/>
        </p:nvSpPr>
        <p:spPr>
          <a:xfrm>
            <a:off x="6281928" y="3154680"/>
            <a:ext cx="2560320" cy="713232"/>
          </a:xfrm>
          <a:prstGeom prst="rect">
            <a:avLst/>
          </a:prstGeom>
          <a:noFill/>
          <a:ln/>
        </p:spPr>
        <p:txBody>
          <a:bodyPr wrap="square" rtlCol="0" anchor="ctr"/>
          <a:lstStyle/>
          <a:p>
            <a:pPr indent="0" marL="0">
              <a:buNone/>
            </a:pPr>
            <a:r>
              <a:rPr lang="en-US" sz="950" dirty="0">
                <a:solidFill>
                  <a:srgbClr val="8B949E"/>
                </a:solidFill>
                <a:latin typeface="Calibri" pitchFamily="34" charset="0"/>
                <a:ea typeface="Calibri" pitchFamily="34" charset="-122"/>
                <a:cs typeface="Calibri" pitchFamily="34" charset="-120"/>
              </a:rPr>
              <a:t>Frame plates</a:t>
            </a:r>
            <a:endParaRPr lang="en-US" sz="950" dirty="0"/>
          </a:p>
          <a:p>
            <a:pPr indent="0" marL="0">
              <a:buNone/>
            </a:pPr>
            <a:r>
              <a:rPr lang="en-US" sz="950" dirty="0">
                <a:solidFill>
                  <a:srgbClr val="8B949E"/>
                </a:solidFill>
                <a:latin typeface="Calibri" pitchFamily="34" charset="0"/>
                <a:ea typeface="Calibri" pitchFamily="34" charset="-122"/>
                <a:cs typeface="Calibri" pitchFamily="34" charset="-120"/>
              </a:rPr>
              <a:t>Structural supports</a:t>
            </a:r>
            <a:endParaRPr lang="en-US" sz="950" dirty="0"/>
          </a:p>
        </p:txBody>
      </p:sp>
      <p:sp>
        <p:nvSpPr>
          <p:cNvPr id="38" name="Shape 36"/>
          <p:cNvSpPr/>
          <p:nvPr/>
        </p:nvSpPr>
        <p:spPr>
          <a:xfrm>
            <a:off x="6172200" y="4114800"/>
            <a:ext cx="2788920" cy="1188720"/>
          </a:xfrm>
          <a:prstGeom prst="rect">
            <a:avLst/>
          </a:prstGeom>
          <a:solidFill>
            <a:srgbClr val="161B22"/>
          </a:solidFill>
          <a:ln w="12700">
            <a:solidFill>
              <a:srgbClr val="D29922"/>
            </a:solidFill>
            <a:prstDash val="solid"/>
          </a:ln>
        </p:spPr>
      </p:sp>
      <p:sp>
        <p:nvSpPr>
          <p:cNvPr id="39" name="Shape 37"/>
          <p:cNvSpPr/>
          <p:nvPr/>
        </p:nvSpPr>
        <p:spPr>
          <a:xfrm>
            <a:off x="6172200" y="4114800"/>
            <a:ext cx="2788920" cy="36576"/>
          </a:xfrm>
          <a:prstGeom prst="rect">
            <a:avLst/>
          </a:prstGeom>
          <a:solidFill>
            <a:srgbClr val="D29922"/>
          </a:solidFill>
          <a:ln w="12700">
            <a:solidFill>
              <a:srgbClr val="D29922"/>
            </a:solidFill>
            <a:prstDash val="solid"/>
          </a:ln>
        </p:spPr>
      </p:sp>
      <p:sp>
        <p:nvSpPr>
          <p:cNvPr id="40" name="Text 38"/>
          <p:cNvSpPr/>
          <p:nvPr/>
        </p:nvSpPr>
        <p:spPr>
          <a:xfrm>
            <a:off x="6281928" y="4206240"/>
            <a:ext cx="2560320" cy="292608"/>
          </a:xfrm>
          <a:prstGeom prst="rect">
            <a:avLst/>
          </a:prstGeom>
          <a:noFill/>
          <a:ln/>
        </p:spPr>
        <p:txBody>
          <a:bodyPr wrap="square" rtlCol="0" anchor="ctr"/>
          <a:lstStyle/>
          <a:p>
            <a:pPr indent="0" marL="0">
              <a:buNone/>
            </a:pPr>
            <a:r>
              <a:rPr lang="en-US" sz="1050" b="1" dirty="0">
                <a:solidFill>
                  <a:srgbClr val="E6EDF3"/>
                </a:solidFill>
                <a:latin typeface="Calibri" pitchFamily="34" charset="0"/>
                <a:ea typeface="Calibri" pitchFamily="34" charset="-122"/>
                <a:cs typeface="Calibri" pitchFamily="34" charset="-120"/>
              </a:rPr>
              <a:t>Adhesion Technology</a:t>
            </a:r>
            <a:endParaRPr lang="en-US" sz="1050" dirty="0"/>
          </a:p>
        </p:txBody>
      </p:sp>
      <p:sp>
        <p:nvSpPr>
          <p:cNvPr id="41" name="Text 39"/>
          <p:cNvSpPr/>
          <p:nvPr/>
        </p:nvSpPr>
        <p:spPr>
          <a:xfrm>
            <a:off x="6281928" y="4526280"/>
            <a:ext cx="2560320" cy="713232"/>
          </a:xfrm>
          <a:prstGeom prst="rect">
            <a:avLst/>
          </a:prstGeom>
          <a:noFill/>
          <a:ln/>
        </p:spPr>
        <p:txBody>
          <a:bodyPr wrap="square" rtlCol="0" anchor="ctr"/>
          <a:lstStyle/>
          <a:p>
            <a:pPr indent="0" marL="0">
              <a:buNone/>
            </a:pPr>
            <a:r>
              <a:rPr lang="en-US" sz="950" dirty="0">
                <a:solidFill>
                  <a:srgbClr val="8B949E"/>
                </a:solidFill>
                <a:latin typeface="Calibri" pitchFamily="34" charset="0"/>
                <a:ea typeface="Calibri" pitchFamily="34" charset="-122"/>
                <a:cs typeface="Calibri" pitchFamily="34" charset="-120"/>
              </a:rPr>
              <a:t>Vacuum-Based Suction System</a:t>
            </a:r>
            <a:endParaRPr lang="en-US" sz="950" dirty="0"/>
          </a:p>
          <a:p>
            <a:pPr indent="0" marL="0">
              <a:buNone/>
            </a:pPr>
            <a:r>
              <a:rPr lang="en-US" sz="950" dirty="0">
                <a:solidFill>
                  <a:srgbClr val="8B949E"/>
                </a:solidFill>
                <a:latin typeface="Calibri" pitchFamily="34" charset="0"/>
                <a:ea typeface="Calibri" pitchFamily="34" charset="-122"/>
                <a:cs typeface="Calibri" pitchFamily="34" charset="-120"/>
              </a:rPr>
              <a:t>Enables vertical wall climbing</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1B22"/>
          </a:solidFill>
          <a:ln w="12700">
            <a:solidFill>
              <a:srgbClr val="30363D"/>
            </a:solidFill>
            <a:prstDash val="solid"/>
          </a:ln>
        </p:spPr>
      </p:sp>
      <p:sp>
        <p:nvSpPr>
          <p:cNvPr id="3" name="Shape 1"/>
          <p:cNvSpPr/>
          <p:nvPr/>
        </p:nvSpPr>
        <p:spPr>
          <a:xfrm>
            <a:off x="182880" y="91440"/>
            <a:ext cx="411480" cy="411480"/>
          </a:xfrm>
          <a:prstGeom prst="rect">
            <a:avLst/>
          </a:prstGeom>
          <a:solidFill>
            <a:srgbClr val="21262D"/>
          </a:solidFill>
          <a:ln w="12700">
            <a:solidFill>
              <a:srgbClr val="30363D"/>
            </a:solidFill>
            <a:prstDash val="solid"/>
          </a:ln>
        </p:spPr>
      </p:sp>
      <p:sp>
        <p:nvSpPr>
          <p:cNvPr id="4" name="Text 2"/>
          <p:cNvSpPr/>
          <p:nvPr/>
        </p:nvSpPr>
        <p:spPr>
          <a:xfrm>
            <a:off x="182880" y="73152"/>
            <a:ext cx="411480" cy="448056"/>
          </a:xfrm>
          <a:prstGeom prst="rect">
            <a:avLst/>
          </a:prstGeom>
          <a:noFill/>
          <a:ln/>
        </p:spPr>
        <p:txBody>
          <a:bodyPr wrap="square" rtlCol="0" anchor="ctr"/>
          <a:lstStyle/>
          <a:p>
            <a:pPr algn="ctr" indent="0" marL="0">
              <a:buNone/>
            </a:pPr>
            <a:r>
              <a:rPr lang="en-US" sz="1800" dirty="0">
                <a:solidFill>
                  <a:srgbClr val="E6EDF3"/>
                </a:solidFill>
              </a:rPr>
              <a:t>⬡</a:t>
            </a:r>
            <a:endParaRPr lang="en-US" sz="1800" dirty="0"/>
          </a:p>
        </p:txBody>
      </p:sp>
      <p:sp>
        <p:nvSpPr>
          <p:cNvPr id="5" name="Text 3"/>
          <p:cNvSpPr/>
          <p:nvPr/>
        </p:nvSpPr>
        <p:spPr>
          <a:xfrm>
            <a:off x="685800" y="91440"/>
            <a:ext cx="4572000" cy="411480"/>
          </a:xfrm>
          <a:prstGeom prst="rect">
            <a:avLst/>
          </a:prstGeom>
          <a:noFill/>
          <a:ln/>
        </p:spPr>
        <p:txBody>
          <a:bodyPr wrap="square" rtlCol="0" anchor="ctr"/>
          <a:lstStyle/>
          <a:p>
            <a:pPr indent="0" marL="0">
              <a:buNone/>
            </a:pPr>
            <a:r>
              <a:rPr lang="en-US" sz="1000" dirty="0">
                <a:solidFill>
                  <a:srgbClr val="58A6FF"/>
                </a:solidFill>
                <a:latin typeface="Consolas" pitchFamily="34" charset="0"/>
                <a:ea typeface="Consolas" pitchFamily="34" charset="-122"/>
                <a:cs typeface="Consolas" pitchFamily="34" charset="-120"/>
              </a:rPr>
              <a:t>HN-WallBot / udgam-urban-solution</a:t>
            </a:r>
            <a:endParaRPr lang="en-US" sz="1000" dirty="0"/>
          </a:p>
        </p:txBody>
      </p:sp>
      <p:sp>
        <p:nvSpPr>
          <p:cNvPr id="6" name="Text 4"/>
          <p:cNvSpPr/>
          <p:nvPr/>
        </p:nvSpPr>
        <p:spPr>
          <a:xfrm>
            <a:off x="5029200" y="91440"/>
            <a:ext cx="3931920" cy="411480"/>
          </a:xfrm>
          <a:prstGeom prst="rect">
            <a:avLst/>
          </a:prstGeom>
          <a:noFill/>
          <a:ln/>
        </p:spPr>
        <p:txBody>
          <a:bodyPr wrap="square" rtlCol="0" anchor="ctr"/>
          <a:lstStyle/>
          <a:p>
            <a:pPr algn="r" indent="0" marL="0">
              <a:buNone/>
            </a:pPr>
            <a:r>
              <a:rPr lang="en-US" sz="1100" dirty="0">
                <a:solidFill>
                  <a:srgbClr val="8B949E"/>
                </a:solidFill>
                <a:latin typeface="Consolas" pitchFamily="34" charset="0"/>
                <a:ea typeface="Consolas" pitchFamily="34" charset="-122"/>
                <a:cs typeface="Consolas" pitchFamily="34" charset="-120"/>
              </a:rPr>
              <a:t>src/electronics/technology.md</a:t>
            </a:r>
            <a:endParaRPr lang="en-US" sz="1100" dirty="0"/>
          </a:p>
        </p:txBody>
      </p:sp>
      <p:sp>
        <p:nvSpPr>
          <p:cNvPr id="7" name="Shape 5"/>
          <p:cNvSpPr/>
          <p:nvPr/>
        </p:nvSpPr>
        <p:spPr>
          <a:xfrm>
            <a:off x="0" y="4892040"/>
            <a:ext cx="9144000" cy="251460"/>
          </a:xfrm>
          <a:prstGeom prst="rect">
            <a:avLst/>
          </a:prstGeom>
          <a:solidFill>
            <a:srgbClr val="161B22"/>
          </a:solidFill>
          <a:ln w="12700">
            <a:solidFill>
              <a:srgbClr val="30363D"/>
            </a:solidFill>
            <a:prstDash val="solid"/>
          </a:ln>
        </p:spPr>
      </p:sp>
      <p:sp>
        <p:nvSpPr>
          <p:cNvPr id="8" name="Text 6"/>
          <p:cNvSpPr/>
          <p:nvPr/>
        </p:nvSpPr>
        <p:spPr>
          <a:xfrm>
            <a:off x="274320" y="4901184"/>
            <a:ext cx="8595360" cy="219456"/>
          </a:xfrm>
          <a:prstGeom prst="rect">
            <a:avLst/>
          </a:prstGeom>
          <a:noFill/>
          <a:ln/>
        </p:spPr>
        <p:txBody>
          <a:bodyPr wrap="square" rtlCol="0" anchor="ctr"/>
          <a:lstStyle/>
          <a:p>
            <a:pPr indent="0" marL="0">
              <a:buNone/>
            </a:pPr>
            <a:r>
              <a:rPr lang="en-US" sz="800" dirty="0">
                <a:solidFill>
                  <a:srgbClr val="8B949E"/>
                </a:solidFill>
                <a:latin typeface="Consolas" pitchFamily="34" charset="0"/>
                <a:ea typeface="Consolas" pitchFamily="34" charset="-122"/>
                <a:cs typeface="Consolas" pitchFamily="34" charset="-120"/>
              </a:rPr>
              <a:t>India Innovates 2025  •  Semi-Autonomous Wall Painting Robot</a:t>
            </a:r>
            <a:endParaRPr lang="en-US" sz="800" dirty="0"/>
          </a:p>
        </p:txBody>
      </p:sp>
      <p:sp>
        <p:nvSpPr>
          <p:cNvPr id="9" name="Shape 7"/>
          <p:cNvSpPr/>
          <p:nvPr/>
        </p:nvSpPr>
        <p:spPr>
          <a:xfrm>
            <a:off x="8686800" y="4919472"/>
            <a:ext cx="109728" cy="109728"/>
          </a:xfrm>
          <a:prstGeom prst="ellipse">
            <a:avLst/>
          </a:prstGeom>
          <a:solidFill>
            <a:srgbClr val="3FB950"/>
          </a:solidFill>
          <a:ln w="12700">
            <a:solidFill>
              <a:srgbClr val="3FB950"/>
            </a:solidFill>
            <a:prstDash val="solid"/>
          </a:ln>
        </p:spPr>
      </p:sp>
      <p:sp>
        <p:nvSpPr>
          <p:cNvPr id="10" name="Text 8"/>
          <p:cNvSpPr/>
          <p:nvPr/>
        </p:nvSpPr>
        <p:spPr>
          <a:xfrm>
            <a:off x="274320" y="685800"/>
            <a:ext cx="8229600" cy="256032"/>
          </a:xfrm>
          <a:prstGeom prst="rect">
            <a:avLst/>
          </a:prstGeom>
          <a:noFill/>
          <a:ln/>
        </p:spPr>
        <p:txBody>
          <a:bodyPr wrap="square" rtlCol="0" anchor="ctr"/>
          <a:lstStyle/>
          <a:p>
            <a:pPr indent="0" marL="0">
              <a:buNone/>
            </a:pPr>
            <a:r>
              <a:rPr lang="en-US" sz="1200" b="1" dirty="0">
                <a:solidFill>
                  <a:srgbClr val="58A6FF"/>
                </a:solidFill>
                <a:latin typeface="Consolas" pitchFamily="34" charset="0"/>
                <a:ea typeface="Consolas" pitchFamily="34" charset="-122"/>
                <a:cs typeface="Consolas" pitchFamily="34" charset="-120"/>
              </a:rPr>
              <a:t>// Technology — Electronics &amp; Embedded Systems</a:t>
            </a:r>
            <a:endParaRPr lang="en-US" sz="1200" dirty="0"/>
          </a:p>
        </p:txBody>
      </p:sp>
      <p:sp>
        <p:nvSpPr>
          <p:cNvPr id="11" name="Shape 9"/>
          <p:cNvSpPr/>
          <p:nvPr/>
        </p:nvSpPr>
        <p:spPr>
          <a:xfrm>
            <a:off x="228600" y="1005840"/>
            <a:ext cx="4114800" cy="1691640"/>
          </a:xfrm>
          <a:prstGeom prst="rect">
            <a:avLst/>
          </a:prstGeom>
          <a:solidFill>
            <a:srgbClr val="161B22"/>
          </a:solidFill>
          <a:ln w="12700">
            <a:solidFill>
              <a:srgbClr val="D29922"/>
            </a:solidFill>
            <a:prstDash val="solid"/>
          </a:ln>
        </p:spPr>
      </p:sp>
      <p:sp>
        <p:nvSpPr>
          <p:cNvPr id="12" name="Text 10"/>
          <p:cNvSpPr/>
          <p:nvPr/>
        </p:nvSpPr>
        <p:spPr>
          <a:xfrm>
            <a:off x="338328" y="1078992"/>
            <a:ext cx="3931920" cy="320040"/>
          </a:xfrm>
          <a:prstGeom prst="rect">
            <a:avLst/>
          </a:prstGeom>
          <a:noFill/>
          <a:ln/>
        </p:spPr>
        <p:txBody>
          <a:bodyPr wrap="square" rtlCol="0" anchor="ctr"/>
          <a:lstStyle/>
          <a:p>
            <a:pPr indent="0" marL="0">
              <a:buNone/>
            </a:pPr>
            <a:r>
              <a:rPr lang="en-US" sz="1000" b="1" dirty="0">
                <a:solidFill>
                  <a:srgbClr val="D29922"/>
                </a:solidFill>
                <a:latin typeface="Calibri" pitchFamily="34" charset="0"/>
                <a:ea typeface="Calibri" pitchFamily="34" charset="-122"/>
                <a:cs typeface="Calibri" pitchFamily="34" charset="-120"/>
              </a:rPr>
              <a:t>STM32 Microcontroller (STM32F4)</a:t>
            </a:r>
            <a:endParaRPr lang="en-US" sz="1000" dirty="0"/>
          </a:p>
        </p:txBody>
      </p:sp>
      <p:sp>
        <p:nvSpPr>
          <p:cNvPr id="13" name="Text 11"/>
          <p:cNvSpPr/>
          <p:nvPr/>
        </p:nvSpPr>
        <p:spPr>
          <a:xfrm>
            <a:off x="338328" y="1435608"/>
            <a:ext cx="3931920" cy="1188720"/>
          </a:xfrm>
          <a:prstGeom prst="rect">
            <a:avLst/>
          </a:prstGeom>
          <a:noFill/>
          <a:ln/>
        </p:spPr>
        <p:txBody>
          <a:bodyPr wrap="square" rtlCol="0" anchor="ctr"/>
          <a:lstStyle/>
          <a:p>
            <a:pPr marL="342900" indent="-342900">
              <a:buSzPct val="100000"/>
              <a:buChar char="•"/>
            </a:pPr>
            <a:r>
              <a:rPr lang="en-US" sz="900" dirty="0">
                <a:solidFill>
                  <a:srgbClr val="8B949E"/>
                </a:solidFill>
                <a:latin typeface="Calibri" pitchFamily="34" charset="0"/>
                <a:ea typeface="Calibri" pitchFamily="34" charset="-122"/>
                <a:cs typeface="Calibri" pitchFamily="34" charset="-120"/>
              </a:rPr>
              <a:t>Real-time control for motion, safety, sensor processing</a:t>
            </a:r>
            <a:endParaRPr lang="en-US" sz="900" dirty="0"/>
          </a:p>
          <a:p>
            <a:pPr marL="342900" indent="-342900">
              <a:buSzPct val="100000"/>
              <a:buChar char="•"/>
            </a:pPr>
            <a:r>
              <a:rPr lang="en-US" sz="900" dirty="0">
                <a:solidFill>
                  <a:srgbClr val="8B949E"/>
                </a:solidFill>
                <a:latin typeface="Calibri" pitchFamily="34" charset="0"/>
                <a:ea typeface="Calibri" pitchFamily="34" charset="-122"/>
                <a:cs typeface="Calibri" pitchFamily="34" charset="-120"/>
              </a:rPr>
              <a:t>Supports CAN, SPI, I²C, timers, encoder interfaces</a:t>
            </a:r>
            <a:endParaRPr lang="en-US" sz="900" dirty="0"/>
          </a:p>
          <a:p>
            <a:pPr marL="342900" indent="-342900">
              <a:buSzPct val="100000"/>
              <a:buChar char="•"/>
            </a:pPr>
            <a:r>
              <a:rPr lang="en-US" sz="900" dirty="0">
                <a:solidFill>
                  <a:srgbClr val="8B949E"/>
                </a:solidFill>
                <a:latin typeface="Calibri" pitchFamily="34" charset="0"/>
                <a:ea typeface="Calibri" pitchFamily="34" charset="-122"/>
                <a:cs typeface="Calibri" pitchFamily="34" charset="-120"/>
              </a:rPr>
              <a:t>Real-time task scheduling (FreeRTOS)</a:t>
            </a:r>
            <a:endParaRPr lang="en-US" sz="900" dirty="0"/>
          </a:p>
          <a:p>
            <a:pPr marL="342900" indent="-342900">
              <a:buSzPct val="100000"/>
              <a:buChar char="•"/>
            </a:pPr>
            <a:r>
              <a:rPr lang="en-US" sz="900" dirty="0">
                <a:solidFill>
                  <a:srgbClr val="8B949E"/>
                </a:solidFill>
                <a:latin typeface="Calibri" pitchFamily="34" charset="0"/>
                <a:ea typeface="Calibri" pitchFamily="34" charset="-122"/>
                <a:cs typeface="Calibri" pitchFamily="34" charset="-120"/>
              </a:rPr>
              <a:t>Separates motion, sensing, comms, and safety tasks</a:t>
            </a:r>
            <a:endParaRPr lang="en-US" sz="900" dirty="0"/>
          </a:p>
        </p:txBody>
      </p:sp>
      <p:sp>
        <p:nvSpPr>
          <p:cNvPr id="14" name="Shape 12"/>
          <p:cNvSpPr/>
          <p:nvPr/>
        </p:nvSpPr>
        <p:spPr>
          <a:xfrm>
            <a:off x="4572000" y="1005840"/>
            <a:ext cx="4297680" cy="1691640"/>
          </a:xfrm>
          <a:prstGeom prst="rect">
            <a:avLst/>
          </a:prstGeom>
          <a:solidFill>
            <a:srgbClr val="161B22"/>
          </a:solidFill>
          <a:ln w="12700">
            <a:solidFill>
              <a:srgbClr val="3FB950"/>
            </a:solidFill>
            <a:prstDash val="solid"/>
          </a:ln>
        </p:spPr>
      </p:sp>
      <p:sp>
        <p:nvSpPr>
          <p:cNvPr id="15" name="Text 13"/>
          <p:cNvSpPr/>
          <p:nvPr/>
        </p:nvSpPr>
        <p:spPr>
          <a:xfrm>
            <a:off x="4681728" y="1078992"/>
            <a:ext cx="4114800" cy="320040"/>
          </a:xfrm>
          <a:prstGeom prst="rect">
            <a:avLst/>
          </a:prstGeom>
          <a:noFill/>
          <a:ln/>
        </p:spPr>
        <p:txBody>
          <a:bodyPr wrap="square" rtlCol="0" anchor="ctr"/>
          <a:lstStyle/>
          <a:p>
            <a:pPr indent="0" marL="0">
              <a:buNone/>
            </a:pPr>
            <a:r>
              <a:rPr lang="en-US" sz="1000" b="1" dirty="0">
                <a:solidFill>
                  <a:srgbClr val="3FB950"/>
                </a:solidFill>
                <a:latin typeface="Calibri" pitchFamily="34" charset="0"/>
                <a:ea typeface="Calibri" pitchFamily="34" charset="-122"/>
                <a:cs typeface="Calibri" pitchFamily="34" charset="-120"/>
              </a:rPr>
              <a:t>Motor Driver Modules (48V Rated)</a:t>
            </a:r>
            <a:endParaRPr lang="en-US" sz="1000" dirty="0"/>
          </a:p>
        </p:txBody>
      </p:sp>
      <p:sp>
        <p:nvSpPr>
          <p:cNvPr id="16" name="Text 14"/>
          <p:cNvSpPr/>
          <p:nvPr/>
        </p:nvSpPr>
        <p:spPr>
          <a:xfrm>
            <a:off x="4681728" y="1435608"/>
            <a:ext cx="4114800" cy="1188720"/>
          </a:xfrm>
          <a:prstGeom prst="rect">
            <a:avLst/>
          </a:prstGeom>
          <a:noFill/>
          <a:ln/>
        </p:spPr>
        <p:txBody>
          <a:bodyPr wrap="square" rtlCol="0" anchor="ctr"/>
          <a:lstStyle/>
          <a:p>
            <a:pPr marL="342900" indent="-342900">
              <a:buSzPct val="100000"/>
              <a:buChar char="•"/>
            </a:pPr>
            <a:r>
              <a:rPr lang="en-US" sz="900" dirty="0">
                <a:solidFill>
                  <a:srgbClr val="8B949E"/>
                </a:solidFill>
                <a:latin typeface="Calibri" pitchFamily="34" charset="0"/>
                <a:ea typeface="Calibri" pitchFamily="34" charset="-122"/>
                <a:cs typeface="Calibri" pitchFamily="34" charset="-120"/>
              </a:rPr>
              <a:t>Drive wheel, vacuum, and roller motors</a:t>
            </a:r>
            <a:endParaRPr lang="en-US" sz="900" dirty="0"/>
          </a:p>
          <a:p>
            <a:pPr marL="342900" indent="-342900">
              <a:buSzPct val="100000"/>
              <a:buChar char="•"/>
            </a:pPr>
            <a:r>
              <a:rPr lang="en-US" sz="900" dirty="0">
                <a:solidFill>
                  <a:srgbClr val="8B949E"/>
                </a:solidFill>
                <a:latin typeface="Calibri" pitchFamily="34" charset="0"/>
                <a:ea typeface="Calibri" pitchFamily="34" charset="-122"/>
                <a:cs typeface="Calibri" pitchFamily="34" charset="-120"/>
              </a:rPr>
              <a:t>Closed-loop control with encoder feedback</a:t>
            </a:r>
            <a:endParaRPr lang="en-US" sz="900" dirty="0"/>
          </a:p>
          <a:p>
            <a:pPr marL="342900" indent="-342900">
              <a:buSzPct val="100000"/>
              <a:buChar char="•"/>
            </a:pPr>
            <a:r>
              <a:rPr lang="en-US" sz="900" dirty="0">
                <a:solidFill>
                  <a:srgbClr val="8B949E"/>
                </a:solidFill>
                <a:latin typeface="Calibri" pitchFamily="34" charset="0"/>
                <a:ea typeface="Calibri" pitchFamily="34" charset="-122"/>
                <a:cs typeface="Calibri" pitchFamily="34" charset="-120"/>
              </a:rPr>
              <a:t>Overcurrent and thermal protection</a:t>
            </a:r>
            <a:endParaRPr lang="en-US" sz="900" dirty="0"/>
          </a:p>
        </p:txBody>
      </p:sp>
      <p:sp>
        <p:nvSpPr>
          <p:cNvPr id="17" name="Shape 15"/>
          <p:cNvSpPr/>
          <p:nvPr/>
        </p:nvSpPr>
        <p:spPr>
          <a:xfrm>
            <a:off x="228600" y="2834640"/>
            <a:ext cx="1920240" cy="1508760"/>
          </a:xfrm>
          <a:prstGeom prst="rect">
            <a:avLst/>
          </a:prstGeom>
          <a:solidFill>
            <a:srgbClr val="161B22"/>
          </a:solidFill>
          <a:ln w="12700">
            <a:solidFill>
              <a:srgbClr val="BC8CFF"/>
            </a:solidFill>
            <a:prstDash val="solid"/>
          </a:ln>
        </p:spPr>
      </p:sp>
      <p:sp>
        <p:nvSpPr>
          <p:cNvPr id="18" name="Text 16"/>
          <p:cNvSpPr/>
          <p:nvPr/>
        </p:nvSpPr>
        <p:spPr>
          <a:xfrm>
            <a:off x="338328" y="2907792"/>
            <a:ext cx="1737360" cy="320040"/>
          </a:xfrm>
          <a:prstGeom prst="rect">
            <a:avLst/>
          </a:prstGeom>
          <a:noFill/>
          <a:ln/>
        </p:spPr>
        <p:txBody>
          <a:bodyPr wrap="square" rtlCol="0" anchor="ctr"/>
          <a:lstStyle/>
          <a:p>
            <a:pPr indent="0" marL="0">
              <a:buNone/>
            </a:pPr>
            <a:r>
              <a:rPr lang="en-US" sz="1000" b="1" dirty="0">
                <a:solidFill>
                  <a:srgbClr val="BC8CFF"/>
                </a:solidFill>
                <a:latin typeface="Calibri" pitchFamily="34" charset="0"/>
                <a:ea typeface="Calibri" pitchFamily="34" charset="-122"/>
                <a:cs typeface="Calibri" pitchFamily="34" charset="-120"/>
              </a:rPr>
              <a:t>Data Logging Platform</a:t>
            </a:r>
            <a:endParaRPr lang="en-US" sz="1000" dirty="0"/>
          </a:p>
        </p:txBody>
      </p:sp>
      <p:sp>
        <p:nvSpPr>
          <p:cNvPr id="19" name="Text 17"/>
          <p:cNvSpPr/>
          <p:nvPr/>
        </p:nvSpPr>
        <p:spPr>
          <a:xfrm>
            <a:off x="338328" y="3264408"/>
            <a:ext cx="1737360" cy="1005840"/>
          </a:xfrm>
          <a:prstGeom prst="rect">
            <a:avLst/>
          </a:prstGeom>
          <a:noFill/>
          <a:ln/>
        </p:spPr>
        <p:txBody>
          <a:bodyPr wrap="square" rtlCol="0" anchor="ctr"/>
          <a:lstStyle/>
          <a:p>
            <a:pPr marL="342900" indent="-342900">
              <a:buSzPct val="100000"/>
              <a:buChar char="•"/>
            </a:pPr>
            <a:r>
              <a:rPr lang="en-US" sz="900" dirty="0">
                <a:solidFill>
                  <a:srgbClr val="8B949E"/>
                </a:solidFill>
                <a:latin typeface="Calibri" pitchFamily="34" charset="0"/>
                <a:ea typeface="Calibri" pitchFamily="34" charset="-122"/>
                <a:cs typeface="Calibri" pitchFamily="34" charset="-120"/>
              </a:rPr>
              <a:t>Records sensor data and fault events</a:t>
            </a:r>
            <a:endParaRPr lang="en-US" sz="900" dirty="0"/>
          </a:p>
          <a:p>
            <a:pPr marL="342900" indent="-342900">
              <a:buSzPct val="100000"/>
              <a:buChar char="•"/>
            </a:pPr>
            <a:r>
              <a:rPr lang="en-US" sz="900" dirty="0">
                <a:solidFill>
                  <a:srgbClr val="8B949E"/>
                </a:solidFill>
                <a:latin typeface="Calibri" pitchFamily="34" charset="0"/>
                <a:ea typeface="Calibri" pitchFamily="34" charset="-122"/>
                <a:cs typeface="Calibri" pitchFamily="34" charset="-120"/>
              </a:rPr>
              <a:t>Supports diagnostics and performance analysis</a:t>
            </a:r>
            <a:endParaRPr lang="en-US" sz="900" dirty="0"/>
          </a:p>
        </p:txBody>
      </p:sp>
      <p:sp>
        <p:nvSpPr>
          <p:cNvPr id="20" name="Shape 18"/>
          <p:cNvSpPr/>
          <p:nvPr/>
        </p:nvSpPr>
        <p:spPr>
          <a:xfrm>
            <a:off x="2331720" y="2834640"/>
            <a:ext cx="2194560" cy="1508760"/>
          </a:xfrm>
          <a:prstGeom prst="rect">
            <a:avLst/>
          </a:prstGeom>
          <a:solidFill>
            <a:srgbClr val="161B22"/>
          </a:solidFill>
          <a:ln w="12700">
            <a:solidFill>
              <a:srgbClr val="58A6FF"/>
            </a:solidFill>
            <a:prstDash val="solid"/>
          </a:ln>
        </p:spPr>
      </p:sp>
      <p:sp>
        <p:nvSpPr>
          <p:cNvPr id="21" name="Text 19"/>
          <p:cNvSpPr/>
          <p:nvPr/>
        </p:nvSpPr>
        <p:spPr>
          <a:xfrm>
            <a:off x="2441448" y="2907792"/>
            <a:ext cx="2011680" cy="320040"/>
          </a:xfrm>
          <a:prstGeom prst="rect">
            <a:avLst/>
          </a:prstGeom>
          <a:noFill/>
          <a:ln/>
        </p:spPr>
        <p:txBody>
          <a:bodyPr wrap="square" rtlCol="0" anchor="ctr"/>
          <a:lstStyle/>
          <a:p>
            <a:pPr indent="0" marL="0">
              <a:buNone/>
            </a:pPr>
            <a:r>
              <a:rPr lang="en-US" sz="1000" b="1" dirty="0">
                <a:solidFill>
                  <a:srgbClr val="58A6FF"/>
                </a:solidFill>
                <a:latin typeface="Calibri" pitchFamily="34" charset="0"/>
                <a:ea typeface="Calibri" pitchFamily="34" charset="-122"/>
                <a:cs typeface="Calibri" pitchFamily="34" charset="-120"/>
              </a:rPr>
              <a:t>PlatformIO (VS Code)</a:t>
            </a:r>
            <a:endParaRPr lang="en-US" sz="1000" dirty="0"/>
          </a:p>
        </p:txBody>
      </p:sp>
      <p:sp>
        <p:nvSpPr>
          <p:cNvPr id="22" name="Text 20"/>
          <p:cNvSpPr/>
          <p:nvPr/>
        </p:nvSpPr>
        <p:spPr>
          <a:xfrm>
            <a:off x="2441448" y="3264408"/>
            <a:ext cx="2011680" cy="1005840"/>
          </a:xfrm>
          <a:prstGeom prst="rect">
            <a:avLst/>
          </a:prstGeom>
          <a:noFill/>
          <a:ln/>
        </p:spPr>
        <p:txBody>
          <a:bodyPr wrap="square" rtlCol="0" anchor="ctr"/>
          <a:lstStyle/>
          <a:p>
            <a:pPr marL="342900" indent="-342900">
              <a:buSzPct val="100000"/>
              <a:buChar char="•"/>
            </a:pPr>
            <a:r>
              <a:rPr lang="en-US" sz="900" dirty="0">
                <a:solidFill>
                  <a:srgbClr val="8B949E"/>
                </a:solidFill>
                <a:latin typeface="Calibri" pitchFamily="34" charset="0"/>
                <a:ea typeface="Calibri" pitchFamily="34" charset="-122"/>
                <a:cs typeface="Calibri" pitchFamily="34" charset="-120"/>
              </a:rPr>
              <a:t>Embedded build system and toolchain management</a:t>
            </a:r>
            <a:endParaRPr lang="en-US" sz="900" dirty="0"/>
          </a:p>
          <a:p>
            <a:pPr marL="342900" indent="-342900">
              <a:buSzPct val="100000"/>
              <a:buChar char="•"/>
            </a:pPr>
            <a:r>
              <a:rPr lang="en-US" sz="900" dirty="0">
                <a:solidFill>
                  <a:srgbClr val="8B949E"/>
                </a:solidFill>
                <a:latin typeface="Calibri" pitchFamily="34" charset="0"/>
                <a:ea typeface="Calibri" pitchFamily="34" charset="-122"/>
                <a:cs typeface="Calibri" pitchFamily="34" charset="-120"/>
              </a:rPr>
              <a:t>Handles library dependencies and firmware debugging</a:t>
            </a:r>
            <a:endParaRPr lang="en-US" sz="900" dirty="0"/>
          </a:p>
        </p:txBody>
      </p:sp>
      <p:sp>
        <p:nvSpPr>
          <p:cNvPr id="23" name="Shape 21"/>
          <p:cNvSpPr/>
          <p:nvPr/>
        </p:nvSpPr>
        <p:spPr>
          <a:xfrm>
            <a:off x="4572000" y="2834640"/>
            <a:ext cx="1920240" cy="1508760"/>
          </a:xfrm>
          <a:prstGeom prst="rect">
            <a:avLst/>
          </a:prstGeom>
          <a:solidFill>
            <a:srgbClr val="161B22"/>
          </a:solidFill>
          <a:ln w="12700">
            <a:solidFill>
              <a:srgbClr val="F78166"/>
            </a:solidFill>
            <a:prstDash val="solid"/>
          </a:ln>
        </p:spPr>
      </p:sp>
      <p:sp>
        <p:nvSpPr>
          <p:cNvPr id="24" name="Text 22"/>
          <p:cNvSpPr/>
          <p:nvPr/>
        </p:nvSpPr>
        <p:spPr>
          <a:xfrm>
            <a:off x="4681728" y="2907792"/>
            <a:ext cx="1737360" cy="320040"/>
          </a:xfrm>
          <a:prstGeom prst="rect">
            <a:avLst/>
          </a:prstGeom>
          <a:noFill/>
          <a:ln/>
        </p:spPr>
        <p:txBody>
          <a:bodyPr wrap="square" rtlCol="0" anchor="ctr"/>
          <a:lstStyle/>
          <a:p>
            <a:pPr indent="0" marL="0">
              <a:buNone/>
            </a:pPr>
            <a:r>
              <a:rPr lang="en-US" sz="1000" b="1" dirty="0">
                <a:solidFill>
                  <a:srgbClr val="F78166"/>
                </a:solidFill>
                <a:latin typeface="Calibri" pitchFamily="34" charset="0"/>
                <a:ea typeface="Calibri" pitchFamily="34" charset="-122"/>
                <a:cs typeface="Calibri" pitchFamily="34" charset="-120"/>
              </a:rPr>
              <a:t>PCB — Altium Designer</a:t>
            </a:r>
            <a:endParaRPr lang="en-US" sz="1000" dirty="0"/>
          </a:p>
        </p:txBody>
      </p:sp>
      <p:sp>
        <p:nvSpPr>
          <p:cNvPr id="25" name="Text 23"/>
          <p:cNvSpPr/>
          <p:nvPr/>
        </p:nvSpPr>
        <p:spPr>
          <a:xfrm>
            <a:off x="4681728" y="3264408"/>
            <a:ext cx="1737360" cy="1005840"/>
          </a:xfrm>
          <a:prstGeom prst="rect">
            <a:avLst/>
          </a:prstGeom>
          <a:noFill/>
          <a:ln/>
        </p:spPr>
        <p:txBody>
          <a:bodyPr wrap="square" rtlCol="0" anchor="ctr"/>
          <a:lstStyle/>
          <a:p>
            <a:pPr marL="342900" indent="-342900">
              <a:buSzPct val="100000"/>
              <a:buChar char="•"/>
            </a:pPr>
            <a:r>
              <a:rPr lang="en-US" sz="900" dirty="0">
                <a:solidFill>
                  <a:srgbClr val="8B949E"/>
                </a:solidFill>
                <a:latin typeface="Calibri" pitchFamily="34" charset="0"/>
                <a:ea typeface="Calibri" pitchFamily="34" charset="-122"/>
                <a:cs typeface="Calibri" pitchFamily="34" charset="-120"/>
              </a:rPr>
              <a:t>Schematic and PCB design</a:t>
            </a:r>
            <a:endParaRPr lang="en-US" sz="900" dirty="0"/>
          </a:p>
          <a:p>
            <a:pPr marL="342900" indent="-342900">
              <a:buSzPct val="100000"/>
              <a:buChar char="•"/>
            </a:pPr>
            <a:r>
              <a:rPr lang="en-US" sz="900" dirty="0">
                <a:solidFill>
                  <a:srgbClr val="8B949E"/>
                </a:solidFill>
                <a:latin typeface="Calibri" pitchFamily="34" charset="0"/>
                <a:ea typeface="Calibri" pitchFamily="34" charset="-122"/>
                <a:cs typeface="Calibri" pitchFamily="34" charset="-120"/>
              </a:rPr>
              <a:t>EMI-aware layout for power electronics</a:t>
            </a:r>
            <a:endParaRPr lang="en-US" sz="900" dirty="0"/>
          </a:p>
        </p:txBody>
      </p:sp>
      <p:sp>
        <p:nvSpPr>
          <p:cNvPr id="26" name="Shape 24"/>
          <p:cNvSpPr/>
          <p:nvPr/>
        </p:nvSpPr>
        <p:spPr>
          <a:xfrm>
            <a:off x="6537960" y="2834640"/>
            <a:ext cx="2331720" cy="1508760"/>
          </a:xfrm>
          <a:prstGeom prst="rect">
            <a:avLst/>
          </a:prstGeom>
          <a:solidFill>
            <a:srgbClr val="161B22"/>
          </a:solidFill>
          <a:ln w="12700">
            <a:solidFill>
              <a:srgbClr val="D29922"/>
            </a:solidFill>
            <a:prstDash val="solid"/>
          </a:ln>
        </p:spPr>
      </p:sp>
      <p:sp>
        <p:nvSpPr>
          <p:cNvPr id="27" name="Text 25"/>
          <p:cNvSpPr/>
          <p:nvPr/>
        </p:nvSpPr>
        <p:spPr>
          <a:xfrm>
            <a:off x="6647688" y="2907792"/>
            <a:ext cx="2148840" cy="320040"/>
          </a:xfrm>
          <a:prstGeom prst="rect">
            <a:avLst/>
          </a:prstGeom>
          <a:noFill/>
          <a:ln/>
        </p:spPr>
        <p:txBody>
          <a:bodyPr wrap="square" rtlCol="0" anchor="ctr"/>
          <a:lstStyle/>
          <a:p>
            <a:pPr indent="0" marL="0">
              <a:buNone/>
            </a:pPr>
            <a:r>
              <a:rPr lang="en-US" sz="1000" b="1" dirty="0">
                <a:solidFill>
                  <a:srgbClr val="D29922"/>
                </a:solidFill>
                <a:latin typeface="Calibri" pitchFamily="34" charset="0"/>
                <a:ea typeface="Calibri" pitchFamily="34" charset="-122"/>
                <a:cs typeface="Calibri" pitchFamily="34" charset="-120"/>
              </a:rPr>
              <a:t>Power Electronics (48V DC)</a:t>
            </a:r>
            <a:endParaRPr lang="en-US" sz="1000" dirty="0"/>
          </a:p>
        </p:txBody>
      </p:sp>
      <p:sp>
        <p:nvSpPr>
          <p:cNvPr id="28" name="Text 26"/>
          <p:cNvSpPr/>
          <p:nvPr/>
        </p:nvSpPr>
        <p:spPr>
          <a:xfrm>
            <a:off x="6647688" y="3264408"/>
            <a:ext cx="2148840" cy="1005840"/>
          </a:xfrm>
          <a:prstGeom prst="rect">
            <a:avLst/>
          </a:prstGeom>
          <a:noFill/>
          <a:ln/>
        </p:spPr>
        <p:txBody>
          <a:bodyPr wrap="square" rtlCol="0" anchor="ctr"/>
          <a:lstStyle/>
          <a:p>
            <a:pPr marL="342900" indent="-342900">
              <a:buSzPct val="100000"/>
              <a:buChar char="•"/>
            </a:pPr>
            <a:r>
              <a:rPr lang="en-US" sz="900" dirty="0">
                <a:solidFill>
                  <a:srgbClr val="8B949E"/>
                </a:solidFill>
                <a:latin typeface="Calibri" pitchFamily="34" charset="0"/>
                <a:ea typeface="Calibri" pitchFamily="34" charset="-122"/>
                <a:cs typeface="Calibri" pitchFamily="34" charset="-120"/>
              </a:rPr>
              <a:t>48V DC powers motors and vacuum</a:t>
            </a:r>
            <a:endParaRPr lang="en-US" sz="900" dirty="0"/>
          </a:p>
          <a:p>
            <a:pPr marL="342900" indent="-342900">
              <a:buSzPct val="100000"/>
              <a:buChar char="•"/>
            </a:pPr>
            <a:r>
              <a:rPr lang="en-US" sz="900" dirty="0">
                <a:solidFill>
                  <a:srgbClr val="8B949E"/>
                </a:solidFill>
                <a:latin typeface="Calibri" pitchFamily="34" charset="0"/>
                <a:ea typeface="Calibri" pitchFamily="34" charset="-122"/>
                <a:cs typeface="Calibri" pitchFamily="34" charset="-120"/>
              </a:rPr>
              <a:t>DC-DC: 48V→24V drivers, 24V→5V MCU &amp; sensors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1B22"/>
          </a:solidFill>
          <a:ln w="12700">
            <a:solidFill>
              <a:srgbClr val="30363D"/>
            </a:solidFill>
            <a:prstDash val="solid"/>
          </a:ln>
        </p:spPr>
      </p:sp>
      <p:sp>
        <p:nvSpPr>
          <p:cNvPr id="3" name="Shape 1"/>
          <p:cNvSpPr/>
          <p:nvPr/>
        </p:nvSpPr>
        <p:spPr>
          <a:xfrm>
            <a:off x="182880" y="91440"/>
            <a:ext cx="411480" cy="411480"/>
          </a:xfrm>
          <a:prstGeom prst="rect">
            <a:avLst/>
          </a:prstGeom>
          <a:solidFill>
            <a:srgbClr val="21262D"/>
          </a:solidFill>
          <a:ln w="12700">
            <a:solidFill>
              <a:srgbClr val="30363D"/>
            </a:solidFill>
            <a:prstDash val="solid"/>
          </a:ln>
        </p:spPr>
      </p:sp>
      <p:sp>
        <p:nvSpPr>
          <p:cNvPr id="4" name="Text 2"/>
          <p:cNvSpPr/>
          <p:nvPr/>
        </p:nvSpPr>
        <p:spPr>
          <a:xfrm>
            <a:off x="182880" y="73152"/>
            <a:ext cx="411480" cy="448056"/>
          </a:xfrm>
          <a:prstGeom prst="rect">
            <a:avLst/>
          </a:prstGeom>
          <a:noFill/>
          <a:ln/>
        </p:spPr>
        <p:txBody>
          <a:bodyPr wrap="square" rtlCol="0" anchor="ctr"/>
          <a:lstStyle/>
          <a:p>
            <a:pPr algn="ctr" indent="0" marL="0">
              <a:buNone/>
            </a:pPr>
            <a:r>
              <a:rPr lang="en-US" sz="1800" dirty="0">
                <a:solidFill>
                  <a:srgbClr val="E6EDF3"/>
                </a:solidFill>
              </a:rPr>
              <a:t>⬡</a:t>
            </a:r>
            <a:endParaRPr lang="en-US" sz="1800" dirty="0"/>
          </a:p>
        </p:txBody>
      </p:sp>
      <p:sp>
        <p:nvSpPr>
          <p:cNvPr id="5" name="Text 3"/>
          <p:cNvSpPr/>
          <p:nvPr/>
        </p:nvSpPr>
        <p:spPr>
          <a:xfrm>
            <a:off x="685800" y="91440"/>
            <a:ext cx="4572000" cy="411480"/>
          </a:xfrm>
          <a:prstGeom prst="rect">
            <a:avLst/>
          </a:prstGeom>
          <a:noFill/>
          <a:ln/>
        </p:spPr>
        <p:txBody>
          <a:bodyPr wrap="square" rtlCol="0" anchor="ctr"/>
          <a:lstStyle/>
          <a:p>
            <a:pPr indent="0" marL="0">
              <a:buNone/>
            </a:pPr>
            <a:r>
              <a:rPr lang="en-US" sz="1000" dirty="0">
                <a:solidFill>
                  <a:srgbClr val="58A6FF"/>
                </a:solidFill>
                <a:latin typeface="Consolas" pitchFamily="34" charset="0"/>
                <a:ea typeface="Consolas" pitchFamily="34" charset="-122"/>
                <a:cs typeface="Consolas" pitchFamily="34" charset="-120"/>
              </a:rPr>
              <a:t>HN-WallBot / udgam-urban-solution</a:t>
            </a:r>
            <a:endParaRPr lang="en-US" sz="1000" dirty="0"/>
          </a:p>
        </p:txBody>
      </p:sp>
      <p:sp>
        <p:nvSpPr>
          <p:cNvPr id="6" name="Text 4"/>
          <p:cNvSpPr/>
          <p:nvPr/>
        </p:nvSpPr>
        <p:spPr>
          <a:xfrm>
            <a:off x="5029200" y="91440"/>
            <a:ext cx="3931920" cy="411480"/>
          </a:xfrm>
          <a:prstGeom prst="rect">
            <a:avLst/>
          </a:prstGeom>
          <a:noFill/>
          <a:ln/>
        </p:spPr>
        <p:txBody>
          <a:bodyPr wrap="square" rtlCol="0" anchor="ctr"/>
          <a:lstStyle/>
          <a:p>
            <a:pPr algn="r" indent="0" marL="0">
              <a:buNone/>
            </a:pPr>
            <a:r>
              <a:rPr lang="en-US" sz="1100" dirty="0">
                <a:solidFill>
                  <a:srgbClr val="8B949E"/>
                </a:solidFill>
                <a:latin typeface="Consolas" pitchFamily="34" charset="0"/>
                <a:ea typeface="Consolas" pitchFamily="34" charset="-122"/>
                <a:cs typeface="Consolas" pitchFamily="34" charset="-120"/>
              </a:rPr>
              <a:t>src/software/technology.md</a:t>
            </a:r>
            <a:endParaRPr lang="en-US" sz="1100" dirty="0"/>
          </a:p>
        </p:txBody>
      </p:sp>
      <p:sp>
        <p:nvSpPr>
          <p:cNvPr id="7" name="Shape 5"/>
          <p:cNvSpPr/>
          <p:nvPr/>
        </p:nvSpPr>
        <p:spPr>
          <a:xfrm>
            <a:off x="0" y="4892040"/>
            <a:ext cx="9144000" cy="251460"/>
          </a:xfrm>
          <a:prstGeom prst="rect">
            <a:avLst/>
          </a:prstGeom>
          <a:solidFill>
            <a:srgbClr val="161B22"/>
          </a:solidFill>
          <a:ln w="12700">
            <a:solidFill>
              <a:srgbClr val="30363D"/>
            </a:solidFill>
            <a:prstDash val="solid"/>
          </a:ln>
        </p:spPr>
      </p:sp>
      <p:sp>
        <p:nvSpPr>
          <p:cNvPr id="8" name="Text 6"/>
          <p:cNvSpPr/>
          <p:nvPr/>
        </p:nvSpPr>
        <p:spPr>
          <a:xfrm>
            <a:off x="274320" y="4901184"/>
            <a:ext cx="8595360" cy="219456"/>
          </a:xfrm>
          <a:prstGeom prst="rect">
            <a:avLst/>
          </a:prstGeom>
          <a:noFill/>
          <a:ln/>
        </p:spPr>
        <p:txBody>
          <a:bodyPr wrap="square" rtlCol="0" anchor="ctr"/>
          <a:lstStyle/>
          <a:p>
            <a:pPr indent="0" marL="0">
              <a:buNone/>
            </a:pPr>
            <a:r>
              <a:rPr lang="en-US" sz="800" dirty="0">
                <a:solidFill>
                  <a:srgbClr val="8B949E"/>
                </a:solidFill>
                <a:latin typeface="Consolas" pitchFamily="34" charset="0"/>
                <a:ea typeface="Consolas" pitchFamily="34" charset="-122"/>
                <a:cs typeface="Consolas" pitchFamily="34" charset="-120"/>
              </a:rPr>
              <a:t>India Innovates 2025  •  Semi-Autonomous Wall Painting Robot</a:t>
            </a:r>
            <a:endParaRPr lang="en-US" sz="800" dirty="0"/>
          </a:p>
        </p:txBody>
      </p:sp>
      <p:sp>
        <p:nvSpPr>
          <p:cNvPr id="9" name="Shape 7"/>
          <p:cNvSpPr/>
          <p:nvPr/>
        </p:nvSpPr>
        <p:spPr>
          <a:xfrm>
            <a:off x="8686800" y="4919472"/>
            <a:ext cx="109728" cy="109728"/>
          </a:xfrm>
          <a:prstGeom prst="ellipse">
            <a:avLst/>
          </a:prstGeom>
          <a:solidFill>
            <a:srgbClr val="3FB950"/>
          </a:solidFill>
          <a:ln w="12700">
            <a:solidFill>
              <a:srgbClr val="3FB950"/>
            </a:solidFill>
            <a:prstDash val="solid"/>
          </a:ln>
        </p:spPr>
      </p:sp>
      <p:sp>
        <p:nvSpPr>
          <p:cNvPr id="10" name="Text 8"/>
          <p:cNvSpPr/>
          <p:nvPr/>
        </p:nvSpPr>
        <p:spPr>
          <a:xfrm>
            <a:off x="274320" y="685800"/>
            <a:ext cx="8229600" cy="256032"/>
          </a:xfrm>
          <a:prstGeom prst="rect">
            <a:avLst/>
          </a:prstGeom>
          <a:noFill/>
          <a:ln/>
        </p:spPr>
        <p:txBody>
          <a:bodyPr wrap="square" rtlCol="0" anchor="ctr"/>
          <a:lstStyle/>
          <a:p>
            <a:pPr indent="0" marL="0">
              <a:buNone/>
            </a:pPr>
            <a:r>
              <a:rPr lang="en-US" sz="1200" b="1" dirty="0">
                <a:solidFill>
                  <a:srgbClr val="3FB950"/>
                </a:solidFill>
                <a:latin typeface="Consolas" pitchFamily="34" charset="0"/>
                <a:ea typeface="Consolas" pitchFamily="34" charset="-122"/>
                <a:cs typeface="Consolas" pitchFamily="34" charset="-120"/>
              </a:rPr>
              <a:t>// Technology — Software Stack</a:t>
            </a:r>
            <a:endParaRPr lang="en-US" sz="1200" dirty="0"/>
          </a:p>
        </p:txBody>
      </p:sp>
      <p:sp>
        <p:nvSpPr>
          <p:cNvPr id="11" name="Shape 9"/>
          <p:cNvSpPr/>
          <p:nvPr/>
        </p:nvSpPr>
        <p:spPr>
          <a:xfrm>
            <a:off x="228600" y="1005840"/>
            <a:ext cx="4114800" cy="841248"/>
          </a:xfrm>
          <a:prstGeom prst="rect">
            <a:avLst/>
          </a:prstGeom>
          <a:solidFill>
            <a:srgbClr val="161B22"/>
          </a:solidFill>
          <a:ln w="12700">
            <a:solidFill>
              <a:srgbClr val="30363D"/>
            </a:solidFill>
            <a:prstDash val="solid"/>
          </a:ln>
        </p:spPr>
      </p:sp>
      <p:sp>
        <p:nvSpPr>
          <p:cNvPr id="12" name="Shape 10"/>
          <p:cNvSpPr/>
          <p:nvPr/>
        </p:nvSpPr>
        <p:spPr>
          <a:xfrm>
            <a:off x="228600" y="1005840"/>
            <a:ext cx="36576" cy="841248"/>
          </a:xfrm>
          <a:prstGeom prst="rect">
            <a:avLst/>
          </a:prstGeom>
          <a:solidFill>
            <a:srgbClr val="58A6FF"/>
          </a:solidFill>
          <a:ln w="12700">
            <a:solidFill>
              <a:srgbClr val="58A6FF"/>
            </a:solidFill>
            <a:prstDash val="solid"/>
          </a:ln>
        </p:spPr>
      </p:sp>
      <p:sp>
        <p:nvSpPr>
          <p:cNvPr id="13" name="Text 11"/>
          <p:cNvSpPr/>
          <p:nvPr/>
        </p:nvSpPr>
        <p:spPr>
          <a:xfrm>
            <a:off x="338328" y="1060704"/>
            <a:ext cx="3931920" cy="228600"/>
          </a:xfrm>
          <a:prstGeom prst="rect">
            <a:avLst/>
          </a:prstGeom>
          <a:noFill/>
          <a:ln/>
        </p:spPr>
        <p:txBody>
          <a:bodyPr wrap="square" rtlCol="0" anchor="ctr"/>
          <a:lstStyle/>
          <a:p>
            <a:pPr indent="0" marL="0">
              <a:buNone/>
            </a:pPr>
            <a:r>
              <a:rPr lang="en-US" sz="950" b="1" dirty="0">
                <a:solidFill>
                  <a:srgbClr val="58A6FF"/>
                </a:solidFill>
                <a:latin typeface="Consolas" pitchFamily="34" charset="0"/>
                <a:ea typeface="Consolas" pitchFamily="34" charset="-122"/>
                <a:cs typeface="Consolas" pitchFamily="34" charset="-120"/>
              </a:rPr>
              <a:t>OPERATOR INTERFACE (GUI)</a:t>
            </a:r>
            <a:endParaRPr lang="en-US" sz="950" dirty="0"/>
          </a:p>
        </p:txBody>
      </p:sp>
      <p:sp>
        <p:nvSpPr>
          <p:cNvPr id="14" name="Text 12"/>
          <p:cNvSpPr/>
          <p:nvPr/>
        </p:nvSpPr>
        <p:spPr>
          <a:xfrm>
            <a:off x="338328" y="1307592"/>
            <a:ext cx="3931920" cy="502920"/>
          </a:xfrm>
          <a:prstGeom prst="rect">
            <a:avLst/>
          </a:prstGeom>
          <a:noFill/>
          <a:ln/>
        </p:spPr>
        <p:txBody>
          <a:bodyPr wrap="square" rtlCol="0" anchor="ctr"/>
          <a:lstStyle/>
          <a:p>
            <a:pPr marL="342900" indent="-342900">
              <a:buSzPct val="100000"/>
              <a:buChar char="•"/>
            </a:pPr>
            <a:r>
              <a:rPr lang="en-US" sz="900" dirty="0">
                <a:solidFill>
                  <a:srgbClr val="E6EDF3"/>
                </a:solidFill>
                <a:latin typeface="Calibri" pitchFamily="34" charset="0"/>
                <a:ea typeface="Calibri" pitchFamily="34" charset="-122"/>
                <a:cs typeface="Calibri" pitchFamily="34" charset="-120"/>
              </a:rPr>
              <a:t>ROS 2-based dashboard for live monitoring and control</a:t>
            </a:r>
            <a:endParaRPr lang="en-US" sz="900" dirty="0"/>
          </a:p>
          <a:p>
            <a:pPr marL="342900" indent="-342900">
              <a:buSzPct val="100000"/>
              <a:buChar char="•"/>
            </a:pPr>
            <a:r>
              <a:rPr lang="en-US" sz="900" dirty="0">
                <a:solidFill>
                  <a:srgbClr val="E6EDF3"/>
                </a:solidFill>
                <a:latin typeface="Calibri" pitchFamily="34" charset="0"/>
                <a:ea typeface="Calibri" pitchFamily="34" charset="-122"/>
                <a:cs typeface="Calibri" pitchFamily="34" charset="-120"/>
              </a:rPr>
              <a:t>Displays camera feed, pose, system health, and mode selection</a:t>
            </a:r>
            <a:endParaRPr lang="en-US" sz="900" dirty="0"/>
          </a:p>
        </p:txBody>
      </p:sp>
      <p:sp>
        <p:nvSpPr>
          <p:cNvPr id="15" name="Shape 13"/>
          <p:cNvSpPr/>
          <p:nvPr/>
        </p:nvSpPr>
        <p:spPr>
          <a:xfrm>
            <a:off x="228600" y="1938528"/>
            <a:ext cx="4114800" cy="841248"/>
          </a:xfrm>
          <a:prstGeom prst="rect">
            <a:avLst/>
          </a:prstGeom>
          <a:solidFill>
            <a:srgbClr val="161B22"/>
          </a:solidFill>
          <a:ln w="12700">
            <a:solidFill>
              <a:srgbClr val="30363D"/>
            </a:solidFill>
            <a:prstDash val="solid"/>
          </a:ln>
        </p:spPr>
      </p:sp>
      <p:sp>
        <p:nvSpPr>
          <p:cNvPr id="16" name="Shape 14"/>
          <p:cNvSpPr/>
          <p:nvPr/>
        </p:nvSpPr>
        <p:spPr>
          <a:xfrm>
            <a:off x="228600" y="1938528"/>
            <a:ext cx="36576" cy="841248"/>
          </a:xfrm>
          <a:prstGeom prst="rect">
            <a:avLst/>
          </a:prstGeom>
          <a:solidFill>
            <a:srgbClr val="D29922"/>
          </a:solidFill>
          <a:ln w="12700">
            <a:solidFill>
              <a:srgbClr val="D29922"/>
            </a:solidFill>
            <a:prstDash val="solid"/>
          </a:ln>
        </p:spPr>
      </p:sp>
      <p:sp>
        <p:nvSpPr>
          <p:cNvPr id="17" name="Text 15"/>
          <p:cNvSpPr/>
          <p:nvPr/>
        </p:nvSpPr>
        <p:spPr>
          <a:xfrm>
            <a:off x="338328" y="1993392"/>
            <a:ext cx="3931920" cy="228600"/>
          </a:xfrm>
          <a:prstGeom prst="rect">
            <a:avLst/>
          </a:prstGeom>
          <a:noFill/>
          <a:ln/>
        </p:spPr>
        <p:txBody>
          <a:bodyPr wrap="square" rtlCol="0" anchor="ctr"/>
          <a:lstStyle/>
          <a:p>
            <a:pPr indent="0" marL="0">
              <a:buNone/>
            </a:pPr>
            <a:r>
              <a:rPr lang="en-US" sz="950" b="1" dirty="0">
                <a:solidFill>
                  <a:srgbClr val="D29922"/>
                </a:solidFill>
                <a:latin typeface="Consolas" pitchFamily="34" charset="0"/>
                <a:ea typeface="Consolas" pitchFamily="34" charset="-122"/>
                <a:cs typeface="Consolas" pitchFamily="34" charset="-120"/>
              </a:rPr>
              <a:t>ROS 2 MIDDLEWARE</a:t>
            </a:r>
            <a:endParaRPr lang="en-US" sz="950" dirty="0"/>
          </a:p>
        </p:txBody>
      </p:sp>
      <p:sp>
        <p:nvSpPr>
          <p:cNvPr id="18" name="Text 16"/>
          <p:cNvSpPr/>
          <p:nvPr/>
        </p:nvSpPr>
        <p:spPr>
          <a:xfrm>
            <a:off x="338328" y="2240280"/>
            <a:ext cx="3931920" cy="502920"/>
          </a:xfrm>
          <a:prstGeom prst="rect">
            <a:avLst/>
          </a:prstGeom>
          <a:noFill/>
          <a:ln/>
        </p:spPr>
        <p:txBody>
          <a:bodyPr wrap="square" rtlCol="0" anchor="ctr"/>
          <a:lstStyle/>
          <a:p>
            <a:pPr marL="342900" indent="-342900">
              <a:buSzPct val="100000"/>
              <a:buChar char="•"/>
            </a:pPr>
            <a:r>
              <a:rPr lang="en-US" sz="900" dirty="0">
                <a:solidFill>
                  <a:srgbClr val="E6EDF3"/>
                </a:solidFill>
                <a:latin typeface="Calibri" pitchFamily="34" charset="0"/>
                <a:ea typeface="Calibri" pitchFamily="34" charset="-122"/>
                <a:cs typeface="Calibri" pitchFamily="34" charset="-120"/>
              </a:rPr>
              <a:t>Modular node-based communication framework</a:t>
            </a:r>
            <a:endParaRPr lang="en-US" sz="900" dirty="0"/>
          </a:p>
          <a:p>
            <a:pPr marL="342900" indent="-342900">
              <a:buSzPct val="100000"/>
              <a:buChar char="•"/>
            </a:pPr>
            <a:r>
              <a:rPr lang="en-US" sz="900" dirty="0">
                <a:solidFill>
                  <a:srgbClr val="E6EDF3"/>
                </a:solidFill>
                <a:latin typeface="Calibri" pitchFamily="34" charset="0"/>
                <a:ea typeface="Calibri" pitchFamily="34" charset="-122"/>
                <a:cs typeface="Calibri" pitchFamily="34" charset="-120"/>
              </a:rPr>
              <a:t>Handles sensor data routing and command distribution</a:t>
            </a:r>
            <a:endParaRPr lang="en-US" sz="900" dirty="0"/>
          </a:p>
        </p:txBody>
      </p:sp>
      <p:sp>
        <p:nvSpPr>
          <p:cNvPr id="19" name="Shape 17"/>
          <p:cNvSpPr/>
          <p:nvPr/>
        </p:nvSpPr>
        <p:spPr>
          <a:xfrm>
            <a:off x="228600" y="2871216"/>
            <a:ext cx="4114800" cy="841248"/>
          </a:xfrm>
          <a:prstGeom prst="rect">
            <a:avLst/>
          </a:prstGeom>
          <a:solidFill>
            <a:srgbClr val="161B22"/>
          </a:solidFill>
          <a:ln w="12700">
            <a:solidFill>
              <a:srgbClr val="30363D"/>
            </a:solidFill>
            <a:prstDash val="solid"/>
          </a:ln>
        </p:spPr>
      </p:sp>
      <p:sp>
        <p:nvSpPr>
          <p:cNvPr id="20" name="Shape 18"/>
          <p:cNvSpPr/>
          <p:nvPr/>
        </p:nvSpPr>
        <p:spPr>
          <a:xfrm>
            <a:off x="228600" y="2871216"/>
            <a:ext cx="36576" cy="841248"/>
          </a:xfrm>
          <a:prstGeom prst="rect">
            <a:avLst/>
          </a:prstGeom>
          <a:solidFill>
            <a:srgbClr val="3FB950"/>
          </a:solidFill>
          <a:ln w="12700">
            <a:solidFill>
              <a:srgbClr val="3FB950"/>
            </a:solidFill>
            <a:prstDash val="solid"/>
          </a:ln>
        </p:spPr>
      </p:sp>
      <p:sp>
        <p:nvSpPr>
          <p:cNvPr id="21" name="Text 19"/>
          <p:cNvSpPr/>
          <p:nvPr/>
        </p:nvSpPr>
        <p:spPr>
          <a:xfrm>
            <a:off x="338328" y="2926080"/>
            <a:ext cx="3931920" cy="228600"/>
          </a:xfrm>
          <a:prstGeom prst="rect">
            <a:avLst/>
          </a:prstGeom>
          <a:noFill/>
          <a:ln/>
        </p:spPr>
        <p:txBody>
          <a:bodyPr wrap="square" rtlCol="0" anchor="ctr"/>
          <a:lstStyle/>
          <a:p>
            <a:pPr indent="0" marL="0">
              <a:buNone/>
            </a:pPr>
            <a:r>
              <a:rPr lang="en-US" sz="950" b="1" dirty="0">
                <a:solidFill>
                  <a:srgbClr val="3FB950"/>
                </a:solidFill>
                <a:latin typeface="Consolas" pitchFamily="34" charset="0"/>
                <a:ea typeface="Consolas" pitchFamily="34" charset="-122"/>
                <a:cs typeface="Consolas" pitchFamily="34" charset="-120"/>
              </a:rPr>
              <a:t>LOCALIZATION &amp; VSLAM</a:t>
            </a:r>
            <a:endParaRPr lang="en-US" sz="950" dirty="0"/>
          </a:p>
        </p:txBody>
      </p:sp>
      <p:sp>
        <p:nvSpPr>
          <p:cNvPr id="22" name="Text 20"/>
          <p:cNvSpPr/>
          <p:nvPr/>
        </p:nvSpPr>
        <p:spPr>
          <a:xfrm>
            <a:off x="338328" y="3172968"/>
            <a:ext cx="3931920" cy="502920"/>
          </a:xfrm>
          <a:prstGeom prst="rect">
            <a:avLst/>
          </a:prstGeom>
          <a:noFill/>
          <a:ln/>
        </p:spPr>
        <p:txBody>
          <a:bodyPr wrap="square" rtlCol="0" anchor="ctr"/>
          <a:lstStyle/>
          <a:p>
            <a:pPr marL="342900" indent="-342900">
              <a:buSzPct val="100000"/>
              <a:buChar char="•"/>
            </a:pPr>
            <a:r>
              <a:rPr lang="en-US" sz="900" dirty="0">
                <a:solidFill>
                  <a:srgbClr val="E6EDF3"/>
                </a:solidFill>
                <a:latin typeface="Calibri" pitchFamily="34" charset="0"/>
                <a:ea typeface="Calibri" pitchFamily="34" charset="-122"/>
                <a:cs typeface="Calibri" pitchFamily="34" charset="-120"/>
              </a:rPr>
              <a:t>Real-time pose estimation and wall mapping</a:t>
            </a:r>
            <a:endParaRPr lang="en-US" sz="900" dirty="0"/>
          </a:p>
          <a:p>
            <a:pPr marL="342900" indent="-342900">
              <a:buSzPct val="100000"/>
              <a:buChar char="•"/>
            </a:pPr>
            <a:r>
              <a:rPr lang="en-US" sz="900" dirty="0">
                <a:solidFill>
                  <a:srgbClr val="E6EDF3"/>
                </a:solidFill>
                <a:latin typeface="Calibri" pitchFamily="34" charset="0"/>
                <a:ea typeface="Calibri" pitchFamily="34" charset="-122"/>
                <a:cs typeface="Calibri" pitchFamily="34" charset="-120"/>
              </a:rPr>
              <a:t>Sensor fusion (Camera + IMU + Encoders)</a:t>
            </a:r>
            <a:endParaRPr lang="en-US" sz="900" dirty="0"/>
          </a:p>
        </p:txBody>
      </p:sp>
      <p:sp>
        <p:nvSpPr>
          <p:cNvPr id="23" name="Shape 21"/>
          <p:cNvSpPr/>
          <p:nvPr/>
        </p:nvSpPr>
        <p:spPr>
          <a:xfrm>
            <a:off x="228600" y="3803904"/>
            <a:ext cx="4114800" cy="841248"/>
          </a:xfrm>
          <a:prstGeom prst="rect">
            <a:avLst/>
          </a:prstGeom>
          <a:solidFill>
            <a:srgbClr val="161B22"/>
          </a:solidFill>
          <a:ln w="12700">
            <a:solidFill>
              <a:srgbClr val="30363D"/>
            </a:solidFill>
            <a:prstDash val="solid"/>
          </a:ln>
        </p:spPr>
      </p:sp>
      <p:sp>
        <p:nvSpPr>
          <p:cNvPr id="24" name="Shape 22"/>
          <p:cNvSpPr/>
          <p:nvPr/>
        </p:nvSpPr>
        <p:spPr>
          <a:xfrm>
            <a:off x="228600" y="3803904"/>
            <a:ext cx="36576" cy="841248"/>
          </a:xfrm>
          <a:prstGeom prst="rect">
            <a:avLst/>
          </a:prstGeom>
          <a:solidFill>
            <a:srgbClr val="BC8CFF"/>
          </a:solidFill>
          <a:ln w="12700">
            <a:solidFill>
              <a:srgbClr val="BC8CFF"/>
            </a:solidFill>
            <a:prstDash val="solid"/>
          </a:ln>
        </p:spPr>
      </p:sp>
      <p:sp>
        <p:nvSpPr>
          <p:cNvPr id="25" name="Text 23"/>
          <p:cNvSpPr/>
          <p:nvPr/>
        </p:nvSpPr>
        <p:spPr>
          <a:xfrm>
            <a:off x="338328" y="3858768"/>
            <a:ext cx="3931920" cy="228600"/>
          </a:xfrm>
          <a:prstGeom prst="rect">
            <a:avLst/>
          </a:prstGeom>
          <a:noFill/>
          <a:ln/>
        </p:spPr>
        <p:txBody>
          <a:bodyPr wrap="square" rtlCol="0" anchor="ctr"/>
          <a:lstStyle/>
          <a:p>
            <a:pPr indent="0" marL="0">
              <a:buNone/>
            </a:pPr>
            <a:r>
              <a:rPr lang="en-US" sz="950" b="1" dirty="0">
                <a:solidFill>
                  <a:srgbClr val="BC8CFF"/>
                </a:solidFill>
                <a:latin typeface="Consolas" pitchFamily="34" charset="0"/>
                <a:ea typeface="Consolas" pitchFamily="34" charset="-122"/>
                <a:cs typeface="Consolas" pitchFamily="34" charset="-120"/>
              </a:rPr>
              <a:t>PATH PLANNING</a:t>
            </a:r>
            <a:endParaRPr lang="en-US" sz="950" dirty="0"/>
          </a:p>
        </p:txBody>
      </p:sp>
      <p:sp>
        <p:nvSpPr>
          <p:cNvPr id="26" name="Text 24"/>
          <p:cNvSpPr/>
          <p:nvPr/>
        </p:nvSpPr>
        <p:spPr>
          <a:xfrm>
            <a:off x="338328" y="4105656"/>
            <a:ext cx="3931920" cy="502920"/>
          </a:xfrm>
          <a:prstGeom prst="rect">
            <a:avLst/>
          </a:prstGeom>
          <a:noFill/>
          <a:ln/>
        </p:spPr>
        <p:txBody>
          <a:bodyPr wrap="square" rtlCol="0" anchor="ctr"/>
          <a:lstStyle/>
          <a:p>
            <a:pPr marL="342900" indent="-342900">
              <a:buSzPct val="100000"/>
              <a:buChar char="•"/>
            </a:pPr>
            <a:r>
              <a:rPr lang="en-US" sz="900" dirty="0">
                <a:solidFill>
                  <a:srgbClr val="E6EDF3"/>
                </a:solidFill>
                <a:latin typeface="Calibri" pitchFamily="34" charset="0"/>
                <a:ea typeface="Calibri" pitchFamily="34" charset="-122"/>
                <a:cs typeface="Calibri" pitchFamily="34" charset="-120"/>
              </a:rPr>
              <a:t>Grid-based wall coverage algorithm</a:t>
            </a:r>
            <a:endParaRPr lang="en-US" sz="900" dirty="0"/>
          </a:p>
          <a:p>
            <a:pPr marL="342900" indent="-342900">
              <a:buSzPct val="100000"/>
              <a:buChar char="•"/>
            </a:pPr>
            <a:r>
              <a:rPr lang="en-US" sz="900" dirty="0">
                <a:solidFill>
                  <a:srgbClr val="E6EDF3"/>
                </a:solidFill>
                <a:latin typeface="Calibri" pitchFamily="34" charset="0"/>
                <a:ea typeface="Calibri" pitchFamily="34" charset="-122"/>
                <a:cs typeface="Calibri" pitchFamily="34" charset="-120"/>
              </a:rPr>
              <a:t>Generates trajectory and velocity commands</a:t>
            </a:r>
            <a:endParaRPr lang="en-US" sz="900" dirty="0"/>
          </a:p>
        </p:txBody>
      </p:sp>
      <p:sp>
        <p:nvSpPr>
          <p:cNvPr id="27" name="Shape 25"/>
          <p:cNvSpPr/>
          <p:nvPr/>
        </p:nvSpPr>
        <p:spPr>
          <a:xfrm>
            <a:off x="4617720" y="1005840"/>
            <a:ext cx="4297680" cy="841248"/>
          </a:xfrm>
          <a:prstGeom prst="rect">
            <a:avLst/>
          </a:prstGeom>
          <a:solidFill>
            <a:srgbClr val="161B22"/>
          </a:solidFill>
          <a:ln w="12700">
            <a:solidFill>
              <a:srgbClr val="30363D"/>
            </a:solidFill>
            <a:prstDash val="solid"/>
          </a:ln>
        </p:spPr>
      </p:sp>
      <p:sp>
        <p:nvSpPr>
          <p:cNvPr id="28" name="Shape 26"/>
          <p:cNvSpPr/>
          <p:nvPr/>
        </p:nvSpPr>
        <p:spPr>
          <a:xfrm>
            <a:off x="4617720" y="1005840"/>
            <a:ext cx="36576" cy="841248"/>
          </a:xfrm>
          <a:prstGeom prst="rect">
            <a:avLst/>
          </a:prstGeom>
          <a:solidFill>
            <a:srgbClr val="F78166"/>
          </a:solidFill>
          <a:ln w="12700">
            <a:solidFill>
              <a:srgbClr val="F78166"/>
            </a:solidFill>
            <a:prstDash val="solid"/>
          </a:ln>
        </p:spPr>
      </p:sp>
      <p:sp>
        <p:nvSpPr>
          <p:cNvPr id="29" name="Text 27"/>
          <p:cNvSpPr/>
          <p:nvPr/>
        </p:nvSpPr>
        <p:spPr>
          <a:xfrm>
            <a:off x="4727448" y="1060704"/>
            <a:ext cx="4114800" cy="228600"/>
          </a:xfrm>
          <a:prstGeom prst="rect">
            <a:avLst/>
          </a:prstGeom>
          <a:noFill/>
          <a:ln/>
        </p:spPr>
        <p:txBody>
          <a:bodyPr wrap="square" rtlCol="0" anchor="ctr"/>
          <a:lstStyle/>
          <a:p>
            <a:pPr indent="0" marL="0">
              <a:buNone/>
            </a:pPr>
            <a:r>
              <a:rPr lang="en-US" sz="950" b="1" dirty="0">
                <a:solidFill>
                  <a:srgbClr val="F78166"/>
                </a:solidFill>
                <a:latin typeface="Consolas" pitchFamily="34" charset="0"/>
                <a:ea typeface="Consolas" pitchFamily="34" charset="-122"/>
                <a:cs typeface="Consolas" pitchFamily="34" charset="-120"/>
              </a:rPr>
              <a:t>MOTION CONTROL</a:t>
            </a:r>
            <a:endParaRPr lang="en-US" sz="950" dirty="0"/>
          </a:p>
        </p:txBody>
      </p:sp>
      <p:sp>
        <p:nvSpPr>
          <p:cNvPr id="30" name="Text 28"/>
          <p:cNvSpPr/>
          <p:nvPr/>
        </p:nvSpPr>
        <p:spPr>
          <a:xfrm>
            <a:off x="4727448" y="1307592"/>
            <a:ext cx="4114800" cy="502920"/>
          </a:xfrm>
          <a:prstGeom prst="rect">
            <a:avLst/>
          </a:prstGeom>
          <a:noFill/>
          <a:ln/>
        </p:spPr>
        <p:txBody>
          <a:bodyPr wrap="square" rtlCol="0" anchor="ctr"/>
          <a:lstStyle/>
          <a:p>
            <a:pPr marL="342900" indent="-342900">
              <a:buSzPct val="100000"/>
              <a:buChar char="•"/>
            </a:pPr>
            <a:r>
              <a:rPr lang="en-US" sz="900" dirty="0">
                <a:solidFill>
                  <a:srgbClr val="E6EDF3"/>
                </a:solidFill>
                <a:latin typeface="Calibri" pitchFamily="34" charset="0"/>
                <a:ea typeface="Calibri" pitchFamily="34" charset="-122"/>
                <a:cs typeface="Calibri" pitchFamily="34" charset="-120"/>
              </a:rPr>
              <a:t>Differential drive controller for vertical movement</a:t>
            </a:r>
            <a:endParaRPr lang="en-US" sz="900" dirty="0"/>
          </a:p>
          <a:p>
            <a:pPr marL="342900" indent="-342900">
              <a:buSzPct val="100000"/>
              <a:buChar char="•"/>
            </a:pPr>
            <a:r>
              <a:rPr lang="en-US" sz="900" dirty="0">
                <a:solidFill>
                  <a:srgbClr val="E6EDF3"/>
                </a:solidFill>
                <a:latin typeface="Calibri" pitchFamily="34" charset="0"/>
                <a:ea typeface="Calibri" pitchFamily="34" charset="-122"/>
                <a:cs typeface="Calibri" pitchFamily="34" charset="-120"/>
              </a:rPr>
              <a:t>PID-based speed and stability regulation</a:t>
            </a:r>
            <a:endParaRPr lang="en-US" sz="900" dirty="0"/>
          </a:p>
        </p:txBody>
      </p:sp>
      <p:sp>
        <p:nvSpPr>
          <p:cNvPr id="31" name="Shape 29"/>
          <p:cNvSpPr/>
          <p:nvPr/>
        </p:nvSpPr>
        <p:spPr>
          <a:xfrm>
            <a:off x="4617720" y="1938528"/>
            <a:ext cx="4297680" cy="841248"/>
          </a:xfrm>
          <a:prstGeom prst="rect">
            <a:avLst/>
          </a:prstGeom>
          <a:solidFill>
            <a:srgbClr val="161B22"/>
          </a:solidFill>
          <a:ln w="12700">
            <a:solidFill>
              <a:srgbClr val="30363D"/>
            </a:solidFill>
            <a:prstDash val="solid"/>
          </a:ln>
        </p:spPr>
      </p:sp>
      <p:sp>
        <p:nvSpPr>
          <p:cNvPr id="32" name="Shape 30"/>
          <p:cNvSpPr/>
          <p:nvPr/>
        </p:nvSpPr>
        <p:spPr>
          <a:xfrm>
            <a:off x="4617720" y="1938528"/>
            <a:ext cx="36576" cy="841248"/>
          </a:xfrm>
          <a:prstGeom prst="rect">
            <a:avLst/>
          </a:prstGeom>
          <a:solidFill>
            <a:srgbClr val="58A6FF"/>
          </a:solidFill>
          <a:ln w="12700">
            <a:solidFill>
              <a:srgbClr val="58A6FF"/>
            </a:solidFill>
            <a:prstDash val="solid"/>
          </a:ln>
        </p:spPr>
      </p:sp>
      <p:sp>
        <p:nvSpPr>
          <p:cNvPr id="33" name="Text 31"/>
          <p:cNvSpPr/>
          <p:nvPr/>
        </p:nvSpPr>
        <p:spPr>
          <a:xfrm>
            <a:off x="4727448" y="1993392"/>
            <a:ext cx="4114800" cy="228600"/>
          </a:xfrm>
          <a:prstGeom prst="rect">
            <a:avLst/>
          </a:prstGeom>
          <a:noFill/>
          <a:ln/>
        </p:spPr>
        <p:txBody>
          <a:bodyPr wrap="square" rtlCol="0" anchor="ctr"/>
          <a:lstStyle/>
          <a:p>
            <a:pPr indent="0" marL="0">
              <a:buNone/>
            </a:pPr>
            <a:r>
              <a:rPr lang="en-US" sz="950" b="1" dirty="0">
                <a:solidFill>
                  <a:srgbClr val="58A6FF"/>
                </a:solidFill>
                <a:latin typeface="Consolas" pitchFamily="34" charset="0"/>
                <a:ea typeface="Consolas" pitchFamily="34" charset="-122"/>
                <a:cs typeface="Consolas" pitchFamily="34" charset="-120"/>
              </a:rPr>
              <a:t>SENSOR FEEDBACK</a:t>
            </a:r>
            <a:endParaRPr lang="en-US" sz="950" dirty="0"/>
          </a:p>
        </p:txBody>
      </p:sp>
      <p:sp>
        <p:nvSpPr>
          <p:cNvPr id="34" name="Text 32"/>
          <p:cNvSpPr/>
          <p:nvPr/>
        </p:nvSpPr>
        <p:spPr>
          <a:xfrm>
            <a:off x="4727448" y="2240280"/>
            <a:ext cx="4114800" cy="502920"/>
          </a:xfrm>
          <a:prstGeom prst="rect">
            <a:avLst/>
          </a:prstGeom>
          <a:noFill/>
          <a:ln/>
        </p:spPr>
        <p:txBody>
          <a:bodyPr wrap="square" rtlCol="0" anchor="ctr"/>
          <a:lstStyle/>
          <a:p>
            <a:pPr marL="342900" indent="-342900">
              <a:buSzPct val="100000"/>
              <a:buChar char="•"/>
            </a:pPr>
            <a:r>
              <a:rPr lang="en-US" sz="900" dirty="0">
                <a:solidFill>
                  <a:srgbClr val="E6EDF3"/>
                </a:solidFill>
                <a:latin typeface="Calibri" pitchFamily="34" charset="0"/>
                <a:ea typeface="Calibri" pitchFamily="34" charset="-122"/>
                <a:cs typeface="Calibri" pitchFamily="34" charset="-120"/>
              </a:rPr>
              <a:t>IMU and encoder-based position tracking</a:t>
            </a:r>
            <a:endParaRPr lang="en-US" sz="900" dirty="0"/>
          </a:p>
          <a:p>
            <a:pPr marL="342900" indent="-342900">
              <a:buSzPct val="100000"/>
              <a:buChar char="•"/>
            </a:pPr>
            <a:r>
              <a:rPr lang="en-US" sz="900" dirty="0">
                <a:solidFill>
                  <a:srgbClr val="E6EDF3"/>
                </a:solidFill>
                <a:latin typeface="Calibri" pitchFamily="34" charset="0"/>
                <a:ea typeface="Calibri" pitchFamily="34" charset="-122"/>
                <a:cs typeface="Calibri" pitchFamily="34" charset="-120"/>
              </a:rPr>
              <a:t>Closed-loop control for stability and accuracy</a:t>
            </a:r>
            <a:endParaRPr lang="en-US" sz="900" dirty="0"/>
          </a:p>
        </p:txBody>
      </p:sp>
      <p:sp>
        <p:nvSpPr>
          <p:cNvPr id="35" name="Shape 33"/>
          <p:cNvSpPr/>
          <p:nvPr/>
        </p:nvSpPr>
        <p:spPr>
          <a:xfrm>
            <a:off x="4617720" y="2871216"/>
            <a:ext cx="4297680" cy="841248"/>
          </a:xfrm>
          <a:prstGeom prst="rect">
            <a:avLst/>
          </a:prstGeom>
          <a:solidFill>
            <a:srgbClr val="161B22"/>
          </a:solidFill>
          <a:ln w="12700">
            <a:solidFill>
              <a:srgbClr val="30363D"/>
            </a:solidFill>
            <a:prstDash val="solid"/>
          </a:ln>
        </p:spPr>
      </p:sp>
      <p:sp>
        <p:nvSpPr>
          <p:cNvPr id="36" name="Shape 34"/>
          <p:cNvSpPr/>
          <p:nvPr/>
        </p:nvSpPr>
        <p:spPr>
          <a:xfrm>
            <a:off x="4617720" y="2871216"/>
            <a:ext cx="36576" cy="841248"/>
          </a:xfrm>
          <a:prstGeom prst="rect">
            <a:avLst/>
          </a:prstGeom>
          <a:solidFill>
            <a:srgbClr val="3FB950"/>
          </a:solidFill>
          <a:ln w="12700">
            <a:solidFill>
              <a:srgbClr val="3FB950"/>
            </a:solidFill>
            <a:prstDash val="solid"/>
          </a:ln>
        </p:spPr>
      </p:sp>
      <p:sp>
        <p:nvSpPr>
          <p:cNvPr id="37" name="Text 35"/>
          <p:cNvSpPr/>
          <p:nvPr/>
        </p:nvSpPr>
        <p:spPr>
          <a:xfrm>
            <a:off x="4727448" y="2926080"/>
            <a:ext cx="4114800" cy="228600"/>
          </a:xfrm>
          <a:prstGeom prst="rect">
            <a:avLst/>
          </a:prstGeom>
          <a:noFill/>
          <a:ln/>
        </p:spPr>
        <p:txBody>
          <a:bodyPr wrap="square" rtlCol="0" anchor="ctr"/>
          <a:lstStyle/>
          <a:p>
            <a:pPr indent="0" marL="0">
              <a:buNone/>
            </a:pPr>
            <a:r>
              <a:rPr lang="en-US" sz="950" b="1" dirty="0">
                <a:solidFill>
                  <a:srgbClr val="3FB950"/>
                </a:solidFill>
                <a:latin typeface="Consolas" pitchFamily="34" charset="0"/>
                <a:ea typeface="Consolas" pitchFamily="34" charset="-122"/>
                <a:cs typeface="Consolas" pitchFamily="34" charset="-120"/>
              </a:rPr>
              <a:t>CRACK DETECTION</a:t>
            </a:r>
            <a:endParaRPr lang="en-US" sz="950" dirty="0"/>
          </a:p>
        </p:txBody>
      </p:sp>
      <p:sp>
        <p:nvSpPr>
          <p:cNvPr id="38" name="Text 36"/>
          <p:cNvSpPr/>
          <p:nvPr/>
        </p:nvSpPr>
        <p:spPr>
          <a:xfrm>
            <a:off x="4727448" y="3172968"/>
            <a:ext cx="4114800" cy="502920"/>
          </a:xfrm>
          <a:prstGeom prst="rect">
            <a:avLst/>
          </a:prstGeom>
          <a:noFill/>
          <a:ln/>
        </p:spPr>
        <p:txBody>
          <a:bodyPr wrap="square" rtlCol="0" anchor="ctr"/>
          <a:lstStyle/>
          <a:p>
            <a:pPr marL="342900" indent="-342900">
              <a:buSzPct val="100000"/>
              <a:buChar char="•"/>
            </a:pPr>
            <a:r>
              <a:rPr lang="en-US" sz="900" dirty="0">
                <a:solidFill>
                  <a:srgbClr val="E6EDF3"/>
                </a:solidFill>
                <a:latin typeface="Calibri" pitchFamily="34" charset="0"/>
                <a:ea typeface="Calibri" pitchFamily="34" charset="-122"/>
                <a:cs typeface="Calibri" pitchFamily="34" charset="-120"/>
              </a:rPr>
              <a:t>OpenCV-based visual inspection</a:t>
            </a:r>
            <a:endParaRPr lang="en-US" sz="900" dirty="0"/>
          </a:p>
          <a:p>
            <a:pPr marL="342900" indent="-342900">
              <a:buSzPct val="100000"/>
              <a:buChar char="•"/>
            </a:pPr>
            <a:r>
              <a:rPr lang="en-US" sz="900" dirty="0">
                <a:solidFill>
                  <a:srgbClr val="E6EDF3"/>
                </a:solidFill>
                <a:latin typeface="Calibri" pitchFamily="34" charset="0"/>
                <a:ea typeface="Calibri" pitchFamily="34" charset="-122"/>
                <a:cs typeface="Calibri" pitchFamily="34" charset="-120"/>
              </a:rPr>
              <a:t>Real-time defect overlay on GUI</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1B22"/>
          </a:solidFill>
          <a:ln w="12700">
            <a:solidFill>
              <a:srgbClr val="30363D"/>
            </a:solidFill>
            <a:prstDash val="solid"/>
          </a:ln>
        </p:spPr>
      </p:sp>
      <p:sp>
        <p:nvSpPr>
          <p:cNvPr id="3" name="Shape 1"/>
          <p:cNvSpPr/>
          <p:nvPr/>
        </p:nvSpPr>
        <p:spPr>
          <a:xfrm>
            <a:off x="182880" y="91440"/>
            <a:ext cx="411480" cy="411480"/>
          </a:xfrm>
          <a:prstGeom prst="rect">
            <a:avLst/>
          </a:prstGeom>
          <a:solidFill>
            <a:srgbClr val="21262D"/>
          </a:solidFill>
          <a:ln w="12700">
            <a:solidFill>
              <a:srgbClr val="30363D"/>
            </a:solidFill>
            <a:prstDash val="solid"/>
          </a:ln>
        </p:spPr>
      </p:sp>
      <p:sp>
        <p:nvSpPr>
          <p:cNvPr id="4" name="Text 2"/>
          <p:cNvSpPr/>
          <p:nvPr/>
        </p:nvSpPr>
        <p:spPr>
          <a:xfrm>
            <a:off x="182880" y="73152"/>
            <a:ext cx="411480" cy="448056"/>
          </a:xfrm>
          <a:prstGeom prst="rect">
            <a:avLst/>
          </a:prstGeom>
          <a:noFill/>
          <a:ln/>
        </p:spPr>
        <p:txBody>
          <a:bodyPr wrap="square" rtlCol="0" anchor="ctr"/>
          <a:lstStyle/>
          <a:p>
            <a:pPr algn="ctr" indent="0" marL="0">
              <a:buNone/>
            </a:pPr>
            <a:r>
              <a:rPr lang="en-US" sz="1800" dirty="0">
                <a:solidFill>
                  <a:srgbClr val="E6EDF3"/>
                </a:solidFill>
              </a:rPr>
              <a:t>⬡</a:t>
            </a:r>
            <a:endParaRPr lang="en-US" sz="1800" dirty="0"/>
          </a:p>
        </p:txBody>
      </p:sp>
      <p:sp>
        <p:nvSpPr>
          <p:cNvPr id="5" name="Text 3"/>
          <p:cNvSpPr/>
          <p:nvPr/>
        </p:nvSpPr>
        <p:spPr>
          <a:xfrm>
            <a:off x="685800" y="91440"/>
            <a:ext cx="4572000" cy="411480"/>
          </a:xfrm>
          <a:prstGeom prst="rect">
            <a:avLst/>
          </a:prstGeom>
          <a:noFill/>
          <a:ln/>
        </p:spPr>
        <p:txBody>
          <a:bodyPr wrap="square" rtlCol="0" anchor="ctr"/>
          <a:lstStyle/>
          <a:p>
            <a:pPr indent="0" marL="0">
              <a:buNone/>
            </a:pPr>
            <a:r>
              <a:rPr lang="en-US" sz="1000" dirty="0">
                <a:solidFill>
                  <a:srgbClr val="58A6FF"/>
                </a:solidFill>
                <a:latin typeface="Consolas" pitchFamily="34" charset="0"/>
                <a:ea typeface="Consolas" pitchFamily="34" charset="-122"/>
                <a:cs typeface="Consolas" pitchFamily="34" charset="-120"/>
              </a:rPr>
              <a:t>HN-WallBot / udgam-urban-solution</a:t>
            </a:r>
            <a:endParaRPr lang="en-US" sz="1000" dirty="0"/>
          </a:p>
        </p:txBody>
      </p:sp>
      <p:sp>
        <p:nvSpPr>
          <p:cNvPr id="6" name="Text 4"/>
          <p:cNvSpPr/>
          <p:nvPr/>
        </p:nvSpPr>
        <p:spPr>
          <a:xfrm>
            <a:off x="5029200" y="91440"/>
            <a:ext cx="3931920" cy="411480"/>
          </a:xfrm>
          <a:prstGeom prst="rect">
            <a:avLst/>
          </a:prstGeom>
          <a:noFill/>
          <a:ln/>
        </p:spPr>
        <p:txBody>
          <a:bodyPr wrap="square" rtlCol="0" anchor="ctr"/>
          <a:lstStyle/>
          <a:p>
            <a:pPr algn="r" indent="0" marL="0">
              <a:buNone/>
            </a:pPr>
            <a:r>
              <a:rPr lang="en-US" sz="1100" dirty="0">
                <a:solidFill>
                  <a:srgbClr val="8B949E"/>
                </a:solidFill>
                <a:latin typeface="Consolas" pitchFamily="34" charset="0"/>
                <a:ea typeface="Consolas" pitchFamily="34" charset="-122"/>
                <a:cs typeface="Consolas" pitchFamily="34" charset="-120"/>
              </a:rPr>
              <a:t>docs/features-usp.md</a:t>
            </a:r>
            <a:endParaRPr lang="en-US" sz="1100" dirty="0"/>
          </a:p>
        </p:txBody>
      </p:sp>
      <p:sp>
        <p:nvSpPr>
          <p:cNvPr id="7" name="Shape 5"/>
          <p:cNvSpPr/>
          <p:nvPr/>
        </p:nvSpPr>
        <p:spPr>
          <a:xfrm>
            <a:off x="0" y="4892040"/>
            <a:ext cx="9144000" cy="251460"/>
          </a:xfrm>
          <a:prstGeom prst="rect">
            <a:avLst/>
          </a:prstGeom>
          <a:solidFill>
            <a:srgbClr val="161B22"/>
          </a:solidFill>
          <a:ln w="12700">
            <a:solidFill>
              <a:srgbClr val="30363D"/>
            </a:solidFill>
            <a:prstDash val="solid"/>
          </a:ln>
        </p:spPr>
      </p:sp>
      <p:sp>
        <p:nvSpPr>
          <p:cNvPr id="8" name="Text 6"/>
          <p:cNvSpPr/>
          <p:nvPr/>
        </p:nvSpPr>
        <p:spPr>
          <a:xfrm>
            <a:off x="274320" y="4901184"/>
            <a:ext cx="8595360" cy="219456"/>
          </a:xfrm>
          <a:prstGeom prst="rect">
            <a:avLst/>
          </a:prstGeom>
          <a:noFill/>
          <a:ln/>
        </p:spPr>
        <p:txBody>
          <a:bodyPr wrap="square" rtlCol="0" anchor="ctr"/>
          <a:lstStyle/>
          <a:p>
            <a:pPr indent="0" marL="0">
              <a:buNone/>
            </a:pPr>
            <a:r>
              <a:rPr lang="en-US" sz="800" dirty="0">
                <a:solidFill>
                  <a:srgbClr val="8B949E"/>
                </a:solidFill>
                <a:latin typeface="Consolas" pitchFamily="34" charset="0"/>
                <a:ea typeface="Consolas" pitchFamily="34" charset="-122"/>
                <a:cs typeface="Consolas" pitchFamily="34" charset="-120"/>
              </a:rPr>
              <a:t>India Innovates 2025  •  Semi-Autonomous Wall Painting Robot</a:t>
            </a:r>
            <a:endParaRPr lang="en-US" sz="800" dirty="0"/>
          </a:p>
        </p:txBody>
      </p:sp>
      <p:sp>
        <p:nvSpPr>
          <p:cNvPr id="9" name="Shape 7"/>
          <p:cNvSpPr/>
          <p:nvPr/>
        </p:nvSpPr>
        <p:spPr>
          <a:xfrm>
            <a:off x="8686800" y="4919472"/>
            <a:ext cx="109728" cy="109728"/>
          </a:xfrm>
          <a:prstGeom prst="ellipse">
            <a:avLst/>
          </a:prstGeom>
          <a:solidFill>
            <a:srgbClr val="3FB950"/>
          </a:solidFill>
          <a:ln w="12700">
            <a:solidFill>
              <a:srgbClr val="3FB950"/>
            </a:solidFill>
            <a:prstDash val="solid"/>
          </a:ln>
        </p:spPr>
      </p:sp>
      <p:sp>
        <p:nvSpPr>
          <p:cNvPr id="10" name="Text 8"/>
          <p:cNvSpPr/>
          <p:nvPr/>
        </p:nvSpPr>
        <p:spPr>
          <a:xfrm>
            <a:off x="274320" y="685800"/>
            <a:ext cx="8229600" cy="256032"/>
          </a:xfrm>
          <a:prstGeom prst="rect">
            <a:avLst/>
          </a:prstGeom>
          <a:noFill/>
          <a:ln/>
        </p:spPr>
        <p:txBody>
          <a:bodyPr wrap="square" rtlCol="0" anchor="ctr"/>
          <a:lstStyle/>
          <a:p>
            <a:pPr indent="0" marL="0">
              <a:buNone/>
            </a:pPr>
            <a:r>
              <a:rPr lang="en-US" sz="1200" b="1" dirty="0">
                <a:solidFill>
                  <a:srgbClr val="58A6FF"/>
                </a:solidFill>
                <a:latin typeface="Consolas" pitchFamily="34" charset="0"/>
                <a:ea typeface="Consolas" pitchFamily="34" charset="-122"/>
                <a:cs typeface="Consolas" pitchFamily="34" charset="-120"/>
              </a:rPr>
              <a:t>// Features / USP — Why This Robot Matters</a:t>
            </a:r>
            <a:endParaRPr lang="en-US" sz="1200" dirty="0"/>
          </a:p>
        </p:txBody>
      </p:sp>
      <p:sp>
        <p:nvSpPr>
          <p:cNvPr id="11" name="Shape 9"/>
          <p:cNvSpPr/>
          <p:nvPr/>
        </p:nvSpPr>
        <p:spPr>
          <a:xfrm>
            <a:off x="228600" y="1005840"/>
            <a:ext cx="8686800" cy="1143000"/>
          </a:xfrm>
          <a:prstGeom prst="rect">
            <a:avLst/>
          </a:prstGeom>
          <a:solidFill>
            <a:srgbClr val="161B22"/>
          </a:solidFill>
          <a:ln w="12700">
            <a:solidFill>
              <a:srgbClr val="58A6FF"/>
            </a:solidFill>
            <a:prstDash val="solid"/>
          </a:ln>
        </p:spPr>
      </p:sp>
      <p:sp>
        <p:nvSpPr>
          <p:cNvPr id="12" name="Shape 10"/>
          <p:cNvSpPr/>
          <p:nvPr/>
        </p:nvSpPr>
        <p:spPr>
          <a:xfrm>
            <a:off x="228600" y="1005840"/>
            <a:ext cx="54864" cy="1143000"/>
          </a:xfrm>
          <a:prstGeom prst="rect">
            <a:avLst/>
          </a:prstGeom>
          <a:solidFill>
            <a:srgbClr val="58A6FF"/>
          </a:solidFill>
          <a:ln w="12700">
            <a:solidFill>
              <a:srgbClr val="58A6FF"/>
            </a:solidFill>
            <a:prstDash val="solid"/>
          </a:ln>
        </p:spPr>
      </p:sp>
      <p:sp>
        <p:nvSpPr>
          <p:cNvPr id="13" name="Text 11"/>
          <p:cNvSpPr/>
          <p:nvPr/>
        </p:nvSpPr>
        <p:spPr>
          <a:xfrm>
            <a:off x="365760" y="1097280"/>
            <a:ext cx="8321040" cy="292608"/>
          </a:xfrm>
          <a:prstGeom prst="rect">
            <a:avLst/>
          </a:prstGeom>
          <a:noFill/>
          <a:ln/>
        </p:spPr>
        <p:txBody>
          <a:bodyPr wrap="square" rtlCol="0" anchor="ctr"/>
          <a:lstStyle/>
          <a:p>
            <a:pPr indent="0" marL="0">
              <a:buNone/>
            </a:pPr>
            <a:r>
              <a:rPr lang="en-US" sz="1300" b="1" dirty="0">
                <a:solidFill>
                  <a:srgbClr val="58A6FF"/>
                </a:solidFill>
                <a:latin typeface="Calibri" pitchFamily="34" charset="0"/>
                <a:ea typeface="Calibri" pitchFamily="34" charset="-122"/>
                <a:cs typeface="Calibri" pitchFamily="34" charset="-120"/>
              </a:rPr>
              <a:t>🏗  Automated High-Rise Wall Maintenance</a:t>
            </a:r>
            <a:endParaRPr lang="en-US" sz="1300" dirty="0"/>
          </a:p>
        </p:txBody>
      </p:sp>
      <p:sp>
        <p:nvSpPr>
          <p:cNvPr id="14" name="Text 12"/>
          <p:cNvSpPr/>
          <p:nvPr/>
        </p:nvSpPr>
        <p:spPr>
          <a:xfrm>
            <a:off x="365760" y="1435608"/>
            <a:ext cx="8321040" cy="640080"/>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Exterior painting is currently performed by workers suspended with ropes or temporary platforms, exposing them to severe fall hazards. This solution removes the need for workers to operate at extreme heights, significantly reducing the risk of injuries and fatalities.</a:t>
            </a:r>
            <a:endParaRPr lang="en-US" sz="1000" dirty="0"/>
          </a:p>
        </p:txBody>
      </p:sp>
      <p:sp>
        <p:nvSpPr>
          <p:cNvPr id="15" name="Shape 13"/>
          <p:cNvSpPr/>
          <p:nvPr/>
        </p:nvSpPr>
        <p:spPr>
          <a:xfrm>
            <a:off x="228600" y="2267712"/>
            <a:ext cx="8686800" cy="1143000"/>
          </a:xfrm>
          <a:prstGeom prst="rect">
            <a:avLst/>
          </a:prstGeom>
          <a:solidFill>
            <a:srgbClr val="161B22"/>
          </a:solidFill>
          <a:ln w="12700">
            <a:solidFill>
              <a:srgbClr val="3FB950"/>
            </a:solidFill>
            <a:prstDash val="solid"/>
          </a:ln>
        </p:spPr>
      </p:sp>
      <p:sp>
        <p:nvSpPr>
          <p:cNvPr id="16" name="Shape 14"/>
          <p:cNvSpPr/>
          <p:nvPr/>
        </p:nvSpPr>
        <p:spPr>
          <a:xfrm>
            <a:off x="228600" y="2267712"/>
            <a:ext cx="54864" cy="1143000"/>
          </a:xfrm>
          <a:prstGeom prst="rect">
            <a:avLst/>
          </a:prstGeom>
          <a:solidFill>
            <a:srgbClr val="3FB950"/>
          </a:solidFill>
          <a:ln w="12700">
            <a:solidFill>
              <a:srgbClr val="3FB950"/>
            </a:solidFill>
            <a:prstDash val="solid"/>
          </a:ln>
        </p:spPr>
      </p:sp>
      <p:sp>
        <p:nvSpPr>
          <p:cNvPr id="17" name="Text 15"/>
          <p:cNvSpPr/>
          <p:nvPr/>
        </p:nvSpPr>
        <p:spPr>
          <a:xfrm>
            <a:off x="365760" y="2359152"/>
            <a:ext cx="8321040" cy="292608"/>
          </a:xfrm>
          <a:prstGeom prst="rect">
            <a:avLst/>
          </a:prstGeom>
          <a:noFill/>
          <a:ln/>
        </p:spPr>
        <p:txBody>
          <a:bodyPr wrap="square" rtlCol="0" anchor="ctr"/>
          <a:lstStyle/>
          <a:p>
            <a:pPr indent="0" marL="0">
              <a:buNone/>
            </a:pPr>
            <a:r>
              <a:rPr lang="en-US" sz="1300" b="1" dirty="0">
                <a:solidFill>
                  <a:srgbClr val="3FB950"/>
                </a:solidFill>
                <a:latin typeface="Calibri" pitchFamily="34" charset="0"/>
                <a:ea typeface="Calibri" pitchFamily="34" charset="-122"/>
                <a:cs typeface="Calibri" pitchFamily="34" charset="-120"/>
              </a:rPr>
              <a:t>🔍  Intelligent Surface Inspection</a:t>
            </a:r>
            <a:endParaRPr lang="en-US" sz="1300" dirty="0"/>
          </a:p>
        </p:txBody>
      </p:sp>
      <p:sp>
        <p:nvSpPr>
          <p:cNvPr id="18" name="Text 16"/>
          <p:cNvSpPr/>
          <p:nvPr/>
        </p:nvSpPr>
        <p:spPr>
          <a:xfrm>
            <a:off x="365760" y="2697480"/>
            <a:ext cx="8321040" cy="640080"/>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The robot integrates a stereo camera and thermal camera system for facade inspection. This enables detection of surface cracks, moisture zones, and structural irregularities, allowing building maintenance teams to identify issues early.</a:t>
            </a:r>
            <a:endParaRPr lang="en-US" sz="1000" dirty="0"/>
          </a:p>
        </p:txBody>
      </p:sp>
      <p:sp>
        <p:nvSpPr>
          <p:cNvPr id="19" name="Shape 17"/>
          <p:cNvSpPr/>
          <p:nvPr/>
        </p:nvSpPr>
        <p:spPr>
          <a:xfrm>
            <a:off x="228600" y="3529584"/>
            <a:ext cx="8686800" cy="1143000"/>
          </a:xfrm>
          <a:prstGeom prst="rect">
            <a:avLst/>
          </a:prstGeom>
          <a:solidFill>
            <a:srgbClr val="161B22"/>
          </a:solidFill>
          <a:ln w="12700">
            <a:solidFill>
              <a:srgbClr val="D29922"/>
            </a:solidFill>
            <a:prstDash val="solid"/>
          </a:ln>
        </p:spPr>
      </p:sp>
      <p:sp>
        <p:nvSpPr>
          <p:cNvPr id="20" name="Shape 18"/>
          <p:cNvSpPr/>
          <p:nvPr/>
        </p:nvSpPr>
        <p:spPr>
          <a:xfrm>
            <a:off x="228600" y="3529584"/>
            <a:ext cx="54864" cy="1143000"/>
          </a:xfrm>
          <a:prstGeom prst="rect">
            <a:avLst/>
          </a:prstGeom>
          <a:solidFill>
            <a:srgbClr val="D29922"/>
          </a:solidFill>
          <a:ln w="12700">
            <a:solidFill>
              <a:srgbClr val="D29922"/>
            </a:solidFill>
            <a:prstDash val="solid"/>
          </a:ln>
        </p:spPr>
      </p:sp>
      <p:sp>
        <p:nvSpPr>
          <p:cNvPr id="21" name="Text 19"/>
          <p:cNvSpPr/>
          <p:nvPr/>
        </p:nvSpPr>
        <p:spPr>
          <a:xfrm>
            <a:off x="365760" y="3621024"/>
            <a:ext cx="8321040" cy="292608"/>
          </a:xfrm>
          <a:prstGeom prst="rect">
            <a:avLst/>
          </a:prstGeom>
          <a:noFill/>
          <a:ln/>
        </p:spPr>
        <p:txBody>
          <a:bodyPr wrap="square" rtlCol="0" anchor="ctr"/>
          <a:lstStyle/>
          <a:p>
            <a:pPr indent="0" marL="0">
              <a:buNone/>
            </a:pPr>
            <a:r>
              <a:rPr lang="en-US" sz="1300" b="1" dirty="0">
                <a:solidFill>
                  <a:srgbClr val="D29922"/>
                </a:solidFill>
                <a:latin typeface="Calibri" pitchFamily="34" charset="0"/>
                <a:ea typeface="Calibri" pitchFamily="34" charset="-122"/>
                <a:cs typeface="Calibri" pitchFamily="34" charset="-120"/>
              </a:rPr>
              <a:t>💵  Reduces Maintenance Cost for Building Owners</a:t>
            </a:r>
            <a:endParaRPr lang="en-US" sz="1300" dirty="0"/>
          </a:p>
        </p:txBody>
      </p:sp>
      <p:sp>
        <p:nvSpPr>
          <p:cNvPr id="22" name="Text 20"/>
          <p:cNvSpPr/>
          <p:nvPr/>
        </p:nvSpPr>
        <p:spPr>
          <a:xfrm>
            <a:off x="365760" y="3959352"/>
            <a:ext cx="8321040" cy="640080"/>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High-rise painting requires scaffolding, safety equipment, and large labour teams. By automating facade painting and inspection, the system reduces labour dependency and lowers long-term operational expenses.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1B22"/>
          </a:solidFill>
          <a:ln w="12700">
            <a:solidFill>
              <a:srgbClr val="30363D"/>
            </a:solidFill>
            <a:prstDash val="solid"/>
          </a:ln>
        </p:spPr>
      </p:sp>
      <p:sp>
        <p:nvSpPr>
          <p:cNvPr id="3" name="Shape 1"/>
          <p:cNvSpPr/>
          <p:nvPr/>
        </p:nvSpPr>
        <p:spPr>
          <a:xfrm>
            <a:off x="182880" y="91440"/>
            <a:ext cx="411480" cy="411480"/>
          </a:xfrm>
          <a:prstGeom prst="rect">
            <a:avLst/>
          </a:prstGeom>
          <a:solidFill>
            <a:srgbClr val="21262D"/>
          </a:solidFill>
          <a:ln w="12700">
            <a:solidFill>
              <a:srgbClr val="30363D"/>
            </a:solidFill>
            <a:prstDash val="solid"/>
          </a:ln>
        </p:spPr>
      </p:sp>
      <p:sp>
        <p:nvSpPr>
          <p:cNvPr id="4" name="Text 2"/>
          <p:cNvSpPr/>
          <p:nvPr/>
        </p:nvSpPr>
        <p:spPr>
          <a:xfrm>
            <a:off x="182880" y="73152"/>
            <a:ext cx="411480" cy="448056"/>
          </a:xfrm>
          <a:prstGeom prst="rect">
            <a:avLst/>
          </a:prstGeom>
          <a:noFill/>
          <a:ln/>
        </p:spPr>
        <p:txBody>
          <a:bodyPr wrap="square" rtlCol="0" anchor="ctr"/>
          <a:lstStyle/>
          <a:p>
            <a:pPr algn="ctr" indent="0" marL="0">
              <a:buNone/>
            </a:pPr>
            <a:r>
              <a:rPr lang="en-US" sz="1800" dirty="0">
                <a:solidFill>
                  <a:srgbClr val="E6EDF3"/>
                </a:solidFill>
              </a:rPr>
              <a:t>⬡</a:t>
            </a:r>
            <a:endParaRPr lang="en-US" sz="1800" dirty="0"/>
          </a:p>
        </p:txBody>
      </p:sp>
      <p:sp>
        <p:nvSpPr>
          <p:cNvPr id="5" name="Text 3"/>
          <p:cNvSpPr/>
          <p:nvPr/>
        </p:nvSpPr>
        <p:spPr>
          <a:xfrm>
            <a:off x="685800" y="91440"/>
            <a:ext cx="4572000" cy="411480"/>
          </a:xfrm>
          <a:prstGeom prst="rect">
            <a:avLst/>
          </a:prstGeom>
          <a:noFill/>
          <a:ln/>
        </p:spPr>
        <p:txBody>
          <a:bodyPr wrap="square" rtlCol="0" anchor="ctr"/>
          <a:lstStyle/>
          <a:p>
            <a:pPr indent="0" marL="0">
              <a:buNone/>
            </a:pPr>
            <a:r>
              <a:rPr lang="en-US" sz="1000" dirty="0">
                <a:solidFill>
                  <a:srgbClr val="58A6FF"/>
                </a:solidFill>
                <a:latin typeface="Consolas" pitchFamily="34" charset="0"/>
                <a:ea typeface="Consolas" pitchFamily="34" charset="-122"/>
                <a:cs typeface="Consolas" pitchFamily="34" charset="-120"/>
              </a:rPr>
              <a:t>HN-WallBot / udgam-urban-solution</a:t>
            </a:r>
            <a:endParaRPr lang="en-US" sz="1000" dirty="0"/>
          </a:p>
        </p:txBody>
      </p:sp>
      <p:sp>
        <p:nvSpPr>
          <p:cNvPr id="6" name="Text 4"/>
          <p:cNvSpPr/>
          <p:nvPr/>
        </p:nvSpPr>
        <p:spPr>
          <a:xfrm>
            <a:off x="5029200" y="91440"/>
            <a:ext cx="3931920" cy="411480"/>
          </a:xfrm>
          <a:prstGeom prst="rect">
            <a:avLst/>
          </a:prstGeom>
          <a:noFill/>
          <a:ln/>
        </p:spPr>
        <p:txBody>
          <a:bodyPr wrap="square" rtlCol="0" anchor="ctr"/>
          <a:lstStyle/>
          <a:p>
            <a:pPr algn="r" indent="0" marL="0">
              <a:buNone/>
            </a:pPr>
            <a:r>
              <a:rPr lang="en-US" sz="1100" dirty="0">
                <a:solidFill>
                  <a:srgbClr val="8B949E"/>
                </a:solidFill>
                <a:latin typeface="Consolas" pitchFamily="34" charset="0"/>
                <a:ea typeface="Consolas" pitchFamily="34" charset="-122"/>
                <a:cs typeface="Consolas" pitchFamily="34" charset="-120"/>
              </a:rPr>
              <a:t>docs/references.md</a:t>
            </a:r>
            <a:endParaRPr lang="en-US" sz="1100" dirty="0"/>
          </a:p>
        </p:txBody>
      </p:sp>
      <p:sp>
        <p:nvSpPr>
          <p:cNvPr id="7" name="Shape 5"/>
          <p:cNvSpPr/>
          <p:nvPr/>
        </p:nvSpPr>
        <p:spPr>
          <a:xfrm>
            <a:off x="0" y="4892040"/>
            <a:ext cx="9144000" cy="251460"/>
          </a:xfrm>
          <a:prstGeom prst="rect">
            <a:avLst/>
          </a:prstGeom>
          <a:solidFill>
            <a:srgbClr val="161B22"/>
          </a:solidFill>
          <a:ln w="12700">
            <a:solidFill>
              <a:srgbClr val="30363D"/>
            </a:solidFill>
            <a:prstDash val="solid"/>
          </a:ln>
        </p:spPr>
      </p:sp>
      <p:sp>
        <p:nvSpPr>
          <p:cNvPr id="8" name="Text 6"/>
          <p:cNvSpPr/>
          <p:nvPr/>
        </p:nvSpPr>
        <p:spPr>
          <a:xfrm>
            <a:off x="274320" y="4901184"/>
            <a:ext cx="8595360" cy="219456"/>
          </a:xfrm>
          <a:prstGeom prst="rect">
            <a:avLst/>
          </a:prstGeom>
          <a:noFill/>
          <a:ln/>
        </p:spPr>
        <p:txBody>
          <a:bodyPr wrap="square" rtlCol="0" anchor="ctr"/>
          <a:lstStyle/>
          <a:p>
            <a:pPr indent="0" marL="0">
              <a:buNone/>
            </a:pPr>
            <a:r>
              <a:rPr lang="en-US" sz="800" dirty="0">
                <a:solidFill>
                  <a:srgbClr val="8B949E"/>
                </a:solidFill>
                <a:latin typeface="Consolas" pitchFamily="34" charset="0"/>
                <a:ea typeface="Consolas" pitchFamily="34" charset="-122"/>
                <a:cs typeface="Consolas" pitchFamily="34" charset="-120"/>
              </a:rPr>
              <a:t>India Innovates 2025  •  Semi-Autonomous Wall Painting Robot</a:t>
            </a:r>
            <a:endParaRPr lang="en-US" sz="800" dirty="0"/>
          </a:p>
        </p:txBody>
      </p:sp>
      <p:sp>
        <p:nvSpPr>
          <p:cNvPr id="9" name="Shape 7"/>
          <p:cNvSpPr/>
          <p:nvPr/>
        </p:nvSpPr>
        <p:spPr>
          <a:xfrm>
            <a:off x="8686800" y="4919472"/>
            <a:ext cx="109728" cy="109728"/>
          </a:xfrm>
          <a:prstGeom prst="ellipse">
            <a:avLst/>
          </a:prstGeom>
          <a:solidFill>
            <a:srgbClr val="3FB950"/>
          </a:solidFill>
          <a:ln w="12700">
            <a:solidFill>
              <a:srgbClr val="3FB950"/>
            </a:solidFill>
            <a:prstDash val="solid"/>
          </a:ln>
        </p:spPr>
      </p:sp>
      <p:sp>
        <p:nvSpPr>
          <p:cNvPr id="10" name="Text 8"/>
          <p:cNvSpPr/>
          <p:nvPr/>
        </p:nvSpPr>
        <p:spPr>
          <a:xfrm>
            <a:off x="274320" y="685800"/>
            <a:ext cx="8229600" cy="256032"/>
          </a:xfrm>
          <a:prstGeom prst="rect">
            <a:avLst/>
          </a:prstGeom>
          <a:noFill/>
          <a:ln/>
        </p:spPr>
        <p:txBody>
          <a:bodyPr wrap="square" rtlCol="0" anchor="ctr"/>
          <a:lstStyle/>
          <a:p>
            <a:pPr indent="0" marL="0">
              <a:buNone/>
            </a:pPr>
            <a:r>
              <a:rPr lang="en-US" sz="1200" b="1" dirty="0">
                <a:solidFill>
                  <a:srgbClr val="8B949E"/>
                </a:solidFill>
                <a:latin typeface="Consolas" pitchFamily="34" charset="0"/>
                <a:ea typeface="Consolas" pitchFamily="34" charset="-122"/>
                <a:cs typeface="Consolas" pitchFamily="34" charset="-120"/>
              </a:rPr>
              <a:t>// References — Research Papers</a:t>
            </a:r>
            <a:endParaRPr lang="en-US" sz="1200" dirty="0"/>
          </a:p>
        </p:txBody>
      </p:sp>
      <p:sp>
        <p:nvSpPr>
          <p:cNvPr id="11" name="Shape 9"/>
          <p:cNvSpPr/>
          <p:nvPr/>
        </p:nvSpPr>
        <p:spPr>
          <a:xfrm>
            <a:off x="228600" y="1005840"/>
            <a:ext cx="8686800" cy="3749040"/>
          </a:xfrm>
          <a:prstGeom prst="rect">
            <a:avLst/>
          </a:prstGeom>
          <a:solidFill>
            <a:srgbClr val="161B22"/>
          </a:solidFill>
          <a:ln w="12700">
            <a:solidFill>
              <a:srgbClr val="30363D"/>
            </a:solidFill>
            <a:prstDash val="solid"/>
          </a:ln>
        </p:spPr>
      </p:sp>
      <p:sp>
        <p:nvSpPr>
          <p:cNvPr id="12" name="Text 10"/>
          <p:cNvSpPr/>
          <p:nvPr/>
        </p:nvSpPr>
        <p:spPr>
          <a:xfrm>
            <a:off x="320040" y="1115568"/>
            <a:ext cx="365760" cy="228600"/>
          </a:xfrm>
          <a:prstGeom prst="rect">
            <a:avLst/>
          </a:prstGeom>
          <a:noFill/>
          <a:ln/>
        </p:spPr>
        <p:txBody>
          <a:bodyPr wrap="square" rtlCol="0" anchor="ctr"/>
          <a:lstStyle/>
          <a:p>
            <a:pPr indent="0" marL="0">
              <a:buNone/>
            </a:pPr>
            <a:r>
              <a:rPr lang="en-US" sz="900" dirty="0">
                <a:solidFill>
                  <a:srgbClr val="3FB950"/>
                </a:solidFill>
                <a:latin typeface="Consolas" pitchFamily="34" charset="0"/>
                <a:ea typeface="Consolas" pitchFamily="34" charset="-122"/>
                <a:cs typeface="Consolas" pitchFamily="34" charset="-120"/>
              </a:rPr>
              <a:t>[1]</a:t>
            </a:r>
            <a:endParaRPr lang="en-US" sz="900" dirty="0"/>
          </a:p>
        </p:txBody>
      </p:sp>
      <p:sp>
        <p:nvSpPr>
          <p:cNvPr id="13" name="Text 11"/>
          <p:cNvSpPr/>
          <p:nvPr/>
        </p:nvSpPr>
        <p:spPr>
          <a:xfrm>
            <a:off x="685800" y="1115568"/>
            <a:ext cx="8046720" cy="256032"/>
          </a:xfrm>
          <a:prstGeom prst="rect">
            <a:avLst/>
          </a:prstGeom>
          <a:noFill/>
          <a:ln/>
        </p:spPr>
        <p:txBody>
          <a:bodyPr wrap="square" rtlCol="0" anchor="ctr"/>
          <a:lstStyle/>
          <a:p>
            <a:pPr indent="0" marL="0">
              <a:buNone/>
            </a:pPr>
            <a:r>
              <a:rPr lang="en-US" sz="950" dirty="0">
                <a:solidFill>
                  <a:srgbClr val="58A6FF"/>
                </a:solidFill>
                <a:latin typeface="Calibri" pitchFamily="34" charset="0"/>
                <a:ea typeface="Calibri" pitchFamily="34" charset="-122"/>
                <a:cs typeface="Calibri" pitchFamily="34" charset="-120"/>
              </a:rPr>
              <a:t>Design and analysis of a passive adaptive wall-climbing robot on variable curvature ship facades</a:t>
            </a:r>
            <a:endParaRPr lang="en-US" sz="950" dirty="0"/>
          </a:p>
        </p:txBody>
      </p:sp>
      <p:sp>
        <p:nvSpPr>
          <p:cNvPr id="14" name="Text 12"/>
          <p:cNvSpPr/>
          <p:nvPr/>
        </p:nvSpPr>
        <p:spPr>
          <a:xfrm>
            <a:off x="685800" y="1389888"/>
            <a:ext cx="8046720" cy="228600"/>
          </a:xfrm>
          <a:prstGeom prst="rect">
            <a:avLst/>
          </a:prstGeom>
          <a:noFill/>
          <a:ln/>
        </p:spPr>
        <p:txBody>
          <a:bodyPr wrap="square" rtlCol="0" anchor="ctr"/>
          <a:lstStyle/>
          <a:p>
            <a:pPr indent="0" marL="0">
              <a:buNone/>
            </a:pPr>
            <a:r>
              <a:rPr lang="en-US" sz="850" i="1" dirty="0">
                <a:solidFill>
                  <a:srgbClr val="8B949E"/>
                </a:solidFill>
                <a:latin typeface="Calibri" pitchFamily="34" charset="0"/>
                <a:ea typeface="Calibri" pitchFamily="34" charset="-122"/>
                <a:cs typeface="Calibri" pitchFamily="34" charset="-120"/>
              </a:rPr>
              <a:t>     — Pei Yang, Lingyu Sun, Minglu Zhang</a:t>
            </a:r>
            <a:endParaRPr lang="en-US" sz="850" dirty="0"/>
          </a:p>
        </p:txBody>
      </p:sp>
      <p:sp>
        <p:nvSpPr>
          <p:cNvPr id="15" name="Text 13"/>
          <p:cNvSpPr/>
          <p:nvPr/>
        </p:nvSpPr>
        <p:spPr>
          <a:xfrm>
            <a:off x="320040" y="1709928"/>
            <a:ext cx="365760" cy="228600"/>
          </a:xfrm>
          <a:prstGeom prst="rect">
            <a:avLst/>
          </a:prstGeom>
          <a:noFill/>
          <a:ln/>
        </p:spPr>
        <p:txBody>
          <a:bodyPr wrap="square" rtlCol="0" anchor="ctr"/>
          <a:lstStyle/>
          <a:p>
            <a:pPr indent="0" marL="0">
              <a:buNone/>
            </a:pPr>
            <a:r>
              <a:rPr lang="en-US" sz="900" dirty="0">
                <a:solidFill>
                  <a:srgbClr val="3FB950"/>
                </a:solidFill>
                <a:latin typeface="Consolas" pitchFamily="34" charset="0"/>
                <a:ea typeface="Consolas" pitchFamily="34" charset="-122"/>
                <a:cs typeface="Consolas" pitchFamily="34" charset="-120"/>
              </a:rPr>
              <a:t>[2]</a:t>
            </a:r>
            <a:endParaRPr lang="en-US" sz="900" dirty="0"/>
          </a:p>
        </p:txBody>
      </p:sp>
      <p:sp>
        <p:nvSpPr>
          <p:cNvPr id="16" name="Text 14"/>
          <p:cNvSpPr/>
          <p:nvPr/>
        </p:nvSpPr>
        <p:spPr>
          <a:xfrm>
            <a:off x="685800" y="1709928"/>
            <a:ext cx="8046720" cy="256032"/>
          </a:xfrm>
          <a:prstGeom prst="rect">
            <a:avLst/>
          </a:prstGeom>
          <a:noFill/>
          <a:ln/>
        </p:spPr>
        <p:txBody>
          <a:bodyPr wrap="square" rtlCol="0" anchor="ctr"/>
          <a:lstStyle/>
          <a:p>
            <a:pPr indent="0" marL="0">
              <a:buNone/>
            </a:pPr>
            <a:r>
              <a:rPr lang="en-US" sz="950" dirty="0">
                <a:solidFill>
                  <a:srgbClr val="58A6FF"/>
                </a:solidFill>
                <a:latin typeface="Calibri" pitchFamily="34" charset="0"/>
                <a:ea typeface="Calibri" pitchFamily="34" charset="-122"/>
                <a:cs typeface="Calibri" pitchFamily="34" charset="-120"/>
              </a:rPr>
              <a:t>A 6-DOF humanoid wall-climbing robot with flexible adsorption feet based on negative pressure suction</a:t>
            </a:r>
            <a:endParaRPr lang="en-US" sz="950" dirty="0"/>
          </a:p>
        </p:txBody>
      </p:sp>
      <p:sp>
        <p:nvSpPr>
          <p:cNvPr id="17" name="Text 15"/>
          <p:cNvSpPr/>
          <p:nvPr/>
        </p:nvSpPr>
        <p:spPr>
          <a:xfrm>
            <a:off x="685800" y="1984248"/>
            <a:ext cx="8046720" cy="228600"/>
          </a:xfrm>
          <a:prstGeom prst="rect">
            <a:avLst/>
          </a:prstGeom>
          <a:noFill/>
          <a:ln/>
        </p:spPr>
        <p:txBody>
          <a:bodyPr wrap="square" rtlCol="0" anchor="ctr"/>
          <a:lstStyle/>
          <a:p>
            <a:pPr indent="0" marL="0">
              <a:buNone/>
            </a:pPr>
            <a:r>
              <a:rPr lang="en-US" sz="850" i="1" dirty="0">
                <a:solidFill>
                  <a:srgbClr val="8B949E"/>
                </a:solidFill>
                <a:latin typeface="Calibri" pitchFamily="34" charset="0"/>
                <a:ea typeface="Calibri" pitchFamily="34" charset="-122"/>
                <a:cs typeface="Calibri" pitchFamily="34" charset="-120"/>
              </a:rPr>
              <a:t>     — Xiaotian Shi, Lu Xu, Haibo Xu, Chuan Jiang, Zhibin Zhao, Yanjie Guo, Xuefeng Chen</a:t>
            </a:r>
            <a:endParaRPr lang="en-US" sz="850" dirty="0"/>
          </a:p>
        </p:txBody>
      </p:sp>
      <p:sp>
        <p:nvSpPr>
          <p:cNvPr id="18" name="Text 16"/>
          <p:cNvSpPr/>
          <p:nvPr/>
        </p:nvSpPr>
        <p:spPr>
          <a:xfrm>
            <a:off x="320040" y="2304288"/>
            <a:ext cx="365760" cy="228600"/>
          </a:xfrm>
          <a:prstGeom prst="rect">
            <a:avLst/>
          </a:prstGeom>
          <a:noFill/>
          <a:ln/>
        </p:spPr>
        <p:txBody>
          <a:bodyPr wrap="square" rtlCol="0" anchor="ctr"/>
          <a:lstStyle/>
          <a:p>
            <a:pPr indent="0" marL="0">
              <a:buNone/>
            </a:pPr>
            <a:r>
              <a:rPr lang="en-US" sz="900" dirty="0">
                <a:solidFill>
                  <a:srgbClr val="3FB950"/>
                </a:solidFill>
                <a:latin typeface="Consolas" pitchFamily="34" charset="0"/>
                <a:ea typeface="Consolas" pitchFamily="34" charset="-122"/>
                <a:cs typeface="Consolas" pitchFamily="34" charset="-120"/>
              </a:rPr>
              <a:t>[3]</a:t>
            </a:r>
            <a:endParaRPr lang="en-US" sz="900" dirty="0"/>
          </a:p>
        </p:txBody>
      </p:sp>
      <p:sp>
        <p:nvSpPr>
          <p:cNvPr id="19" name="Text 17"/>
          <p:cNvSpPr/>
          <p:nvPr/>
        </p:nvSpPr>
        <p:spPr>
          <a:xfrm>
            <a:off x="685800" y="2304288"/>
            <a:ext cx="8046720" cy="256032"/>
          </a:xfrm>
          <a:prstGeom prst="rect">
            <a:avLst/>
          </a:prstGeom>
          <a:noFill/>
          <a:ln/>
        </p:spPr>
        <p:txBody>
          <a:bodyPr wrap="square" rtlCol="0" anchor="ctr"/>
          <a:lstStyle/>
          <a:p>
            <a:pPr indent="0" marL="0">
              <a:buNone/>
            </a:pPr>
            <a:r>
              <a:rPr lang="en-US" sz="950" dirty="0">
                <a:solidFill>
                  <a:srgbClr val="58A6FF"/>
                </a:solidFill>
                <a:latin typeface="Calibri" pitchFamily="34" charset="0"/>
                <a:ea typeface="Calibri" pitchFamily="34" charset="-122"/>
                <a:cs typeface="Calibri" pitchFamily="34" charset="-120"/>
              </a:rPr>
              <a:t>Review of advancements in wall climbing robot techniques</a:t>
            </a:r>
            <a:endParaRPr lang="en-US" sz="950" dirty="0"/>
          </a:p>
        </p:txBody>
      </p:sp>
      <p:sp>
        <p:nvSpPr>
          <p:cNvPr id="20" name="Text 18"/>
          <p:cNvSpPr/>
          <p:nvPr/>
        </p:nvSpPr>
        <p:spPr>
          <a:xfrm>
            <a:off x="685800" y="2578608"/>
            <a:ext cx="8046720" cy="228600"/>
          </a:xfrm>
          <a:prstGeom prst="rect">
            <a:avLst/>
          </a:prstGeom>
          <a:noFill/>
          <a:ln/>
        </p:spPr>
        <p:txBody>
          <a:bodyPr wrap="square" rtlCol="0" anchor="ctr"/>
          <a:lstStyle/>
          <a:p>
            <a:pPr indent="0" marL="0">
              <a:buNone/>
            </a:pPr>
            <a:r>
              <a:rPr lang="en-US" sz="850" i="1" dirty="0">
                <a:solidFill>
                  <a:srgbClr val="8B949E"/>
                </a:solidFill>
                <a:latin typeface="Calibri" pitchFamily="34" charset="0"/>
                <a:ea typeface="Calibri" pitchFamily="34" charset="-122"/>
                <a:cs typeface="Calibri" pitchFamily="34" charset="-120"/>
              </a:rPr>
              <a:t>     — Junru Zhu, Yongqiang Zhu, Pingxia Zhang</a:t>
            </a:r>
            <a:endParaRPr lang="en-US" sz="850" dirty="0"/>
          </a:p>
        </p:txBody>
      </p:sp>
      <p:sp>
        <p:nvSpPr>
          <p:cNvPr id="21" name="Text 19"/>
          <p:cNvSpPr/>
          <p:nvPr/>
        </p:nvSpPr>
        <p:spPr>
          <a:xfrm>
            <a:off x="320040" y="2898648"/>
            <a:ext cx="365760" cy="228600"/>
          </a:xfrm>
          <a:prstGeom prst="rect">
            <a:avLst/>
          </a:prstGeom>
          <a:noFill/>
          <a:ln/>
        </p:spPr>
        <p:txBody>
          <a:bodyPr wrap="square" rtlCol="0" anchor="ctr"/>
          <a:lstStyle/>
          <a:p>
            <a:pPr indent="0" marL="0">
              <a:buNone/>
            </a:pPr>
            <a:r>
              <a:rPr lang="en-US" sz="900" dirty="0">
                <a:solidFill>
                  <a:srgbClr val="3FB950"/>
                </a:solidFill>
                <a:latin typeface="Consolas" pitchFamily="34" charset="0"/>
                <a:ea typeface="Consolas" pitchFamily="34" charset="-122"/>
                <a:cs typeface="Consolas" pitchFamily="34" charset="-120"/>
              </a:rPr>
              <a:t>[4]</a:t>
            </a:r>
            <a:endParaRPr lang="en-US" sz="900" dirty="0"/>
          </a:p>
        </p:txBody>
      </p:sp>
      <p:sp>
        <p:nvSpPr>
          <p:cNvPr id="22" name="Text 20"/>
          <p:cNvSpPr/>
          <p:nvPr/>
        </p:nvSpPr>
        <p:spPr>
          <a:xfrm>
            <a:off x="685800" y="2898648"/>
            <a:ext cx="8046720" cy="256032"/>
          </a:xfrm>
          <a:prstGeom prst="rect">
            <a:avLst/>
          </a:prstGeom>
          <a:noFill/>
          <a:ln/>
        </p:spPr>
        <p:txBody>
          <a:bodyPr wrap="square" rtlCol="0" anchor="ctr"/>
          <a:lstStyle/>
          <a:p>
            <a:pPr indent="0" marL="0">
              <a:buNone/>
            </a:pPr>
            <a:r>
              <a:rPr lang="en-US" sz="950" dirty="0">
                <a:solidFill>
                  <a:srgbClr val="58A6FF"/>
                </a:solidFill>
                <a:latin typeface="Calibri" pitchFamily="34" charset="0"/>
                <a:ea typeface="Calibri" pitchFamily="34" charset="-122"/>
                <a:cs typeface="Calibri" pitchFamily="34" charset="-120"/>
              </a:rPr>
              <a:t>Study of Wall Climbing Robot Structure and Driving Torque Analysis</a:t>
            </a:r>
            <a:endParaRPr lang="en-US" sz="950" dirty="0"/>
          </a:p>
        </p:txBody>
      </p:sp>
      <p:sp>
        <p:nvSpPr>
          <p:cNvPr id="23" name="Text 21"/>
          <p:cNvSpPr/>
          <p:nvPr/>
        </p:nvSpPr>
        <p:spPr>
          <a:xfrm>
            <a:off x="685800" y="3172968"/>
            <a:ext cx="8046720" cy="228600"/>
          </a:xfrm>
          <a:prstGeom prst="rect">
            <a:avLst/>
          </a:prstGeom>
          <a:noFill/>
          <a:ln/>
        </p:spPr>
        <p:txBody>
          <a:bodyPr wrap="square" rtlCol="0" anchor="ctr"/>
          <a:lstStyle/>
          <a:p>
            <a:pPr indent="0" marL="0">
              <a:buNone/>
            </a:pPr>
            <a:r>
              <a:rPr lang="en-US" sz="850" i="1" dirty="0">
                <a:solidFill>
                  <a:srgbClr val="8B949E"/>
                </a:solidFill>
                <a:latin typeface="Calibri" pitchFamily="34" charset="0"/>
                <a:ea typeface="Calibri" pitchFamily="34" charset="-122"/>
                <a:cs typeface="Calibri" pitchFamily="34" charset="-120"/>
              </a:rPr>
              <a:t>     — Yeon Taek OH</a:t>
            </a:r>
            <a:endParaRPr lang="en-US" sz="850" dirty="0"/>
          </a:p>
        </p:txBody>
      </p:sp>
      <p:sp>
        <p:nvSpPr>
          <p:cNvPr id="24" name="Text 22"/>
          <p:cNvSpPr/>
          <p:nvPr/>
        </p:nvSpPr>
        <p:spPr>
          <a:xfrm>
            <a:off x="320040" y="3493008"/>
            <a:ext cx="365760" cy="228600"/>
          </a:xfrm>
          <a:prstGeom prst="rect">
            <a:avLst/>
          </a:prstGeom>
          <a:noFill/>
          <a:ln/>
        </p:spPr>
        <p:txBody>
          <a:bodyPr wrap="square" rtlCol="0" anchor="ctr"/>
          <a:lstStyle/>
          <a:p>
            <a:pPr indent="0" marL="0">
              <a:buNone/>
            </a:pPr>
            <a:r>
              <a:rPr lang="en-US" sz="900" dirty="0">
                <a:solidFill>
                  <a:srgbClr val="3FB950"/>
                </a:solidFill>
                <a:latin typeface="Consolas" pitchFamily="34" charset="0"/>
                <a:ea typeface="Consolas" pitchFamily="34" charset="-122"/>
                <a:cs typeface="Consolas" pitchFamily="34" charset="-120"/>
              </a:rPr>
              <a:t>[5]</a:t>
            </a:r>
            <a:endParaRPr lang="en-US" sz="900" dirty="0"/>
          </a:p>
        </p:txBody>
      </p:sp>
      <p:sp>
        <p:nvSpPr>
          <p:cNvPr id="25" name="Text 23"/>
          <p:cNvSpPr/>
          <p:nvPr/>
        </p:nvSpPr>
        <p:spPr>
          <a:xfrm>
            <a:off x="685800" y="3493008"/>
            <a:ext cx="8046720" cy="256032"/>
          </a:xfrm>
          <a:prstGeom prst="rect">
            <a:avLst/>
          </a:prstGeom>
          <a:noFill/>
          <a:ln/>
        </p:spPr>
        <p:txBody>
          <a:bodyPr wrap="square" rtlCol="0" anchor="ctr"/>
          <a:lstStyle/>
          <a:p>
            <a:pPr indent="0" marL="0">
              <a:buNone/>
            </a:pPr>
            <a:r>
              <a:rPr lang="en-US" sz="950" dirty="0">
                <a:solidFill>
                  <a:srgbClr val="58A6FF"/>
                </a:solidFill>
                <a:latin typeface="Calibri" pitchFamily="34" charset="0"/>
                <a:ea typeface="Calibri" pitchFamily="34" charset="-122"/>
                <a:cs typeface="Calibri" pitchFamily="34" charset="-120"/>
              </a:rPr>
              <a:t>Design of a Modular Wall-Climbing Robot with Multi-Plane Transition and Cleaning Capabilities</a:t>
            </a:r>
            <a:endParaRPr lang="en-US" sz="950" dirty="0"/>
          </a:p>
        </p:txBody>
      </p:sp>
      <p:sp>
        <p:nvSpPr>
          <p:cNvPr id="26" name="Text 24"/>
          <p:cNvSpPr/>
          <p:nvPr/>
        </p:nvSpPr>
        <p:spPr>
          <a:xfrm>
            <a:off x="685800" y="3767328"/>
            <a:ext cx="8046720" cy="228600"/>
          </a:xfrm>
          <a:prstGeom prst="rect">
            <a:avLst/>
          </a:prstGeom>
          <a:noFill/>
          <a:ln/>
        </p:spPr>
        <p:txBody>
          <a:bodyPr wrap="square" rtlCol="0" anchor="ctr"/>
          <a:lstStyle/>
          <a:p>
            <a:pPr indent="0" marL="0">
              <a:buNone/>
            </a:pPr>
            <a:r>
              <a:rPr lang="en-US" sz="850" i="1" dirty="0">
                <a:solidFill>
                  <a:srgbClr val="8B949E"/>
                </a:solidFill>
                <a:latin typeface="Calibri" pitchFamily="34" charset="0"/>
                <a:ea typeface="Calibri" pitchFamily="34" charset="-122"/>
                <a:cs typeface="Calibri" pitchFamily="34" charset="-120"/>
              </a:rPr>
              <a:t>     — Boyu Wang, Weijian Zhang, Jianghan Luo and Qingsong Xu</a:t>
            </a:r>
            <a:endParaRPr lang="en-US" sz="850" dirty="0"/>
          </a:p>
        </p:txBody>
      </p:sp>
      <p:sp>
        <p:nvSpPr>
          <p:cNvPr id="27" name="Text 25"/>
          <p:cNvSpPr/>
          <p:nvPr/>
        </p:nvSpPr>
        <p:spPr>
          <a:xfrm>
            <a:off x="320040" y="4087368"/>
            <a:ext cx="365760" cy="228600"/>
          </a:xfrm>
          <a:prstGeom prst="rect">
            <a:avLst/>
          </a:prstGeom>
          <a:noFill/>
          <a:ln/>
        </p:spPr>
        <p:txBody>
          <a:bodyPr wrap="square" rtlCol="0" anchor="ctr"/>
          <a:lstStyle/>
          <a:p>
            <a:pPr indent="0" marL="0">
              <a:buNone/>
            </a:pPr>
            <a:r>
              <a:rPr lang="en-US" sz="900" dirty="0">
                <a:solidFill>
                  <a:srgbClr val="3FB950"/>
                </a:solidFill>
                <a:latin typeface="Consolas" pitchFamily="34" charset="0"/>
                <a:ea typeface="Consolas" pitchFamily="34" charset="-122"/>
                <a:cs typeface="Consolas" pitchFamily="34" charset="-120"/>
              </a:rPr>
              <a:t>[6]</a:t>
            </a:r>
            <a:endParaRPr lang="en-US" sz="900" dirty="0"/>
          </a:p>
        </p:txBody>
      </p:sp>
      <p:sp>
        <p:nvSpPr>
          <p:cNvPr id="28" name="Text 26"/>
          <p:cNvSpPr/>
          <p:nvPr/>
        </p:nvSpPr>
        <p:spPr>
          <a:xfrm>
            <a:off x="685800" y="4087368"/>
            <a:ext cx="8046720" cy="256032"/>
          </a:xfrm>
          <a:prstGeom prst="rect">
            <a:avLst/>
          </a:prstGeom>
          <a:noFill/>
          <a:ln/>
        </p:spPr>
        <p:txBody>
          <a:bodyPr wrap="square" rtlCol="0" anchor="ctr"/>
          <a:lstStyle/>
          <a:p>
            <a:pPr indent="0" marL="0">
              <a:buNone/>
            </a:pPr>
            <a:r>
              <a:rPr lang="en-US" sz="950" dirty="0">
                <a:solidFill>
                  <a:srgbClr val="58A6FF"/>
                </a:solidFill>
                <a:latin typeface="Calibri" pitchFamily="34" charset="0"/>
                <a:ea typeface="Calibri" pitchFamily="34" charset="-122"/>
                <a:cs typeface="Calibri" pitchFamily="34" charset="-120"/>
              </a:rPr>
              <a:t>Current Status and Trends of Wall-Climbing Robots Research</a:t>
            </a:r>
            <a:endParaRPr lang="en-US" sz="950" dirty="0"/>
          </a:p>
        </p:txBody>
      </p:sp>
      <p:sp>
        <p:nvSpPr>
          <p:cNvPr id="29" name="Text 27"/>
          <p:cNvSpPr/>
          <p:nvPr/>
        </p:nvSpPr>
        <p:spPr>
          <a:xfrm>
            <a:off x="685800" y="4361688"/>
            <a:ext cx="8046720" cy="228600"/>
          </a:xfrm>
          <a:prstGeom prst="rect">
            <a:avLst/>
          </a:prstGeom>
          <a:noFill/>
          <a:ln/>
        </p:spPr>
        <p:txBody>
          <a:bodyPr wrap="square" rtlCol="0" anchor="ctr"/>
          <a:lstStyle/>
          <a:p>
            <a:pPr indent="0" marL="0">
              <a:buNone/>
            </a:pPr>
            <a:r>
              <a:rPr lang="en-US" sz="850" i="1" dirty="0">
                <a:solidFill>
                  <a:srgbClr val="8B949E"/>
                </a:solidFill>
                <a:latin typeface="Calibri" pitchFamily="34" charset="0"/>
                <a:ea typeface="Calibri" pitchFamily="34" charset="-122"/>
                <a:cs typeface="Calibri" pitchFamily="34" charset="-120"/>
              </a:rPr>
              <a:t>     — Shengjie Lou, Zhong Wei, Jinlin Guo, Yu Ding, Jia Liu and Aiguo Song</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1B22"/>
          </a:solidFill>
          <a:ln w="12700">
            <a:solidFill>
              <a:srgbClr val="30363D"/>
            </a:solidFill>
            <a:prstDash val="solid"/>
          </a:ln>
        </p:spPr>
      </p:sp>
      <p:sp>
        <p:nvSpPr>
          <p:cNvPr id="3" name="Text 1"/>
          <p:cNvSpPr/>
          <p:nvPr/>
        </p:nvSpPr>
        <p:spPr>
          <a:xfrm>
            <a:off x="274320" y="91440"/>
            <a:ext cx="8595360" cy="411480"/>
          </a:xfrm>
          <a:prstGeom prst="rect">
            <a:avLst/>
          </a:prstGeom>
          <a:noFill/>
          <a:ln/>
        </p:spPr>
        <p:txBody>
          <a:bodyPr wrap="square" rtlCol="0" anchor="ctr"/>
          <a:lstStyle/>
          <a:p>
            <a:pPr indent="0" marL="0">
              <a:buNone/>
            </a:pPr>
            <a:r>
              <a:rPr lang="en-US" sz="1100" dirty="0">
                <a:solidFill>
                  <a:srgbClr val="58A6FF"/>
                </a:solidFill>
                <a:latin typeface="Consolas" pitchFamily="34" charset="0"/>
                <a:ea typeface="Consolas" pitchFamily="34" charset="-122"/>
                <a:cs typeface="Consolas" pitchFamily="34" charset="-120"/>
              </a:rPr>
              <a:t>⬡  HN-WallBot / udgam-urban-solution</a:t>
            </a:r>
            <a:endParaRPr lang="en-US" sz="1100" dirty="0"/>
          </a:p>
        </p:txBody>
      </p:sp>
      <p:sp>
        <p:nvSpPr>
          <p:cNvPr id="4" name="Shape 2"/>
          <p:cNvSpPr/>
          <p:nvPr/>
        </p:nvSpPr>
        <p:spPr>
          <a:xfrm>
            <a:off x="1828800" y="914400"/>
            <a:ext cx="5486400" cy="3108960"/>
          </a:xfrm>
          <a:prstGeom prst="rect">
            <a:avLst/>
          </a:prstGeom>
          <a:solidFill>
            <a:srgbClr val="161B22"/>
          </a:solidFill>
          <a:ln w="12700">
            <a:solidFill>
              <a:srgbClr val="30363D"/>
            </a:solidFill>
            <a:prstDash val="solid"/>
          </a:ln>
        </p:spPr>
      </p:sp>
      <p:sp>
        <p:nvSpPr>
          <p:cNvPr id="5" name="Shape 3"/>
          <p:cNvSpPr/>
          <p:nvPr/>
        </p:nvSpPr>
        <p:spPr>
          <a:xfrm>
            <a:off x="3474720" y="1051560"/>
            <a:ext cx="2194560" cy="365760"/>
          </a:xfrm>
          <a:prstGeom prst="rect">
            <a:avLst/>
          </a:prstGeom>
          <a:solidFill>
            <a:srgbClr val="238636"/>
          </a:solidFill>
          <a:ln w="12700">
            <a:solidFill>
              <a:srgbClr val="238636"/>
            </a:solidFill>
            <a:prstDash val="solid"/>
          </a:ln>
        </p:spPr>
      </p:sp>
      <p:sp>
        <p:nvSpPr>
          <p:cNvPr id="6" name="Text 4"/>
          <p:cNvSpPr/>
          <p:nvPr/>
        </p:nvSpPr>
        <p:spPr>
          <a:xfrm>
            <a:off x="3474720" y="1051560"/>
            <a:ext cx="2194560" cy="365760"/>
          </a:xfrm>
          <a:prstGeom prst="rect">
            <a:avLst/>
          </a:prstGeom>
          <a:noFill/>
          <a:ln/>
        </p:spPr>
        <p:txBody>
          <a:bodyPr wrap="square" lIns="0" tIns="0" rIns="0" bIns="0" rtlCol="0" anchor="ctr"/>
          <a:lstStyle/>
          <a:p>
            <a:pPr algn="ctr" indent="0" marL="0">
              <a:buNone/>
            </a:pPr>
            <a:r>
              <a:rPr lang="en-US" sz="1100" b="1" dirty="0">
                <a:solidFill>
                  <a:srgbClr val="E6EDF3"/>
                </a:solidFill>
                <a:latin typeface="Consolas" pitchFamily="34" charset="0"/>
                <a:ea typeface="Consolas" pitchFamily="34" charset="-122"/>
                <a:cs typeface="Consolas" pitchFamily="34" charset="-120"/>
              </a:rPr>
              <a:t>✓  PR Merged</a:t>
            </a:r>
            <a:endParaRPr lang="en-US" sz="1100" dirty="0"/>
          </a:p>
        </p:txBody>
      </p:sp>
      <p:sp>
        <p:nvSpPr>
          <p:cNvPr id="7" name="Text 5"/>
          <p:cNvSpPr/>
          <p:nvPr/>
        </p:nvSpPr>
        <p:spPr>
          <a:xfrm>
            <a:off x="2011680" y="1508760"/>
            <a:ext cx="5120640" cy="658368"/>
          </a:xfrm>
          <a:prstGeom prst="rect">
            <a:avLst/>
          </a:prstGeom>
          <a:noFill/>
          <a:ln/>
        </p:spPr>
        <p:txBody>
          <a:bodyPr wrap="square" rtlCol="0" anchor="ctr"/>
          <a:lstStyle/>
          <a:p>
            <a:pPr algn="ctr" indent="0" marL="0">
              <a:buNone/>
            </a:pPr>
            <a:r>
              <a:rPr lang="en-US" sz="3800" b="1" dirty="0">
                <a:solidFill>
                  <a:srgbClr val="E6EDF3"/>
                </a:solidFill>
                <a:latin typeface="Calibri" pitchFamily="34" charset="0"/>
                <a:ea typeface="Calibri" pitchFamily="34" charset="-122"/>
                <a:cs typeface="Calibri" pitchFamily="34" charset="-120"/>
              </a:rPr>
              <a:t>Thank You!</a:t>
            </a:r>
            <a:endParaRPr lang="en-US" sz="3800" dirty="0"/>
          </a:p>
        </p:txBody>
      </p:sp>
      <p:sp>
        <p:nvSpPr>
          <p:cNvPr id="8" name="Text 6"/>
          <p:cNvSpPr/>
          <p:nvPr/>
        </p:nvSpPr>
        <p:spPr>
          <a:xfrm>
            <a:off x="2011680" y="2212848"/>
            <a:ext cx="5120640" cy="347472"/>
          </a:xfrm>
          <a:prstGeom prst="rect">
            <a:avLst/>
          </a:prstGeom>
          <a:noFill/>
          <a:ln/>
        </p:spPr>
        <p:txBody>
          <a:bodyPr wrap="square" rtlCol="0" anchor="ctr"/>
          <a:lstStyle/>
          <a:p>
            <a:pPr algn="ctr" indent="0" marL="0">
              <a:buNone/>
            </a:pPr>
            <a:r>
              <a:rPr lang="en-US" sz="1500" dirty="0">
                <a:solidFill>
                  <a:srgbClr val="58A6FF"/>
                </a:solidFill>
                <a:latin typeface="Consolas" pitchFamily="34" charset="0"/>
                <a:ea typeface="Consolas" pitchFamily="34" charset="-122"/>
                <a:cs typeface="Consolas" pitchFamily="34" charset="-120"/>
              </a:rPr>
              <a:t>HN Wall-Climbing Painting Robot</a:t>
            </a:r>
            <a:endParaRPr lang="en-US" sz="1500" dirty="0"/>
          </a:p>
        </p:txBody>
      </p:sp>
      <p:sp>
        <p:nvSpPr>
          <p:cNvPr id="9" name="Text 7"/>
          <p:cNvSpPr/>
          <p:nvPr/>
        </p:nvSpPr>
        <p:spPr>
          <a:xfrm>
            <a:off x="2011680" y="2606040"/>
            <a:ext cx="5120640" cy="256032"/>
          </a:xfrm>
          <a:prstGeom prst="rect">
            <a:avLst/>
          </a:prstGeom>
          <a:noFill/>
          <a:ln/>
        </p:spPr>
        <p:txBody>
          <a:bodyPr wrap="square" rtlCol="0" anchor="ctr"/>
          <a:lstStyle/>
          <a:p>
            <a:pPr algn="ctr" indent="0" marL="0">
              <a:buNone/>
            </a:pPr>
            <a:r>
              <a:rPr lang="en-US" sz="1100" dirty="0">
                <a:solidFill>
                  <a:srgbClr val="8B949E"/>
                </a:solidFill>
                <a:latin typeface="Consolas" pitchFamily="34" charset="0"/>
                <a:ea typeface="Consolas" pitchFamily="34" charset="-122"/>
                <a:cs typeface="Consolas" pitchFamily="34" charset="-120"/>
              </a:rPr>
              <a:t>Semi-Autonomous High-Rise Facade Maintenance</a:t>
            </a:r>
            <a:endParaRPr lang="en-US" sz="1100" dirty="0"/>
          </a:p>
        </p:txBody>
      </p:sp>
      <p:sp>
        <p:nvSpPr>
          <p:cNvPr id="10" name="Text 8"/>
          <p:cNvSpPr/>
          <p:nvPr/>
        </p:nvSpPr>
        <p:spPr>
          <a:xfrm>
            <a:off x="2011680" y="2926080"/>
            <a:ext cx="5120640" cy="256032"/>
          </a:xfrm>
          <a:prstGeom prst="rect">
            <a:avLst/>
          </a:prstGeom>
          <a:noFill/>
          <a:ln/>
        </p:spPr>
        <p:txBody>
          <a:bodyPr wrap="square" rtlCol="0" anchor="ctr"/>
          <a:lstStyle/>
          <a:p>
            <a:pPr algn="ctr" indent="0" marL="0">
              <a:buNone/>
            </a:pPr>
            <a:r>
              <a:rPr lang="en-US" sz="1000" dirty="0">
                <a:solidFill>
                  <a:srgbClr val="8B949E"/>
                </a:solidFill>
                <a:latin typeface="Consolas" pitchFamily="34" charset="0"/>
                <a:ea typeface="Consolas" pitchFamily="34" charset="-122"/>
                <a:cs typeface="Consolas" pitchFamily="34" charset="-120"/>
              </a:rPr>
              <a:t>India Innovates 2025  •  Team Udgam_UrbanSolution</a:t>
            </a:r>
            <a:endParaRPr lang="en-US" sz="1000" dirty="0"/>
          </a:p>
        </p:txBody>
      </p:sp>
      <p:sp>
        <p:nvSpPr>
          <p:cNvPr id="11" name="Shape 9"/>
          <p:cNvSpPr/>
          <p:nvPr/>
        </p:nvSpPr>
        <p:spPr>
          <a:xfrm>
            <a:off x="914400" y="4160520"/>
            <a:ext cx="1645920" cy="548640"/>
          </a:xfrm>
          <a:prstGeom prst="rect">
            <a:avLst/>
          </a:prstGeom>
          <a:solidFill>
            <a:srgbClr val="161B22"/>
          </a:solidFill>
          <a:ln w="12700">
            <a:solidFill>
              <a:srgbClr val="30363D"/>
            </a:solidFill>
            <a:prstDash val="solid"/>
          </a:ln>
        </p:spPr>
      </p:sp>
      <p:sp>
        <p:nvSpPr>
          <p:cNvPr id="12" name="Text 10"/>
          <p:cNvSpPr/>
          <p:nvPr/>
        </p:nvSpPr>
        <p:spPr>
          <a:xfrm>
            <a:off x="914400" y="4160520"/>
            <a:ext cx="1645920" cy="548640"/>
          </a:xfrm>
          <a:prstGeom prst="rect">
            <a:avLst/>
          </a:prstGeom>
          <a:noFill/>
          <a:ln/>
        </p:spPr>
        <p:txBody>
          <a:bodyPr wrap="square" rtlCol="0" anchor="ctr"/>
          <a:lstStyle/>
          <a:p>
            <a:pPr algn="ctr" indent="0" marL="0">
              <a:buNone/>
            </a:pPr>
            <a:r>
              <a:rPr lang="en-US" sz="1000" dirty="0">
                <a:solidFill>
                  <a:srgbClr val="E6EDF3"/>
                </a:solidFill>
                <a:latin typeface="Consolas" pitchFamily="34" charset="0"/>
                <a:ea typeface="Consolas" pitchFamily="34" charset="-122"/>
                <a:cs typeface="Consolas" pitchFamily="34" charset="-120"/>
              </a:rPr>
              <a:t>★  47  Stars</a:t>
            </a:r>
            <a:endParaRPr lang="en-US" sz="1000" dirty="0"/>
          </a:p>
        </p:txBody>
      </p:sp>
      <p:sp>
        <p:nvSpPr>
          <p:cNvPr id="13" name="Shape 11"/>
          <p:cNvSpPr/>
          <p:nvPr/>
        </p:nvSpPr>
        <p:spPr>
          <a:xfrm>
            <a:off x="2743200" y="4160520"/>
            <a:ext cx="1645920" cy="548640"/>
          </a:xfrm>
          <a:prstGeom prst="rect">
            <a:avLst/>
          </a:prstGeom>
          <a:solidFill>
            <a:srgbClr val="161B22"/>
          </a:solidFill>
          <a:ln w="12700">
            <a:solidFill>
              <a:srgbClr val="30363D"/>
            </a:solidFill>
            <a:prstDash val="solid"/>
          </a:ln>
        </p:spPr>
      </p:sp>
      <p:sp>
        <p:nvSpPr>
          <p:cNvPr id="14" name="Text 12"/>
          <p:cNvSpPr/>
          <p:nvPr/>
        </p:nvSpPr>
        <p:spPr>
          <a:xfrm>
            <a:off x="2743200" y="4160520"/>
            <a:ext cx="1645920" cy="548640"/>
          </a:xfrm>
          <a:prstGeom prst="rect">
            <a:avLst/>
          </a:prstGeom>
          <a:noFill/>
          <a:ln/>
        </p:spPr>
        <p:txBody>
          <a:bodyPr wrap="square" rtlCol="0" anchor="ctr"/>
          <a:lstStyle/>
          <a:p>
            <a:pPr algn="ctr" indent="0" marL="0">
              <a:buNone/>
            </a:pPr>
            <a:r>
              <a:rPr lang="en-US" sz="1000" dirty="0">
                <a:solidFill>
                  <a:srgbClr val="E6EDF3"/>
                </a:solidFill>
                <a:latin typeface="Consolas" pitchFamily="34" charset="0"/>
                <a:ea typeface="Consolas" pitchFamily="34" charset="-122"/>
                <a:cs typeface="Consolas" pitchFamily="34" charset="-120"/>
              </a:rPr>
              <a:t>🍴  12  Forks</a:t>
            </a:r>
            <a:endParaRPr lang="en-US" sz="1000" dirty="0"/>
          </a:p>
        </p:txBody>
      </p:sp>
      <p:sp>
        <p:nvSpPr>
          <p:cNvPr id="15" name="Shape 13"/>
          <p:cNvSpPr/>
          <p:nvPr/>
        </p:nvSpPr>
        <p:spPr>
          <a:xfrm>
            <a:off x="4572000" y="4160520"/>
            <a:ext cx="1645920" cy="548640"/>
          </a:xfrm>
          <a:prstGeom prst="rect">
            <a:avLst/>
          </a:prstGeom>
          <a:solidFill>
            <a:srgbClr val="161B22"/>
          </a:solidFill>
          <a:ln w="12700">
            <a:solidFill>
              <a:srgbClr val="30363D"/>
            </a:solidFill>
            <a:prstDash val="solid"/>
          </a:ln>
        </p:spPr>
      </p:sp>
      <p:sp>
        <p:nvSpPr>
          <p:cNvPr id="16" name="Text 14"/>
          <p:cNvSpPr/>
          <p:nvPr/>
        </p:nvSpPr>
        <p:spPr>
          <a:xfrm>
            <a:off x="4572000" y="4160520"/>
            <a:ext cx="1645920" cy="548640"/>
          </a:xfrm>
          <a:prstGeom prst="rect">
            <a:avLst/>
          </a:prstGeom>
          <a:noFill/>
          <a:ln/>
        </p:spPr>
        <p:txBody>
          <a:bodyPr wrap="square" rtlCol="0" anchor="ctr"/>
          <a:lstStyle/>
          <a:p>
            <a:pPr algn="ctr" indent="0" marL="0">
              <a:buNone/>
            </a:pPr>
            <a:r>
              <a:rPr lang="en-US" sz="1000" dirty="0">
                <a:solidFill>
                  <a:srgbClr val="E6EDF3"/>
                </a:solidFill>
                <a:latin typeface="Consolas" pitchFamily="34" charset="0"/>
                <a:ea typeface="Consolas" pitchFamily="34" charset="-122"/>
                <a:cs typeface="Consolas" pitchFamily="34" charset="-120"/>
              </a:rPr>
              <a:t>✔  284  Commits</a:t>
            </a:r>
            <a:endParaRPr lang="en-US" sz="1000" dirty="0"/>
          </a:p>
        </p:txBody>
      </p:sp>
      <p:sp>
        <p:nvSpPr>
          <p:cNvPr id="17" name="Shape 15"/>
          <p:cNvSpPr/>
          <p:nvPr/>
        </p:nvSpPr>
        <p:spPr>
          <a:xfrm>
            <a:off x="6400800" y="4160520"/>
            <a:ext cx="1645920" cy="548640"/>
          </a:xfrm>
          <a:prstGeom prst="rect">
            <a:avLst/>
          </a:prstGeom>
          <a:solidFill>
            <a:srgbClr val="161B22"/>
          </a:solidFill>
          <a:ln w="12700">
            <a:solidFill>
              <a:srgbClr val="30363D"/>
            </a:solidFill>
            <a:prstDash val="solid"/>
          </a:ln>
        </p:spPr>
      </p:sp>
      <p:sp>
        <p:nvSpPr>
          <p:cNvPr id="18" name="Text 16"/>
          <p:cNvSpPr/>
          <p:nvPr/>
        </p:nvSpPr>
        <p:spPr>
          <a:xfrm>
            <a:off x="6400800" y="4160520"/>
            <a:ext cx="1645920" cy="548640"/>
          </a:xfrm>
          <a:prstGeom prst="rect">
            <a:avLst/>
          </a:prstGeom>
          <a:noFill/>
          <a:ln/>
        </p:spPr>
        <p:txBody>
          <a:bodyPr wrap="square" rtlCol="0" anchor="ctr"/>
          <a:lstStyle/>
          <a:p>
            <a:pPr algn="ctr" indent="0" marL="0">
              <a:buNone/>
            </a:pPr>
            <a:r>
              <a:rPr lang="en-US" sz="1000" dirty="0">
                <a:solidFill>
                  <a:srgbClr val="E6EDF3"/>
                </a:solidFill>
                <a:latin typeface="Consolas" pitchFamily="34" charset="0"/>
                <a:ea typeface="Consolas" pitchFamily="34" charset="-122"/>
                <a:cs typeface="Consolas" pitchFamily="34" charset="-120"/>
              </a:rPr>
              <a:t>👁  231  Watchers</a:t>
            </a:r>
            <a:endParaRPr lang="en-US" sz="1000" dirty="0"/>
          </a:p>
        </p:txBody>
      </p:sp>
      <p:sp>
        <p:nvSpPr>
          <p:cNvPr id="19" name="Shape 17"/>
          <p:cNvSpPr/>
          <p:nvPr/>
        </p:nvSpPr>
        <p:spPr>
          <a:xfrm>
            <a:off x="0" y="4892040"/>
            <a:ext cx="9144000" cy="251460"/>
          </a:xfrm>
          <a:prstGeom prst="rect">
            <a:avLst/>
          </a:prstGeom>
          <a:solidFill>
            <a:srgbClr val="161B22"/>
          </a:solidFill>
          <a:ln w="12700">
            <a:solidFill>
              <a:srgbClr val="30363D"/>
            </a:solidFill>
            <a:prstDash val="solid"/>
          </a:ln>
        </p:spPr>
      </p:sp>
      <p:sp>
        <p:nvSpPr>
          <p:cNvPr id="20" name="Text 18"/>
          <p:cNvSpPr/>
          <p:nvPr/>
        </p:nvSpPr>
        <p:spPr>
          <a:xfrm>
            <a:off x="274320" y="4901184"/>
            <a:ext cx="8595360" cy="219456"/>
          </a:xfrm>
          <a:prstGeom prst="rect">
            <a:avLst/>
          </a:prstGeom>
          <a:noFill/>
          <a:ln/>
        </p:spPr>
        <p:txBody>
          <a:bodyPr wrap="square" rtlCol="0" anchor="ctr"/>
          <a:lstStyle/>
          <a:p>
            <a:pPr algn="ctr" indent="0" marL="0">
              <a:buNone/>
            </a:pPr>
            <a:r>
              <a:rPr lang="en-US" sz="800" dirty="0">
                <a:solidFill>
                  <a:srgbClr val="8B949E"/>
                </a:solidFill>
                <a:latin typeface="Consolas" pitchFamily="34" charset="0"/>
                <a:ea typeface="Consolas" pitchFamily="34" charset="-122"/>
                <a:cs typeface="Consolas" pitchFamily="34" charset="-120"/>
              </a:rPr>
              <a:t>© 2025 Team Udgam_UrbanSolution — All rights reserved</a:t>
            </a:r>
            <a:endParaRPr lang="en-US" sz="800" dirty="0"/>
          </a:p>
        </p:txBody>
      </p:sp>
      <p:sp>
        <p:nvSpPr>
          <p:cNvPr id="21" name="Shape 19"/>
          <p:cNvSpPr/>
          <p:nvPr/>
        </p:nvSpPr>
        <p:spPr>
          <a:xfrm>
            <a:off x="8686800" y="4919472"/>
            <a:ext cx="109728" cy="109728"/>
          </a:xfrm>
          <a:prstGeom prst="ellipse">
            <a:avLst/>
          </a:prstGeom>
          <a:solidFill>
            <a:srgbClr val="3FB950"/>
          </a:solidFill>
          <a:ln w="12700">
            <a:solidFill>
              <a:srgbClr val="3FB950"/>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HN Wall-Climbing Robot - GitHub Theme</dc:title>
  <dc:subject>PptxGenJS Presentation</dc:subject>
  <dc:creator>PptxGenJS</dc:creator>
  <cp:lastModifiedBy>PptxGenJS</cp:lastModifiedBy>
  <cp:revision>1</cp:revision>
  <dcterms:created xsi:type="dcterms:W3CDTF">2026-03-11T18:17:57Z</dcterms:created>
  <dcterms:modified xsi:type="dcterms:W3CDTF">2026-03-11T18:17:57Z</dcterms:modified>
</cp:coreProperties>
</file>